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Atkinson Hyperlegible"/>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67BC9D1-6150-4F5D-A1B2-8E722C9A8B24}">
  <a:tblStyle styleId="{D67BC9D1-6150-4F5D-A1B2-8E722C9A8B24}"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07CD265-632A-4138-923F-A63FA96345F9}"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AtkinsonHyperlegible-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AtkinsonHyperlegible-italic.fntdata"/><Relationship Id="rId30" Type="http://schemas.openxmlformats.org/officeDocument/2006/relationships/font" Target="fonts/AtkinsonHyperlegible-bold.fntdata"/><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font" Target="fonts/AtkinsonHyperlegible-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bd0c225375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bd0c225375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bd0c225375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bd0c225375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bd0c225375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bd0c225375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c872fb3e1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c872fb3e1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be54590e7d_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be54590e7d_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be54590e7d_4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be54590e7d_4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bd0c225375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bd0c225375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bd0c225375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bd0c225375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be54590e7d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be54590e7d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range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c725868a96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c725868a96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c725868a96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c725868a96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c725868a96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c725868a96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c725868a96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c725868a96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bd0c225375_1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bd0c225375_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Improve specs with respect to requirements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c549de24a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c549de24a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Improve specs with respect to requirements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c549de24a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c549de24a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Improve specs with respect to requirements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bd0c225375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bd0c225375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c725868a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c725868a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bd0c225375_1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bd0c225375_1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cec643a69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cec643a69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bd0c225375_1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bd0c225375_1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thewranglers.onrender.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53" name="Shape 53"/>
        <p:cNvGrpSpPr/>
        <p:nvPr/>
      </p:nvGrpSpPr>
      <p:grpSpPr>
        <a:xfrm>
          <a:off x="0" y="0"/>
          <a:ext cx="0" cy="0"/>
          <a:chOff x="0" y="0"/>
          <a:chExt cx="0" cy="0"/>
        </a:xfrm>
      </p:grpSpPr>
      <p:sp>
        <p:nvSpPr>
          <p:cNvPr id="54" name="Google Shape;54;p13"/>
          <p:cNvSpPr/>
          <p:nvPr/>
        </p:nvSpPr>
        <p:spPr>
          <a:xfrm>
            <a:off x="380400" y="345250"/>
            <a:ext cx="8383200" cy="3898800"/>
          </a:xfrm>
          <a:prstGeom prst="flowChartAlternateProcess">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3"/>
          <p:cNvSpPr txBox="1"/>
          <p:nvPr>
            <p:ph type="ctrTitle"/>
          </p:nvPr>
        </p:nvSpPr>
        <p:spPr>
          <a:xfrm>
            <a:off x="311708" y="8215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Atkinson Hyperlegible"/>
                <a:ea typeface="Atkinson Hyperlegible"/>
                <a:cs typeface="Atkinson Hyperlegible"/>
                <a:sym typeface="Atkinson Hyperlegible"/>
              </a:rPr>
              <a:t>Car Rider Pickup System for Schools</a:t>
            </a:r>
            <a:endParaRPr>
              <a:latin typeface="Atkinson Hyperlegible"/>
              <a:ea typeface="Atkinson Hyperlegible"/>
              <a:cs typeface="Atkinson Hyperlegible"/>
              <a:sym typeface="Atkinson Hyperlegible"/>
            </a:endParaRPr>
          </a:p>
        </p:txBody>
      </p:sp>
      <p:sp>
        <p:nvSpPr>
          <p:cNvPr id="56" name="Google Shape;56;p13"/>
          <p:cNvSpPr txBox="1"/>
          <p:nvPr>
            <p:ph idx="1" type="subTitle"/>
          </p:nvPr>
        </p:nvSpPr>
        <p:spPr>
          <a:xfrm>
            <a:off x="311700" y="2956425"/>
            <a:ext cx="8520600" cy="792600"/>
          </a:xfrm>
          <a:prstGeom prst="rect">
            <a:avLst/>
          </a:prstGeom>
        </p:spPr>
        <p:txBody>
          <a:bodyPr anchorCtr="0" anchor="t" bIns="91425" lIns="91425" spcFirstLastPara="1" rIns="91425" wrap="square" tIns="91425">
            <a:normAutofit fontScale="92500"/>
          </a:bodyPr>
          <a:lstStyle/>
          <a:p>
            <a:pPr indent="0" lvl="0" marL="0" rtl="0" algn="ctr">
              <a:spcBef>
                <a:spcPts val="0"/>
              </a:spcBef>
              <a:spcAft>
                <a:spcPts val="0"/>
              </a:spcAft>
              <a:buNone/>
            </a:pPr>
            <a:r>
              <a:rPr lang="en" sz="2000">
                <a:latin typeface="Atkinson Hyperlegible"/>
                <a:ea typeface="Atkinson Hyperlegible"/>
                <a:cs typeface="Atkinson Hyperlegible"/>
                <a:sym typeface="Atkinson Hyperlegible"/>
              </a:rPr>
              <a:t>Haya Abusada, Jake Hewett, Jayden Pearson, Jack Uehlinger, Sara Vorhaben</a:t>
            </a:r>
            <a:endParaRPr sz="2000">
              <a:latin typeface="Atkinson Hyperlegible"/>
              <a:ea typeface="Atkinson Hyperlegible"/>
              <a:cs typeface="Atkinson Hyperlegible"/>
              <a:sym typeface="Atkinson Hyperlegible"/>
            </a:endParaRPr>
          </a:p>
          <a:p>
            <a:pPr indent="0" lvl="0" marL="0" rtl="0" algn="ctr">
              <a:spcBef>
                <a:spcPts val="0"/>
              </a:spcBef>
              <a:spcAft>
                <a:spcPts val="0"/>
              </a:spcAft>
              <a:buNone/>
            </a:pPr>
            <a:r>
              <a:t/>
            </a:r>
            <a:endParaRPr sz="2000">
              <a:latin typeface="Atkinson Hyperlegible"/>
              <a:ea typeface="Atkinson Hyperlegible"/>
              <a:cs typeface="Atkinson Hyperlegible"/>
              <a:sym typeface="Atkinson Hyperlegible"/>
            </a:endParaRPr>
          </a:p>
        </p:txBody>
      </p:sp>
      <p:sp>
        <p:nvSpPr>
          <p:cNvPr id="57" name="Google Shape;57;p13"/>
          <p:cNvSpPr/>
          <p:nvPr/>
        </p:nvSpPr>
        <p:spPr>
          <a:xfrm flipH="1" rot="10800000">
            <a:off x="7206300" y="3430950"/>
            <a:ext cx="1937700" cy="1714500"/>
          </a:xfrm>
          <a:prstGeom prst="teardrop">
            <a:avLst>
              <a:gd fmla="val 100000" name="adj"/>
            </a:avLst>
          </a:prstGeom>
          <a:solidFill>
            <a:srgbClr val="500000"/>
          </a:solidFill>
          <a:ln cap="flat" cmpd="sng" w="9525">
            <a:solidFill>
              <a:srgbClr val="5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The Wranglers Logo" id="58" name="Google Shape;58;p13" title="Untitled-4.png"/>
          <p:cNvPicPr preferRelativeResize="0"/>
          <p:nvPr/>
        </p:nvPicPr>
        <p:blipFill>
          <a:blip r:embed="rId3">
            <a:alphaModFix/>
          </a:blip>
          <a:stretch>
            <a:fillRect/>
          </a:stretch>
        </p:blipFill>
        <p:spPr>
          <a:xfrm>
            <a:off x="7510588" y="3687575"/>
            <a:ext cx="1329125" cy="13291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62" name="Shape 62"/>
        <p:cNvGrpSpPr/>
        <p:nvPr/>
      </p:nvGrpSpPr>
      <p:grpSpPr>
        <a:xfrm>
          <a:off x="0" y="0"/>
          <a:ext cx="0" cy="0"/>
          <a:chOff x="0" y="0"/>
          <a:chExt cx="0" cy="0"/>
        </a:xfrm>
      </p:grpSpPr>
      <p:sp>
        <p:nvSpPr>
          <p:cNvPr id="63" name="Google Shape;63;p14"/>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 name="Google Shape;64;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Problem Background</a:t>
            </a:r>
            <a:endParaRPr b="1" sz="2620">
              <a:solidFill>
                <a:schemeClr val="lt1"/>
              </a:solidFill>
              <a:latin typeface="Atkinson Hyperlegible"/>
              <a:ea typeface="Atkinson Hyperlegible"/>
              <a:cs typeface="Atkinson Hyperlegible"/>
              <a:sym typeface="Atkinson Hyperlegible"/>
            </a:endParaRPr>
          </a:p>
        </p:txBody>
      </p:sp>
      <p:sp>
        <p:nvSpPr>
          <p:cNvPr id="65" name="Google Shape;65;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74650" lvl="0" marL="457200" rtl="0" algn="l">
              <a:spcBef>
                <a:spcPts val="0"/>
              </a:spcBef>
              <a:spcAft>
                <a:spcPts val="0"/>
              </a:spcAft>
              <a:buClr>
                <a:schemeClr val="dk1"/>
              </a:buClr>
              <a:buSzPts val="2300"/>
              <a:buChar char="●"/>
            </a:pPr>
            <a:r>
              <a:rPr lang="en" sz="1600">
                <a:solidFill>
                  <a:schemeClr val="dk1"/>
                </a:solidFill>
              </a:rPr>
              <a:t>Over 70% of students are now picked up via car, creating massive congestion.</a:t>
            </a:r>
            <a:endParaRPr sz="1600">
              <a:solidFill>
                <a:schemeClr val="dk1"/>
              </a:solidFill>
            </a:endParaRPr>
          </a:p>
          <a:p>
            <a:pPr indent="-374650" lvl="0" marL="457200" rtl="0" algn="l">
              <a:spcBef>
                <a:spcPts val="0"/>
              </a:spcBef>
              <a:spcAft>
                <a:spcPts val="0"/>
              </a:spcAft>
              <a:buClr>
                <a:schemeClr val="dk1"/>
              </a:buClr>
              <a:buSzPts val="2300"/>
              <a:buChar char="●"/>
            </a:pPr>
            <a:r>
              <a:rPr lang="en" sz="1600">
                <a:solidFill>
                  <a:schemeClr val="dk1"/>
                </a:solidFill>
              </a:rPr>
              <a:t>Parents wait up to 1 hour, with lines often forming 1</a:t>
            </a:r>
            <a:r>
              <a:rPr lang="en" sz="1600">
                <a:solidFill>
                  <a:schemeClr val="dk1"/>
                </a:solidFill>
              </a:rPr>
              <a:t>-</a:t>
            </a:r>
            <a:r>
              <a:rPr lang="en" sz="1600">
                <a:solidFill>
                  <a:schemeClr val="dk1"/>
                </a:solidFill>
              </a:rPr>
              <a:t>2 hours before dismissal.</a:t>
            </a:r>
            <a:endParaRPr sz="1600">
              <a:solidFill>
                <a:schemeClr val="dk1"/>
              </a:solidFill>
            </a:endParaRPr>
          </a:p>
          <a:p>
            <a:pPr indent="-374650" lvl="0" marL="457200" rtl="0" algn="l">
              <a:spcBef>
                <a:spcPts val="0"/>
              </a:spcBef>
              <a:spcAft>
                <a:spcPts val="0"/>
              </a:spcAft>
              <a:buClr>
                <a:schemeClr val="dk1"/>
              </a:buClr>
              <a:buSzPts val="2300"/>
              <a:buChar char="●"/>
            </a:pPr>
            <a:r>
              <a:rPr lang="en" sz="1600">
                <a:solidFill>
                  <a:schemeClr val="dk1"/>
                </a:solidFill>
              </a:rPr>
              <a:t>Queues spill onto local highways, causing traffic backups and increasing accident risks.</a:t>
            </a:r>
            <a:endParaRPr sz="1600">
              <a:solidFill>
                <a:schemeClr val="dk1"/>
              </a:solidFill>
            </a:endParaRPr>
          </a:p>
          <a:p>
            <a:pPr indent="-374650" lvl="0" marL="457200" rtl="0" algn="l">
              <a:spcBef>
                <a:spcPts val="0"/>
              </a:spcBef>
              <a:spcAft>
                <a:spcPts val="0"/>
              </a:spcAft>
              <a:buClr>
                <a:schemeClr val="dk1"/>
              </a:buClr>
              <a:buSzPts val="2300"/>
              <a:buChar char="●"/>
            </a:pPr>
            <a:r>
              <a:rPr lang="en" sz="1600">
                <a:solidFill>
                  <a:schemeClr val="dk1"/>
                </a:solidFill>
              </a:rPr>
              <a:t>Inclement weather increases delays as bus and bike riders often switch to the car line.</a:t>
            </a:r>
            <a:endParaRPr sz="1600">
              <a:solidFill>
                <a:schemeClr val="dk1"/>
              </a:solidFill>
            </a:endParaRPr>
          </a:p>
          <a:p>
            <a:pPr indent="-374650" lvl="0" marL="457200" rtl="0" algn="l">
              <a:spcBef>
                <a:spcPts val="0"/>
              </a:spcBef>
              <a:spcAft>
                <a:spcPts val="0"/>
              </a:spcAft>
              <a:buClr>
                <a:schemeClr val="dk1"/>
              </a:buClr>
              <a:buSzPts val="2300"/>
              <a:buChar char="●"/>
            </a:pPr>
            <a:r>
              <a:rPr lang="en" sz="1600">
                <a:solidFill>
                  <a:schemeClr val="dk1"/>
                </a:solidFill>
              </a:rPr>
              <a:t>The manual process requires 5-10 staff members daily, diverting them from educational duties.</a:t>
            </a:r>
            <a:endParaRPr sz="2300">
              <a:solidFill>
                <a:schemeClr val="dk1"/>
              </a:solidFill>
            </a:endParaRPr>
          </a:p>
        </p:txBody>
      </p:sp>
      <p:sp>
        <p:nvSpPr>
          <p:cNvPr id="66" name="Google Shape;66;p14"/>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CDR Presentation - </a:t>
            </a: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70" name="Shape 70"/>
        <p:cNvGrpSpPr/>
        <p:nvPr/>
      </p:nvGrpSpPr>
      <p:grpSpPr>
        <a:xfrm>
          <a:off x="0" y="0"/>
          <a:ext cx="0" cy="0"/>
          <a:chOff x="0" y="0"/>
          <a:chExt cx="0" cy="0"/>
        </a:xfrm>
      </p:grpSpPr>
      <p:sp>
        <p:nvSpPr>
          <p:cNvPr id="71" name="Google Shape;71;p15"/>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 name="Google Shape;72;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Problem - Needs Statement</a:t>
            </a:r>
            <a:endParaRPr b="1" sz="2620">
              <a:solidFill>
                <a:schemeClr val="lt1"/>
              </a:solidFill>
              <a:latin typeface="Atkinson Hyperlegible"/>
              <a:ea typeface="Atkinson Hyperlegible"/>
              <a:cs typeface="Atkinson Hyperlegible"/>
              <a:sym typeface="Atkinson Hyperlegible"/>
            </a:endParaRPr>
          </a:p>
        </p:txBody>
      </p:sp>
      <p:sp>
        <p:nvSpPr>
          <p:cNvPr id="73" name="Google Shape;73;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700">
                <a:solidFill>
                  <a:schemeClr val="dk1"/>
                </a:solidFill>
              </a:rPr>
              <a:t>School pickup via the car rider line has been increasing in the US over the years leading to an increase in line length and pickup time. Now, over 70% of students are picked up from school via the car rider line. Car rider lines have become congested, posing a safety issue for both the students and other drivers. With more students attending school, car rider lines have become too slow and cause parents to wait up to over an hour in line leading to frustration. Some studies show that the car rider pick-up line starts to form 1-2 hours before school actually gets out, which leads to traffic backing up local highways and streets, and even frequent accidents. Inclement weather further slows the line, as students who ride the bus or bike to school will often be picked up by their parents in the car rider line to avoid the weather. Additionally, 5-10 staff members are required to set up and run the pickup process, diverting their time away from the education of students. An automated system is needed to streamline the pick-up process to decrease delays and safety issues.</a:t>
            </a:r>
            <a:endParaRPr sz="3500">
              <a:solidFill>
                <a:schemeClr val="dk1"/>
              </a:solidFill>
            </a:endParaRPr>
          </a:p>
        </p:txBody>
      </p:sp>
      <p:sp>
        <p:nvSpPr>
          <p:cNvPr id="74" name="Google Shape;74;p15"/>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fontScale="85000" lnSpcReduction="20000"/>
          </a:bodyPr>
          <a:lstStyle/>
          <a:p>
            <a:pPr indent="0" lvl="0" marL="0" rtl="0" algn="r">
              <a:spcBef>
                <a:spcPts val="0"/>
              </a:spcBef>
              <a:spcAft>
                <a:spcPts val="0"/>
              </a:spcAft>
              <a:buClr>
                <a:schemeClr val="dk1"/>
              </a:buClr>
              <a:buSzPct val="110000"/>
              <a:buFont typeface="Arial"/>
              <a:buNone/>
            </a:pPr>
            <a:r>
              <a:rPr lang="en">
                <a:solidFill>
                  <a:schemeClr val="lt1"/>
                </a:solidFill>
              </a:rPr>
              <a:t>CDR Presentation - </a:t>
            </a:r>
            <a:fld id="{00000000-1234-1234-1234-123412341234}" type="slidenum">
              <a:rPr lang="en">
                <a:solidFill>
                  <a:schemeClr val="lt1"/>
                </a:solidFill>
              </a:rPr>
              <a:t>‹#›</a:t>
            </a:fld>
            <a:endParaRPr>
              <a:solidFill>
                <a:schemeClr val="lt1"/>
              </a:solidFill>
            </a:endParaRPr>
          </a:p>
          <a:p>
            <a:pPr indent="0" lvl="0" marL="0" rtl="0" algn="r">
              <a:spcBef>
                <a:spcPts val="0"/>
              </a:spcBef>
              <a:spcAft>
                <a:spcPts val="0"/>
              </a:spcAft>
              <a:buNone/>
            </a:pPr>
            <a:r>
              <a:t/>
            </a:r>
            <a:endParaRPr>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78" name="Shape 78"/>
        <p:cNvGrpSpPr/>
        <p:nvPr/>
      </p:nvGrpSpPr>
      <p:grpSpPr>
        <a:xfrm>
          <a:off x="0" y="0"/>
          <a:ext cx="0" cy="0"/>
          <a:chOff x="0" y="0"/>
          <a:chExt cx="0" cy="0"/>
        </a:xfrm>
      </p:grpSpPr>
      <p:sp>
        <p:nvSpPr>
          <p:cNvPr id="79" name="Google Shape;79;p16"/>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 name="Google Shape;80;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Goal and Objectives</a:t>
            </a:r>
            <a:endParaRPr b="1" sz="2620">
              <a:solidFill>
                <a:schemeClr val="lt1"/>
              </a:solidFill>
              <a:latin typeface="Atkinson Hyperlegible"/>
              <a:ea typeface="Atkinson Hyperlegible"/>
              <a:cs typeface="Atkinson Hyperlegible"/>
              <a:sym typeface="Atkinson Hyperlegible"/>
            </a:endParaRPr>
          </a:p>
        </p:txBody>
      </p:sp>
      <p:sp>
        <p:nvSpPr>
          <p:cNvPr id="81" name="Google Shape;81;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1"/>
              </a:buClr>
              <a:buSzPts val="1100"/>
              <a:buFont typeface="Arial"/>
              <a:buNone/>
            </a:pPr>
            <a:r>
              <a:rPr b="1" lang="en" sz="1500">
                <a:solidFill>
                  <a:schemeClr val="dk1"/>
                </a:solidFill>
              </a:rPr>
              <a:t>Goal</a:t>
            </a:r>
            <a:endParaRPr b="1" sz="15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500">
                <a:solidFill>
                  <a:schemeClr val="dk1"/>
                </a:solidFill>
              </a:rPr>
              <a:t>The goal of this project is to design and prototype a system that will help automate the car rider pick up process at schools. The system is built to reduce the amount of time necessary to pick up students from school.</a:t>
            </a:r>
            <a:endParaRPr sz="15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sz="1500">
                <a:solidFill>
                  <a:schemeClr val="dk1"/>
                </a:solidFill>
              </a:rPr>
              <a:t>Objectives</a:t>
            </a:r>
            <a:endParaRPr b="1" sz="1500">
              <a:solidFill>
                <a:schemeClr val="dk1"/>
              </a:solidFill>
            </a:endParaRPr>
          </a:p>
          <a:p>
            <a:pPr indent="-323850" lvl="0" marL="457200" rtl="0" algn="l">
              <a:lnSpc>
                <a:spcPct val="100000"/>
              </a:lnSpc>
              <a:spcBef>
                <a:spcPts val="0"/>
              </a:spcBef>
              <a:spcAft>
                <a:spcPts val="0"/>
              </a:spcAft>
              <a:buClr>
                <a:schemeClr val="dk1"/>
              </a:buClr>
              <a:buSzPts val="1500"/>
              <a:buChar char="●"/>
            </a:pPr>
            <a:r>
              <a:rPr lang="en" sz="1500">
                <a:solidFill>
                  <a:schemeClr val="dk1"/>
                </a:solidFill>
              </a:rPr>
              <a:t>The system will allow parents to update their information (license plate numbers, approved adults for pickup, car rider schedules) via a website with approval from a staff member of the school.</a:t>
            </a:r>
            <a:endParaRPr sz="1500">
              <a:solidFill>
                <a:schemeClr val="dk1"/>
              </a:solidFill>
            </a:endParaRPr>
          </a:p>
          <a:p>
            <a:pPr indent="-323850" lvl="0" marL="457200" rtl="0" algn="l">
              <a:lnSpc>
                <a:spcPct val="100000"/>
              </a:lnSpc>
              <a:spcBef>
                <a:spcPts val="0"/>
              </a:spcBef>
              <a:spcAft>
                <a:spcPts val="0"/>
              </a:spcAft>
              <a:buClr>
                <a:schemeClr val="dk1"/>
              </a:buClr>
              <a:buSzPts val="1500"/>
              <a:buChar char="●"/>
            </a:pPr>
            <a:r>
              <a:rPr lang="en" sz="1500">
                <a:solidFill>
                  <a:schemeClr val="dk1"/>
                </a:solidFill>
              </a:rPr>
              <a:t>The system will read the marker on the car (license plate, QR code, nametag) as it enters the pickup line and send the information to a server.</a:t>
            </a:r>
            <a:endParaRPr sz="1500">
              <a:solidFill>
                <a:schemeClr val="dk1"/>
              </a:solidFill>
            </a:endParaRPr>
          </a:p>
          <a:p>
            <a:pPr indent="-323850" lvl="0" marL="457200" rtl="0" algn="l">
              <a:lnSpc>
                <a:spcPct val="100000"/>
              </a:lnSpc>
              <a:spcBef>
                <a:spcPts val="0"/>
              </a:spcBef>
              <a:spcAft>
                <a:spcPts val="0"/>
              </a:spcAft>
              <a:buClr>
                <a:schemeClr val="dk1"/>
              </a:buClr>
              <a:buSzPts val="1500"/>
              <a:buChar char="●"/>
            </a:pPr>
            <a:r>
              <a:rPr lang="en" sz="1500">
                <a:solidFill>
                  <a:schemeClr val="dk1"/>
                </a:solidFill>
              </a:rPr>
              <a:t>The server will identify the parent and child associated with the car marker, and update a display at the entrance of the pickup line to direct the car to the proper station.</a:t>
            </a:r>
            <a:endParaRPr sz="1500">
              <a:solidFill>
                <a:schemeClr val="dk1"/>
              </a:solidFill>
            </a:endParaRPr>
          </a:p>
          <a:p>
            <a:pPr indent="-323850" lvl="0" marL="457200" rtl="0" algn="l">
              <a:lnSpc>
                <a:spcPct val="100000"/>
              </a:lnSpc>
              <a:spcBef>
                <a:spcPts val="0"/>
              </a:spcBef>
              <a:spcAft>
                <a:spcPts val="0"/>
              </a:spcAft>
              <a:buClr>
                <a:schemeClr val="dk1"/>
              </a:buClr>
              <a:buSzPts val="1500"/>
              <a:buChar char="●"/>
            </a:pPr>
            <a:r>
              <a:rPr lang="en" sz="1500">
                <a:solidFill>
                  <a:schemeClr val="dk1"/>
                </a:solidFill>
              </a:rPr>
              <a:t>The laptop at the front of the school is updated to inform the students and staff which child is being picked up, and which zone to go to. </a:t>
            </a:r>
            <a:endParaRPr sz="1500">
              <a:solidFill>
                <a:schemeClr val="dk1"/>
              </a:solidFill>
            </a:endParaRPr>
          </a:p>
        </p:txBody>
      </p:sp>
      <p:sp>
        <p:nvSpPr>
          <p:cNvPr id="82" name="Google Shape;82;p16"/>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CDR Presentation</a:t>
            </a:r>
            <a:r>
              <a:rPr lang="en">
                <a:solidFill>
                  <a:schemeClr val="lt1"/>
                </a:solidFill>
              </a:rPr>
              <a:t> - </a:t>
            </a: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86" name="Shape 86"/>
        <p:cNvGrpSpPr/>
        <p:nvPr/>
      </p:nvGrpSpPr>
      <p:grpSpPr>
        <a:xfrm>
          <a:off x="0" y="0"/>
          <a:ext cx="0" cy="0"/>
          <a:chOff x="0" y="0"/>
          <a:chExt cx="0" cy="0"/>
        </a:xfrm>
      </p:grpSpPr>
      <p:sp>
        <p:nvSpPr>
          <p:cNvPr id="87" name="Google Shape;87;p17"/>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 name="Google Shape;88;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Goal and Objectives - Requirements</a:t>
            </a:r>
            <a:endParaRPr b="1" sz="2620">
              <a:solidFill>
                <a:schemeClr val="lt1"/>
              </a:solidFill>
              <a:latin typeface="Atkinson Hyperlegible"/>
              <a:ea typeface="Atkinson Hyperlegible"/>
              <a:cs typeface="Atkinson Hyperlegible"/>
              <a:sym typeface="Atkinson Hyperlegible"/>
            </a:endParaRPr>
          </a:p>
        </p:txBody>
      </p:sp>
      <p:sp>
        <p:nvSpPr>
          <p:cNvPr id="89" name="Google Shape;89;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2000"/>
              </a:spcBef>
              <a:spcAft>
                <a:spcPts val="0"/>
              </a:spcAft>
              <a:buNone/>
            </a:pPr>
            <a:r>
              <a:rPr b="1" lang="en" sz="2600">
                <a:solidFill>
                  <a:schemeClr val="dk1"/>
                </a:solidFill>
              </a:rPr>
              <a:t>Marketing Requirements</a:t>
            </a:r>
            <a:endParaRPr b="1" sz="2600">
              <a:solidFill>
                <a:schemeClr val="dk1"/>
              </a:solidFill>
            </a:endParaRPr>
          </a:p>
          <a:p>
            <a:pPr indent="-336550" lvl="0" marL="457200" rtl="0" algn="l">
              <a:spcBef>
                <a:spcPts val="600"/>
              </a:spcBef>
              <a:spcAft>
                <a:spcPts val="0"/>
              </a:spcAft>
              <a:buClr>
                <a:schemeClr val="dk1"/>
              </a:buClr>
              <a:buSzPts val="1700"/>
              <a:buAutoNum type="arabicPeriod"/>
            </a:pPr>
            <a:r>
              <a:rPr lang="en" sz="1700">
                <a:solidFill>
                  <a:schemeClr val="dk1"/>
                </a:solidFill>
              </a:rPr>
              <a:t>Make the pickup process faster for parents</a:t>
            </a:r>
            <a:endParaRPr sz="1700">
              <a:solidFill>
                <a:schemeClr val="dk1"/>
              </a:solidFill>
            </a:endParaRPr>
          </a:p>
          <a:p>
            <a:pPr indent="-336550" lvl="0" marL="457200" rtl="0" algn="l">
              <a:spcBef>
                <a:spcPts val="0"/>
              </a:spcBef>
              <a:spcAft>
                <a:spcPts val="0"/>
              </a:spcAft>
              <a:buClr>
                <a:schemeClr val="dk1"/>
              </a:buClr>
              <a:buSzPts val="1700"/>
              <a:buAutoNum type="arabicPeriod"/>
            </a:pPr>
            <a:r>
              <a:rPr lang="en" sz="1700">
                <a:solidFill>
                  <a:schemeClr val="dk1"/>
                </a:solidFill>
              </a:rPr>
              <a:t>The system should be easily updated</a:t>
            </a:r>
            <a:endParaRPr sz="1700">
              <a:solidFill>
                <a:schemeClr val="dk1"/>
              </a:solidFill>
            </a:endParaRPr>
          </a:p>
          <a:p>
            <a:pPr indent="-336550" lvl="0" marL="457200" rtl="0" algn="l">
              <a:spcBef>
                <a:spcPts val="0"/>
              </a:spcBef>
              <a:spcAft>
                <a:spcPts val="0"/>
              </a:spcAft>
              <a:buClr>
                <a:schemeClr val="dk1"/>
              </a:buClr>
              <a:buSzPts val="1700"/>
              <a:buAutoNum type="arabicPeriod"/>
            </a:pPr>
            <a:r>
              <a:rPr lang="en" sz="1700">
                <a:solidFill>
                  <a:schemeClr val="dk1"/>
                </a:solidFill>
              </a:rPr>
              <a:t>The system should be low cost</a:t>
            </a:r>
            <a:endParaRPr sz="1700">
              <a:solidFill>
                <a:schemeClr val="dk1"/>
              </a:solidFill>
            </a:endParaRPr>
          </a:p>
          <a:p>
            <a:pPr indent="-336550" lvl="0" marL="457200" rtl="0" algn="l">
              <a:spcBef>
                <a:spcPts val="0"/>
              </a:spcBef>
              <a:spcAft>
                <a:spcPts val="0"/>
              </a:spcAft>
              <a:buClr>
                <a:schemeClr val="dk1"/>
              </a:buClr>
              <a:buSzPts val="1700"/>
              <a:buAutoNum type="arabicPeriod"/>
            </a:pPr>
            <a:r>
              <a:rPr lang="en" sz="1700">
                <a:solidFill>
                  <a:schemeClr val="dk1"/>
                </a:solidFill>
              </a:rPr>
              <a:t>The system should be easy to use/install</a:t>
            </a:r>
            <a:endParaRPr sz="1700">
              <a:solidFill>
                <a:schemeClr val="dk1"/>
              </a:solidFill>
            </a:endParaRPr>
          </a:p>
          <a:p>
            <a:pPr indent="-336550" lvl="0" marL="457200" rtl="0" algn="l">
              <a:spcBef>
                <a:spcPts val="0"/>
              </a:spcBef>
              <a:spcAft>
                <a:spcPts val="0"/>
              </a:spcAft>
              <a:buClr>
                <a:schemeClr val="dk1"/>
              </a:buClr>
              <a:buSzPts val="1700"/>
              <a:buAutoNum type="arabicPeriod"/>
            </a:pPr>
            <a:r>
              <a:rPr lang="en" sz="1700">
                <a:solidFill>
                  <a:schemeClr val="dk1"/>
                </a:solidFill>
              </a:rPr>
              <a:t>Information must be validated if updated or inserted</a:t>
            </a:r>
            <a:endParaRPr sz="1700">
              <a:solidFill>
                <a:schemeClr val="dk1"/>
              </a:solidFill>
            </a:endParaRPr>
          </a:p>
          <a:p>
            <a:pPr indent="-336550" lvl="0" marL="457200" rtl="0" algn="l">
              <a:spcBef>
                <a:spcPts val="0"/>
              </a:spcBef>
              <a:spcAft>
                <a:spcPts val="0"/>
              </a:spcAft>
              <a:buClr>
                <a:schemeClr val="dk1"/>
              </a:buClr>
              <a:buSzPts val="1700"/>
              <a:buAutoNum type="arabicPeriod"/>
            </a:pPr>
            <a:r>
              <a:rPr lang="en" sz="1700">
                <a:solidFill>
                  <a:schemeClr val="dk1"/>
                </a:solidFill>
              </a:rPr>
              <a:t>Student safety should be ensured (information, physical, etc.)</a:t>
            </a:r>
            <a:endParaRPr sz="1700">
              <a:solidFill>
                <a:schemeClr val="dk1"/>
              </a:solidFill>
            </a:endParaRPr>
          </a:p>
          <a:p>
            <a:pPr indent="-336550" lvl="0" marL="457200" rtl="0" algn="l">
              <a:spcBef>
                <a:spcPts val="0"/>
              </a:spcBef>
              <a:spcAft>
                <a:spcPts val="0"/>
              </a:spcAft>
              <a:buClr>
                <a:schemeClr val="dk1"/>
              </a:buClr>
              <a:buSzPts val="1700"/>
              <a:buAutoNum type="arabicPeriod"/>
            </a:pPr>
            <a:r>
              <a:rPr lang="en" sz="1700">
                <a:solidFill>
                  <a:schemeClr val="dk1"/>
                </a:solidFill>
              </a:rPr>
              <a:t>The system should be reliable</a:t>
            </a:r>
            <a:endParaRPr b="1" sz="2100">
              <a:solidFill>
                <a:schemeClr val="dk1"/>
              </a:solidFill>
            </a:endParaRPr>
          </a:p>
        </p:txBody>
      </p:sp>
      <p:sp>
        <p:nvSpPr>
          <p:cNvPr id="90" name="Google Shape;90;p17"/>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CDR Presentation</a:t>
            </a:r>
            <a:r>
              <a:rPr lang="en">
                <a:solidFill>
                  <a:schemeClr val="lt1"/>
                </a:solidFill>
              </a:rPr>
              <a:t> - </a:t>
            </a: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94" name="Shape 94"/>
        <p:cNvGrpSpPr/>
        <p:nvPr/>
      </p:nvGrpSpPr>
      <p:grpSpPr>
        <a:xfrm>
          <a:off x="0" y="0"/>
          <a:ext cx="0" cy="0"/>
          <a:chOff x="0" y="0"/>
          <a:chExt cx="0" cy="0"/>
        </a:xfrm>
      </p:grpSpPr>
      <p:sp>
        <p:nvSpPr>
          <p:cNvPr id="95" name="Google Shape;95;p18"/>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 name="Google Shape;96;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Goal and Objectives - Requirements</a:t>
            </a:r>
            <a:endParaRPr b="1" sz="2620">
              <a:solidFill>
                <a:schemeClr val="lt1"/>
              </a:solidFill>
              <a:latin typeface="Atkinson Hyperlegible"/>
              <a:ea typeface="Atkinson Hyperlegible"/>
              <a:cs typeface="Atkinson Hyperlegible"/>
              <a:sym typeface="Atkinson Hyperlegible"/>
            </a:endParaRPr>
          </a:p>
        </p:txBody>
      </p:sp>
      <p:sp>
        <p:nvSpPr>
          <p:cNvPr id="97" name="Google Shape;97;p18"/>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CDR</a:t>
            </a:r>
            <a:r>
              <a:rPr lang="en">
                <a:solidFill>
                  <a:schemeClr val="lt1"/>
                </a:solidFill>
              </a:rPr>
              <a:t> Presentation - </a:t>
            </a:r>
            <a:fld id="{00000000-1234-1234-1234-123412341234}" type="slidenum">
              <a:rPr lang="en">
                <a:solidFill>
                  <a:schemeClr val="lt1"/>
                </a:solidFill>
              </a:rPr>
              <a:t>‹#›</a:t>
            </a:fld>
            <a:endParaRPr>
              <a:solidFill>
                <a:schemeClr val="lt1"/>
              </a:solidFill>
            </a:endParaRPr>
          </a:p>
        </p:txBody>
      </p:sp>
      <p:graphicFrame>
        <p:nvGraphicFramePr>
          <p:cNvPr id="98" name="Google Shape;98;p18"/>
          <p:cNvGraphicFramePr/>
          <p:nvPr/>
        </p:nvGraphicFramePr>
        <p:xfrm>
          <a:off x="369150" y="1241050"/>
          <a:ext cx="3000000" cy="3000000"/>
        </p:xfrm>
        <a:graphic>
          <a:graphicData uri="http://schemas.openxmlformats.org/drawingml/2006/table">
            <a:tbl>
              <a:tblPr>
                <a:noFill/>
                <a:tableStyleId>{D67BC9D1-6150-4F5D-A1B2-8E722C9A8B24}</a:tableStyleId>
              </a:tblPr>
              <a:tblGrid>
                <a:gridCol w="2738325"/>
                <a:gridCol w="5826675"/>
              </a:tblGrid>
              <a:tr h="12700">
                <a:tc>
                  <a:txBody>
                    <a:bodyPr/>
                    <a:lstStyle/>
                    <a:p>
                      <a:pPr indent="0" lvl="0" marL="0" rtl="0" algn="l">
                        <a:spcBef>
                          <a:spcPts val="0"/>
                        </a:spcBef>
                        <a:spcAft>
                          <a:spcPts val="0"/>
                        </a:spcAft>
                        <a:buNone/>
                      </a:pPr>
                      <a:r>
                        <a:rPr lang="en" sz="1100"/>
                        <a:t>Marketing Requirements</a:t>
                      </a:r>
                      <a:endParaRPr sz="1100"/>
                    </a:p>
                  </a:txBody>
                  <a:tcPr marT="63500" marB="63500" marR="63500" marL="63500"/>
                </a:tc>
                <a:tc>
                  <a:txBody>
                    <a:bodyPr/>
                    <a:lstStyle/>
                    <a:p>
                      <a:pPr indent="0" lvl="0" marL="0" rtl="0" algn="l">
                        <a:spcBef>
                          <a:spcPts val="0"/>
                        </a:spcBef>
                        <a:spcAft>
                          <a:spcPts val="0"/>
                        </a:spcAft>
                        <a:buNone/>
                      </a:pPr>
                      <a:r>
                        <a:rPr lang="en" sz="1100"/>
                        <a:t>Engineering Requirements</a:t>
                      </a:r>
                      <a:endParaRPr sz="1100"/>
                    </a:p>
                  </a:txBody>
                  <a:tcPr marT="63500" marB="63500" marR="63500" marL="63500"/>
                </a:tc>
              </a:tr>
              <a:tr h="12700">
                <a:tc>
                  <a:txBody>
                    <a:bodyPr/>
                    <a:lstStyle/>
                    <a:p>
                      <a:pPr indent="0" lvl="0" marL="0" rtl="0" algn="l">
                        <a:spcBef>
                          <a:spcPts val="0"/>
                        </a:spcBef>
                        <a:spcAft>
                          <a:spcPts val="0"/>
                        </a:spcAft>
                        <a:buNone/>
                      </a:pPr>
                      <a:r>
                        <a:rPr lang="en" sz="1100"/>
                        <a:t>1</a:t>
                      </a:r>
                      <a:endParaRPr sz="1100"/>
                    </a:p>
                  </a:txBody>
                  <a:tcPr marT="63500" marB="63500" marR="63500" marL="63500"/>
                </a:tc>
                <a:tc>
                  <a:txBody>
                    <a:bodyPr/>
                    <a:lstStyle/>
                    <a:p>
                      <a:pPr indent="0" lvl="0" marL="0" rtl="0" algn="l">
                        <a:spcBef>
                          <a:spcPts val="0"/>
                        </a:spcBef>
                        <a:spcAft>
                          <a:spcPts val="0"/>
                        </a:spcAft>
                        <a:buNone/>
                      </a:pPr>
                      <a:r>
                        <a:rPr lang="en" sz="1100"/>
                        <a:t>Pickup time should be reduced by 30% per 100 kids. The time from the car entering the view of the camera to information being displayed should be no more than 5 seconds. </a:t>
                      </a:r>
                      <a:endParaRPr sz="1100"/>
                    </a:p>
                  </a:txBody>
                  <a:tcPr marT="63500" marB="63500" marR="63500" marL="63500"/>
                </a:tc>
              </a:tr>
              <a:tr h="12700">
                <a:tc>
                  <a:txBody>
                    <a:bodyPr/>
                    <a:lstStyle/>
                    <a:p>
                      <a:pPr indent="0" lvl="0" marL="0" rtl="0" algn="l">
                        <a:spcBef>
                          <a:spcPts val="0"/>
                        </a:spcBef>
                        <a:spcAft>
                          <a:spcPts val="0"/>
                        </a:spcAft>
                        <a:buNone/>
                      </a:pPr>
                      <a:r>
                        <a:rPr lang="en" sz="1100"/>
                        <a:t>4</a:t>
                      </a:r>
                      <a:endParaRPr sz="1100"/>
                    </a:p>
                  </a:txBody>
                  <a:tcPr marT="63500" marB="63500" marR="63500" marL="63500"/>
                </a:tc>
                <a:tc>
                  <a:txBody>
                    <a:bodyPr/>
                    <a:lstStyle/>
                    <a:p>
                      <a:pPr indent="0" lvl="0" marL="0" rtl="0" algn="l">
                        <a:spcBef>
                          <a:spcPts val="0"/>
                        </a:spcBef>
                        <a:spcAft>
                          <a:spcPts val="0"/>
                        </a:spcAft>
                        <a:buNone/>
                      </a:pPr>
                      <a:r>
                        <a:rPr lang="en" sz="1100"/>
                        <a:t>7 inch (diagonal) display screen to give station and process instructions clearly.</a:t>
                      </a:r>
                      <a:endParaRPr sz="1100"/>
                    </a:p>
                  </a:txBody>
                  <a:tcPr marT="63500" marB="63500" marR="63500" marL="63500"/>
                </a:tc>
              </a:tr>
              <a:tr h="12700">
                <a:tc>
                  <a:txBody>
                    <a:bodyPr/>
                    <a:lstStyle/>
                    <a:p>
                      <a:pPr indent="0" lvl="0" marL="0" rtl="0" algn="l">
                        <a:spcBef>
                          <a:spcPts val="0"/>
                        </a:spcBef>
                        <a:spcAft>
                          <a:spcPts val="0"/>
                        </a:spcAft>
                        <a:buNone/>
                      </a:pPr>
                      <a:r>
                        <a:rPr lang="en" sz="1100"/>
                        <a:t>1, 6</a:t>
                      </a:r>
                      <a:endParaRPr sz="1100"/>
                    </a:p>
                  </a:txBody>
                  <a:tcPr marT="63500" marB="63500" marR="63500" marL="63500"/>
                </a:tc>
                <a:tc>
                  <a:txBody>
                    <a:bodyPr/>
                    <a:lstStyle/>
                    <a:p>
                      <a:pPr indent="0" lvl="0" marL="0" rtl="0" algn="l">
                        <a:spcBef>
                          <a:spcPts val="0"/>
                        </a:spcBef>
                        <a:spcAft>
                          <a:spcPts val="0"/>
                        </a:spcAft>
                        <a:buNone/>
                      </a:pPr>
                      <a:r>
                        <a:rPr lang="en" sz="1100"/>
                        <a:t>Per Texas Family Code, ensure that students are referred to authorized parents 100% of the time.</a:t>
                      </a:r>
                      <a:endParaRPr sz="1100"/>
                    </a:p>
                  </a:txBody>
                  <a:tcPr marT="63500" marB="63500" marR="63500" marL="63500"/>
                </a:tc>
              </a:tr>
              <a:tr h="12700">
                <a:tc>
                  <a:txBody>
                    <a:bodyPr/>
                    <a:lstStyle/>
                    <a:p>
                      <a:pPr indent="0" lvl="0" marL="0" rtl="0" algn="l">
                        <a:spcBef>
                          <a:spcPts val="0"/>
                        </a:spcBef>
                        <a:spcAft>
                          <a:spcPts val="0"/>
                        </a:spcAft>
                        <a:buNone/>
                      </a:pPr>
                      <a:r>
                        <a:rPr lang="en" sz="1100"/>
                        <a:t>6</a:t>
                      </a:r>
                      <a:endParaRPr sz="1100"/>
                    </a:p>
                  </a:txBody>
                  <a:tcPr marT="63500" marB="63500" marR="63500" marL="63500"/>
                </a:tc>
                <a:tc>
                  <a:txBody>
                    <a:bodyPr/>
                    <a:lstStyle/>
                    <a:p>
                      <a:pPr indent="0" lvl="0" marL="0" rtl="0" algn="l">
                        <a:spcBef>
                          <a:spcPts val="0"/>
                        </a:spcBef>
                        <a:spcAft>
                          <a:spcPts val="0"/>
                        </a:spcAft>
                        <a:buNone/>
                      </a:pPr>
                      <a:r>
                        <a:rPr lang="en" sz="1100"/>
                        <a:t>Private Information stored in the database should be encrypted using 128 bit encryption.</a:t>
                      </a:r>
                      <a:endParaRPr sz="1100"/>
                    </a:p>
                  </a:txBody>
                  <a:tcPr marT="63500" marB="63500" marR="63500" marL="63500"/>
                </a:tc>
              </a:tr>
              <a:tr h="12700">
                <a:tc>
                  <a:txBody>
                    <a:bodyPr/>
                    <a:lstStyle/>
                    <a:p>
                      <a:pPr indent="0" lvl="0" marL="0" rtl="0" algn="l">
                        <a:spcBef>
                          <a:spcPts val="0"/>
                        </a:spcBef>
                        <a:spcAft>
                          <a:spcPts val="0"/>
                        </a:spcAft>
                        <a:buNone/>
                      </a:pPr>
                      <a:r>
                        <a:rPr lang="en" sz="1100"/>
                        <a:t>7</a:t>
                      </a:r>
                      <a:endParaRPr sz="1100"/>
                    </a:p>
                  </a:txBody>
                  <a:tcPr marT="63500" marB="63500" marR="63500" marL="63500"/>
                </a:tc>
                <a:tc>
                  <a:txBody>
                    <a:bodyPr/>
                    <a:lstStyle/>
                    <a:p>
                      <a:pPr indent="0" lvl="0" marL="0" rtl="0" algn="l">
                        <a:spcBef>
                          <a:spcPts val="0"/>
                        </a:spcBef>
                        <a:spcAft>
                          <a:spcPts val="0"/>
                        </a:spcAft>
                        <a:buNone/>
                      </a:pPr>
                      <a:r>
                        <a:rPr lang="en" sz="1100"/>
                        <a:t>Should have a stable connection from within 1 kilometer, stable power to all components.</a:t>
                      </a:r>
                      <a:endParaRPr sz="1100"/>
                    </a:p>
                  </a:txBody>
                  <a:tcPr marT="63500" marB="63500" marR="63500" marL="63500"/>
                </a:tc>
              </a:tr>
              <a:tr h="12700">
                <a:tc>
                  <a:txBody>
                    <a:bodyPr/>
                    <a:lstStyle/>
                    <a:p>
                      <a:pPr indent="0" lvl="0" marL="0" rtl="0" algn="l">
                        <a:spcBef>
                          <a:spcPts val="0"/>
                        </a:spcBef>
                        <a:spcAft>
                          <a:spcPts val="0"/>
                        </a:spcAft>
                        <a:buNone/>
                      </a:pPr>
                      <a:r>
                        <a:rPr lang="en" sz="1100"/>
                        <a:t>1,6,7</a:t>
                      </a:r>
                      <a:endParaRPr sz="1100"/>
                    </a:p>
                  </a:txBody>
                  <a:tcPr marT="63500" marB="63500" marR="63500" marL="63500"/>
                </a:tc>
                <a:tc>
                  <a:txBody>
                    <a:bodyPr/>
                    <a:lstStyle/>
                    <a:p>
                      <a:pPr indent="0" lvl="0" marL="0" rtl="0" algn="l">
                        <a:spcBef>
                          <a:spcPts val="0"/>
                        </a:spcBef>
                        <a:spcAft>
                          <a:spcPts val="0"/>
                        </a:spcAft>
                        <a:buNone/>
                      </a:pPr>
                      <a:r>
                        <a:rPr lang="en" sz="1100"/>
                        <a:t>Should correctly identify/assign parents to kids 100% of the time.</a:t>
                      </a:r>
                      <a:endParaRPr sz="1100"/>
                    </a:p>
                  </a:txBody>
                  <a:tcPr marT="63500" marB="63500" marR="63500" marL="63500"/>
                </a:tc>
              </a:tr>
              <a:tr h="12700">
                <a:tc>
                  <a:txBody>
                    <a:bodyPr/>
                    <a:lstStyle/>
                    <a:p>
                      <a:pPr indent="0" lvl="0" marL="0" rtl="0" algn="l">
                        <a:spcBef>
                          <a:spcPts val="0"/>
                        </a:spcBef>
                        <a:spcAft>
                          <a:spcPts val="0"/>
                        </a:spcAft>
                        <a:buNone/>
                      </a:pPr>
                      <a:r>
                        <a:rPr lang="en" sz="1100"/>
                        <a:t>3</a:t>
                      </a:r>
                      <a:endParaRPr sz="1100"/>
                    </a:p>
                  </a:txBody>
                  <a:tcPr marT="63500" marB="63500" marR="63500" marL="63500"/>
                </a:tc>
                <a:tc>
                  <a:txBody>
                    <a:bodyPr/>
                    <a:lstStyle/>
                    <a:p>
                      <a:pPr indent="0" lvl="0" marL="0" rtl="0" algn="l">
                        <a:spcBef>
                          <a:spcPts val="0"/>
                        </a:spcBef>
                        <a:spcAft>
                          <a:spcPts val="0"/>
                        </a:spcAft>
                        <a:buNone/>
                      </a:pPr>
                      <a:r>
                        <a:rPr lang="en" sz="1100"/>
                        <a:t>The costs for developing the system should not exceed $300.</a:t>
                      </a:r>
                      <a:endParaRPr sz="1100"/>
                    </a:p>
                  </a:txBody>
                  <a:tcPr marT="63500" marB="63500" marR="63500" marL="63500"/>
                </a:tc>
              </a:tr>
              <a:tr h="12700">
                <a:tc>
                  <a:txBody>
                    <a:bodyPr/>
                    <a:lstStyle/>
                    <a:p>
                      <a:pPr indent="0" lvl="0" marL="0" rtl="0" algn="l">
                        <a:spcBef>
                          <a:spcPts val="0"/>
                        </a:spcBef>
                        <a:spcAft>
                          <a:spcPts val="0"/>
                        </a:spcAft>
                        <a:buNone/>
                      </a:pPr>
                      <a:r>
                        <a:rPr lang="en" sz="1100"/>
                        <a:t>2,4,5</a:t>
                      </a:r>
                      <a:endParaRPr sz="1100"/>
                    </a:p>
                  </a:txBody>
                  <a:tcPr marT="63500" marB="63500" marR="63500" marL="63500"/>
                </a:tc>
                <a:tc>
                  <a:txBody>
                    <a:bodyPr/>
                    <a:lstStyle/>
                    <a:p>
                      <a:pPr indent="0" lvl="0" marL="0" rtl="0" algn="l">
                        <a:spcBef>
                          <a:spcPts val="0"/>
                        </a:spcBef>
                        <a:spcAft>
                          <a:spcPts val="0"/>
                        </a:spcAft>
                        <a:buNone/>
                      </a:pPr>
                      <a:r>
                        <a:rPr lang="en" sz="1100"/>
                        <a:t>The system should allow parents to submit a request to the school to update information and the school should receive the request all within 1 minute.</a:t>
                      </a:r>
                      <a:endParaRPr sz="1100"/>
                    </a:p>
                  </a:txBody>
                  <a:tcPr marT="63500" marB="63500" marR="63500" marL="6350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02" name="Shape 102"/>
        <p:cNvGrpSpPr/>
        <p:nvPr/>
      </p:nvGrpSpPr>
      <p:grpSpPr>
        <a:xfrm>
          <a:off x="0" y="0"/>
          <a:ext cx="0" cy="0"/>
          <a:chOff x="0" y="0"/>
          <a:chExt cx="0" cy="0"/>
        </a:xfrm>
      </p:grpSpPr>
      <p:sp>
        <p:nvSpPr>
          <p:cNvPr id="103" name="Google Shape;103;p19"/>
          <p:cNvSpPr/>
          <p:nvPr/>
        </p:nvSpPr>
        <p:spPr>
          <a:xfrm>
            <a:off x="209850" y="1096825"/>
            <a:ext cx="8724300" cy="37146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 name="Google Shape;104;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Goal and Objectives - Requirements</a:t>
            </a:r>
            <a:endParaRPr b="1" sz="2620">
              <a:solidFill>
                <a:schemeClr val="lt1"/>
              </a:solidFill>
              <a:latin typeface="Atkinson Hyperlegible"/>
              <a:ea typeface="Atkinson Hyperlegible"/>
              <a:cs typeface="Atkinson Hyperlegible"/>
              <a:sym typeface="Atkinson Hyperlegible"/>
            </a:endParaRPr>
          </a:p>
        </p:txBody>
      </p:sp>
      <p:sp>
        <p:nvSpPr>
          <p:cNvPr id="105" name="Google Shape;105;p19"/>
          <p:cNvSpPr txBox="1"/>
          <p:nvPr>
            <p:ph idx="12" type="sldNum"/>
          </p:nvPr>
        </p:nvSpPr>
        <p:spPr>
          <a:xfrm>
            <a:off x="7618688" y="4749900"/>
            <a:ext cx="14094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CDR </a:t>
            </a:r>
            <a:r>
              <a:rPr lang="en">
                <a:solidFill>
                  <a:schemeClr val="lt1"/>
                </a:solidFill>
              </a:rPr>
              <a:t>Presentation - </a:t>
            </a:r>
            <a:fld id="{00000000-1234-1234-1234-123412341234}" type="slidenum">
              <a:rPr lang="en">
                <a:solidFill>
                  <a:schemeClr val="lt1"/>
                </a:solidFill>
              </a:rPr>
              <a:t>‹#›</a:t>
            </a:fld>
            <a:endParaRPr>
              <a:solidFill>
                <a:schemeClr val="lt1"/>
              </a:solidFill>
            </a:endParaRPr>
          </a:p>
        </p:txBody>
      </p:sp>
      <p:graphicFrame>
        <p:nvGraphicFramePr>
          <p:cNvPr id="106" name="Google Shape;106;p19"/>
          <p:cNvGraphicFramePr/>
          <p:nvPr/>
        </p:nvGraphicFramePr>
        <p:xfrm>
          <a:off x="311700" y="1096825"/>
          <a:ext cx="3000000" cy="3000000"/>
        </p:xfrm>
        <a:graphic>
          <a:graphicData uri="http://schemas.openxmlformats.org/drawingml/2006/table">
            <a:tbl>
              <a:tblPr>
                <a:noFill/>
                <a:tableStyleId>{D67BC9D1-6150-4F5D-A1B2-8E722C9A8B24}</a:tableStyleId>
              </a:tblPr>
              <a:tblGrid>
                <a:gridCol w="2738325"/>
                <a:gridCol w="5826675"/>
              </a:tblGrid>
              <a:tr h="12700">
                <a:tc>
                  <a:txBody>
                    <a:bodyPr/>
                    <a:lstStyle/>
                    <a:p>
                      <a:pPr indent="0" lvl="0" marL="0" rtl="0" algn="l">
                        <a:spcBef>
                          <a:spcPts val="0"/>
                        </a:spcBef>
                        <a:spcAft>
                          <a:spcPts val="0"/>
                        </a:spcAft>
                        <a:buNone/>
                      </a:pPr>
                      <a:r>
                        <a:rPr lang="en" sz="1100"/>
                        <a:t>Marketing Requirements</a:t>
                      </a:r>
                      <a:endParaRPr sz="1100"/>
                    </a:p>
                  </a:txBody>
                  <a:tcPr marT="63500" marB="63500" marR="63500" marL="63500">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Engineering Requirements</a:t>
                      </a:r>
                      <a:endParaRPr sz="1100"/>
                    </a:p>
                  </a:txBody>
                  <a:tcPr marT="63500" marB="63500" marR="63500" marL="63500">
                    <a:lnB cap="flat" cmpd="sng" w="1270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n" sz="1100"/>
                        <a:t>4</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The system should have a modular design such that failed components</a:t>
                      </a:r>
                      <a:endParaRPr sz="1100"/>
                    </a:p>
                    <a:p>
                      <a:pPr indent="0" lvl="0" marL="0" rtl="0" algn="l">
                        <a:spcBef>
                          <a:spcPts val="0"/>
                        </a:spcBef>
                        <a:spcAft>
                          <a:spcPts val="0"/>
                        </a:spcAft>
                        <a:buNone/>
                      </a:pPr>
                      <a:r>
                        <a:rPr lang="en" sz="1100"/>
                        <a:t>can be replaced by a technician in under 15 minutes.</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n" sz="1100"/>
                        <a:t>4,7</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The system should be mounted correctly on a tripod to ensure stability and prevent hazards. Sandbag/Weights of at least 1 pound to keep it grounded.</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n" sz="1100"/>
                        <a:t>7</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The software will comply with the Digital Millennium Copyright Act.</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n" sz="1100"/>
                        <a:t>2,4,5,6</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Staff should be able to access databases with provided credentials and view all parent to children links.</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n" sz="1100"/>
                        <a:t>4,7</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The system should be able to withstand 20mph wind.</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n" sz="1100"/>
                        <a:t>1</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Minimum 40inch (diagonal) display screen to give station and process instructions clearly inside in the pickup .</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n" sz="1100"/>
                        <a:t>4</a:t>
                      </a:r>
                      <a:endParaRPr sz="1100"/>
                    </a:p>
                  </a:txBody>
                  <a:tcPr marT="63500" marB="63500" marR="63500" marL="63500">
                    <a:lnT cap="flat" cmpd="sng" w="12700">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rPr lang="en" sz="1100"/>
                        <a:t>The system should have a modular design such that failed components</a:t>
                      </a:r>
                      <a:endParaRPr sz="1100"/>
                    </a:p>
                    <a:p>
                      <a:pPr indent="0" lvl="0" marL="0" rtl="0" algn="l">
                        <a:spcBef>
                          <a:spcPts val="0"/>
                        </a:spcBef>
                        <a:spcAft>
                          <a:spcPts val="0"/>
                        </a:spcAft>
                        <a:buNone/>
                      </a:pPr>
                      <a:r>
                        <a:rPr lang="en" sz="1100"/>
                        <a:t>can be replaced by a technician in under 15 minutes.</a:t>
                      </a:r>
                      <a:endParaRPr sz="1100"/>
                    </a:p>
                  </a:txBody>
                  <a:tcPr marT="63500" marB="63500" marR="63500" marL="63500">
                    <a:lnT cap="flat" cmpd="sng" w="12700">
                      <a:solidFill>
                        <a:srgbClr val="000000"/>
                      </a:solidFill>
                      <a:prstDash val="solid"/>
                      <a:round/>
                      <a:headEnd len="sm" w="sm" type="none"/>
                      <a:tailEnd len="sm" w="sm" type="none"/>
                    </a:lnT>
                  </a:tcPr>
                </a:tc>
              </a:tr>
              <a:tr h="12700">
                <a:tc>
                  <a:txBody>
                    <a:bodyPr/>
                    <a:lstStyle/>
                    <a:p>
                      <a:pPr indent="0" lvl="0" marL="0" rtl="0" algn="l">
                        <a:spcBef>
                          <a:spcPts val="0"/>
                        </a:spcBef>
                        <a:spcAft>
                          <a:spcPts val="0"/>
                        </a:spcAft>
                        <a:buNone/>
                      </a:pPr>
                      <a:r>
                        <a:rPr lang="en" sz="1100"/>
                        <a:t>4,7</a:t>
                      </a:r>
                      <a:endParaRPr sz="1100"/>
                    </a:p>
                  </a:txBody>
                  <a:tcPr marT="63500" marB="63500" marR="63500" marL="63500"/>
                </a:tc>
                <a:tc>
                  <a:txBody>
                    <a:bodyPr/>
                    <a:lstStyle/>
                    <a:p>
                      <a:pPr indent="0" lvl="0" marL="0" rtl="0" algn="l">
                        <a:spcBef>
                          <a:spcPts val="0"/>
                        </a:spcBef>
                        <a:spcAft>
                          <a:spcPts val="0"/>
                        </a:spcAft>
                        <a:buNone/>
                      </a:pPr>
                      <a:r>
                        <a:rPr lang="en" sz="1100"/>
                        <a:t>The system should be mounted correctly on a tripod to ensure stability and prevent hazards. Sandbag/Weights of at least 1 pound to keep it grounded.</a:t>
                      </a:r>
                      <a:endParaRPr sz="1100"/>
                    </a:p>
                  </a:txBody>
                  <a:tcPr marT="63500" marB="63500" marR="63500" marL="6350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10" name="Shape 110"/>
        <p:cNvGrpSpPr/>
        <p:nvPr/>
      </p:nvGrpSpPr>
      <p:grpSpPr>
        <a:xfrm>
          <a:off x="0" y="0"/>
          <a:ext cx="0" cy="0"/>
          <a:chOff x="0" y="0"/>
          <a:chExt cx="0" cy="0"/>
        </a:xfrm>
      </p:grpSpPr>
      <p:sp>
        <p:nvSpPr>
          <p:cNvPr id="111" name="Google Shape;111;p20"/>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Design Constraints and Feasibility</a:t>
            </a:r>
            <a:endParaRPr b="1" sz="2620">
              <a:solidFill>
                <a:schemeClr val="lt1"/>
              </a:solidFill>
              <a:highlight>
                <a:schemeClr val="accent6"/>
              </a:highlight>
              <a:latin typeface="Atkinson Hyperlegible"/>
              <a:ea typeface="Atkinson Hyperlegible"/>
              <a:cs typeface="Atkinson Hyperlegible"/>
              <a:sym typeface="Atkinson Hyperlegible"/>
            </a:endParaRPr>
          </a:p>
        </p:txBody>
      </p:sp>
      <p:sp>
        <p:nvSpPr>
          <p:cNvPr id="113" name="Google Shape;113;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lnSpc>
                <a:spcPct val="100000"/>
              </a:lnSpc>
              <a:spcBef>
                <a:spcPts val="0"/>
              </a:spcBef>
              <a:spcAft>
                <a:spcPts val="0"/>
              </a:spcAft>
              <a:buNone/>
            </a:pPr>
            <a:r>
              <a:rPr b="1" lang="en" sz="1600">
                <a:solidFill>
                  <a:schemeClr val="dk1"/>
                </a:solidFill>
              </a:rPr>
              <a:t>Technical</a:t>
            </a:r>
            <a:r>
              <a:rPr b="1" lang="en" sz="1600">
                <a:solidFill>
                  <a:schemeClr val="dk1"/>
                </a:solidFill>
              </a:rPr>
              <a:t> and Temporal Constraints</a:t>
            </a:r>
            <a:endParaRPr b="1" sz="1600">
              <a:solidFill>
                <a:schemeClr val="dk1"/>
              </a:solidFill>
            </a:endParaRPr>
          </a:p>
          <a:p>
            <a:pPr indent="-307340" lvl="0" marL="457200" rtl="0" algn="l">
              <a:lnSpc>
                <a:spcPct val="100000"/>
              </a:lnSpc>
              <a:spcBef>
                <a:spcPts val="1200"/>
              </a:spcBef>
              <a:spcAft>
                <a:spcPts val="0"/>
              </a:spcAft>
              <a:buClr>
                <a:schemeClr val="dk1"/>
              </a:buClr>
              <a:buSzPct val="100000"/>
              <a:buChar char="●"/>
            </a:pPr>
            <a:r>
              <a:rPr lang="en" sz="1600">
                <a:solidFill>
                  <a:schemeClr val="dk1"/>
                </a:solidFill>
              </a:rPr>
              <a:t>Maximum of 5 seconds from image capture to display update</a:t>
            </a:r>
            <a:endParaRPr sz="1600">
              <a:solidFill>
                <a:schemeClr val="dk1"/>
              </a:solidFill>
            </a:endParaRPr>
          </a:p>
          <a:p>
            <a:pPr indent="-307340" lvl="0" marL="457200" rtl="0" algn="l">
              <a:lnSpc>
                <a:spcPct val="100000"/>
              </a:lnSpc>
              <a:spcBef>
                <a:spcPts val="0"/>
              </a:spcBef>
              <a:spcAft>
                <a:spcPts val="0"/>
              </a:spcAft>
              <a:buClr>
                <a:schemeClr val="dk1"/>
              </a:buClr>
              <a:buSzPct val="100000"/>
              <a:buChar char="●"/>
            </a:pPr>
            <a:r>
              <a:rPr lang="en" sz="1600">
                <a:solidFill>
                  <a:schemeClr val="dk1"/>
                </a:solidFill>
              </a:rPr>
              <a:t>Identification accuracy must be 100% to ensure safety and efficiency</a:t>
            </a:r>
            <a:endParaRPr sz="1600">
              <a:solidFill>
                <a:schemeClr val="dk1"/>
              </a:solidFill>
            </a:endParaRPr>
          </a:p>
          <a:p>
            <a:pPr indent="-307340" lvl="0" marL="457200" rtl="0" algn="l">
              <a:lnSpc>
                <a:spcPct val="100000"/>
              </a:lnSpc>
              <a:spcBef>
                <a:spcPts val="0"/>
              </a:spcBef>
              <a:spcAft>
                <a:spcPts val="0"/>
              </a:spcAft>
              <a:buClr>
                <a:schemeClr val="dk1"/>
              </a:buClr>
              <a:buSzPct val="100000"/>
              <a:buChar char="●"/>
            </a:pPr>
            <a:r>
              <a:rPr lang="en" sz="1600">
                <a:solidFill>
                  <a:schemeClr val="dk1"/>
                </a:solidFill>
              </a:rPr>
              <a:t>Connection between the system parts must be reliable</a:t>
            </a:r>
            <a:endParaRPr sz="1600">
              <a:solidFill>
                <a:schemeClr val="dk1"/>
              </a:solidFill>
            </a:endParaRPr>
          </a:p>
          <a:p>
            <a:pPr indent="0" lvl="0" marL="0" rtl="0" algn="l">
              <a:lnSpc>
                <a:spcPct val="100000"/>
              </a:lnSpc>
              <a:spcBef>
                <a:spcPts val="1200"/>
              </a:spcBef>
              <a:spcAft>
                <a:spcPts val="0"/>
              </a:spcAft>
              <a:buNone/>
            </a:pPr>
            <a:r>
              <a:rPr b="1" lang="en" sz="1600">
                <a:solidFill>
                  <a:schemeClr val="dk1"/>
                </a:solidFill>
              </a:rPr>
              <a:t>Physical and Environmental</a:t>
            </a:r>
            <a:endParaRPr b="1" sz="1600">
              <a:solidFill>
                <a:schemeClr val="dk1"/>
              </a:solidFill>
            </a:endParaRPr>
          </a:p>
          <a:p>
            <a:pPr indent="-307340" lvl="0" marL="457200" rtl="0" algn="l">
              <a:lnSpc>
                <a:spcPct val="100000"/>
              </a:lnSpc>
              <a:spcBef>
                <a:spcPts val="1200"/>
              </a:spcBef>
              <a:spcAft>
                <a:spcPts val="0"/>
              </a:spcAft>
              <a:buClr>
                <a:schemeClr val="dk1"/>
              </a:buClr>
              <a:buSzPct val="100000"/>
              <a:buChar char="●"/>
            </a:pPr>
            <a:r>
              <a:rPr lang="en" sz="1600">
                <a:solidFill>
                  <a:schemeClr val="dk1"/>
                </a:solidFill>
              </a:rPr>
              <a:t>Needs to withstand outdoor elements (wind and rain)</a:t>
            </a:r>
            <a:endParaRPr sz="1600">
              <a:solidFill>
                <a:schemeClr val="dk1"/>
              </a:solidFill>
            </a:endParaRPr>
          </a:p>
          <a:p>
            <a:pPr indent="-307340" lvl="0" marL="457200" rtl="0" algn="l">
              <a:lnSpc>
                <a:spcPct val="100000"/>
              </a:lnSpc>
              <a:spcBef>
                <a:spcPts val="0"/>
              </a:spcBef>
              <a:spcAft>
                <a:spcPts val="0"/>
              </a:spcAft>
              <a:buClr>
                <a:schemeClr val="dk1"/>
              </a:buClr>
              <a:buSzPct val="100000"/>
              <a:buChar char="●"/>
            </a:pPr>
            <a:r>
              <a:rPr lang="en" sz="1600">
                <a:solidFill>
                  <a:schemeClr val="dk1"/>
                </a:solidFill>
              </a:rPr>
              <a:t>Needs to be portable and stable with modular parts, mounting, and power supply to reduce system downtime and speed up repair and maintenance</a:t>
            </a:r>
            <a:endParaRPr sz="1600">
              <a:solidFill>
                <a:schemeClr val="dk1"/>
              </a:solidFill>
            </a:endParaRPr>
          </a:p>
          <a:p>
            <a:pPr indent="0" lvl="0" marL="0" rtl="0" algn="l">
              <a:lnSpc>
                <a:spcPct val="100000"/>
              </a:lnSpc>
              <a:spcBef>
                <a:spcPts val="1200"/>
              </a:spcBef>
              <a:spcAft>
                <a:spcPts val="0"/>
              </a:spcAft>
              <a:buNone/>
            </a:pPr>
            <a:r>
              <a:rPr b="1" lang="en" sz="1600">
                <a:solidFill>
                  <a:schemeClr val="dk1"/>
                </a:solidFill>
              </a:rPr>
              <a:t>Economic</a:t>
            </a:r>
            <a:endParaRPr b="1" sz="1600">
              <a:solidFill>
                <a:schemeClr val="dk1"/>
              </a:solidFill>
            </a:endParaRPr>
          </a:p>
          <a:p>
            <a:pPr indent="-307340" lvl="0" marL="457200" rtl="0" algn="l">
              <a:lnSpc>
                <a:spcPct val="100000"/>
              </a:lnSpc>
              <a:spcBef>
                <a:spcPts val="1200"/>
              </a:spcBef>
              <a:spcAft>
                <a:spcPts val="0"/>
              </a:spcAft>
              <a:buClr>
                <a:schemeClr val="dk1"/>
              </a:buClr>
              <a:buSzPct val="100000"/>
              <a:buChar char="●"/>
            </a:pPr>
            <a:r>
              <a:rPr lang="en" sz="1600">
                <a:solidFill>
                  <a:schemeClr val="dk1"/>
                </a:solidFill>
              </a:rPr>
              <a:t>Must cost $250 or less, necessitating cost-effective components</a:t>
            </a:r>
            <a:endParaRPr sz="1600">
              <a:solidFill>
                <a:schemeClr val="dk1"/>
              </a:solidFill>
            </a:endParaRPr>
          </a:p>
          <a:p>
            <a:pPr indent="0" lvl="0" marL="0" rtl="0" algn="l">
              <a:spcBef>
                <a:spcPts val="1200"/>
              </a:spcBef>
              <a:spcAft>
                <a:spcPts val="0"/>
              </a:spcAft>
              <a:buNone/>
            </a:pPr>
            <a:r>
              <a:rPr b="1" lang="en" sz="1600">
                <a:solidFill>
                  <a:schemeClr val="dk1"/>
                </a:solidFill>
              </a:rPr>
              <a:t>Feasibility</a:t>
            </a:r>
            <a:endParaRPr b="1" sz="1600">
              <a:solidFill>
                <a:schemeClr val="dk1"/>
              </a:solidFill>
            </a:endParaRPr>
          </a:p>
          <a:p>
            <a:pPr indent="-307340" lvl="0" marL="457200" rtl="0" algn="l">
              <a:spcBef>
                <a:spcPts val="1200"/>
              </a:spcBef>
              <a:spcAft>
                <a:spcPts val="0"/>
              </a:spcAft>
              <a:buClr>
                <a:schemeClr val="dk1"/>
              </a:buClr>
              <a:buSzPct val="100000"/>
              <a:buChar char="●"/>
            </a:pPr>
            <a:r>
              <a:rPr lang="en" sz="1600">
                <a:solidFill>
                  <a:schemeClr val="dk1"/>
                </a:solidFill>
              </a:rPr>
              <a:t>Core technology, such as Python image processing and Wi-Fi, is well documented and </a:t>
            </a:r>
            <a:r>
              <a:rPr lang="en" sz="1600">
                <a:solidFill>
                  <a:schemeClr val="dk1"/>
                </a:solidFill>
              </a:rPr>
              <a:t>achievable</a:t>
            </a:r>
            <a:endParaRPr sz="1600">
              <a:solidFill>
                <a:schemeClr val="dk1"/>
              </a:solidFill>
            </a:endParaRPr>
          </a:p>
          <a:p>
            <a:pPr indent="-307340" lvl="0" marL="457200" rtl="0" algn="l">
              <a:spcBef>
                <a:spcPts val="0"/>
              </a:spcBef>
              <a:spcAft>
                <a:spcPts val="0"/>
              </a:spcAft>
              <a:buClr>
                <a:schemeClr val="dk1"/>
              </a:buClr>
              <a:buSzPct val="100000"/>
              <a:buChar char="●"/>
            </a:pPr>
            <a:r>
              <a:rPr lang="en" sz="1600">
                <a:solidFill>
                  <a:schemeClr val="dk1"/>
                </a:solidFill>
              </a:rPr>
              <a:t>Main challenge will be creating a fast and efficient system within our budget</a:t>
            </a:r>
            <a:endParaRPr sz="1600">
              <a:solidFill>
                <a:schemeClr val="dk1"/>
              </a:solidFill>
            </a:endParaRPr>
          </a:p>
        </p:txBody>
      </p:sp>
      <p:sp>
        <p:nvSpPr>
          <p:cNvPr id="114" name="Google Shape;114;p20"/>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CDR </a:t>
            </a:r>
            <a:r>
              <a:rPr lang="en">
                <a:solidFill>
                  <a:schemeClr val="lt1"/>
                </a:solidFill>
              </a:rPr>
              <a:t>Presentation - </a:t>
            </a: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18" name="Shape 118"/>
        <p:cNvGrpSpPr/>
        <p:nvPr/>
      </p:nvGrpSpPr>
      <p:grpSpPr>
        <a:xfrm>
          <a:off x="0" y="0"/>
          <a:ext cx="0" cy="0"/>
          <a:chOff x="0" y="0"/>
          <a:chExt cx="0" cy="0"/>
        </a:xfrm>
      </p:grpSpPr>
      <p:sp>
        <p:nvSpPr>
          <p:cNvPr id="119" name="Google Shape;119;p21"/>
          <p:cNvSpPr/>
          <p:nvPr/>
        </p:nvSpPr>
        <p:spPr>
          <a:xfrm>
            <a:off x="209850" y="1017725"/>
            <a:ext cx="8724300" cy="3744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Evaluation of alternative solutions and Rationale</a:t>
            </a:r>
            <a:endParaRPr b="1" sz="2620">
              <a:solidFill>
                <a:schemeClr val="lt1"/>
              </a:solidFill>
              <a:latin typeface="Atkinson Hyperlegible"/>
              <a:ea typeface="Atkinson Hyperlegible"/>
              <a:cs typeface="Atkinson Hyperlegible"/>
              <a:sym typeface="Atkinson Hyperlegible"/>
            </a:endParaRPr>
          </a:p>
        </p:txBody>
      </p:sp>
      <p:sp>
        <p:nvSpPr>
          <p:cNvPr id="121" name="Google Shape;121;p21"/>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fontScale="92500"/>
          </a:bodyPr>
          <a:lstStyle/>
          <a:p>
            <a:pPr indent="0" lvl="0" marL="0" rtl="0" algn="r">
              <a:spcBef>
                <a:spcPts val="0"/>
              </a:spcBef>
              <a:spcAft>
                <a:spcPts val="0"/>
              </a:spcAft>
              <a:buNone/>
            </a:pPr>
            <a:r>
              <a:rPr lang="en">
                <a:solidFill>
                  <a:schemeClr val="lt1"/>
                </a:solidFill>
              </a:rPr>
              <a:t>CDR</a:t>
            </a:r>
            <a:r>
              <a:rPr lang="en">
                <a:solidFill>
                  <a:schemeClr val="lt1"/>
                </a:solidFill>
              </a:rPr>
              <a:t> Presentation - </a:t>
            </a:r>
            <a:fld id="{00000000-1234-1234-1234-123412341234}" type="slidenum">
              <a:rPr lang="en">
                <a:solidFill>
                  <a:schemeClr val="lt1"/>
                </a:solidFill>
              </a:rPr>
              <a:t>‹#›</a:t>
            </a:fld>
            <a:endParaRPr>
              <a:solidFill>
                <a:schemeClr val="lt1"/>
              </a:solidFill>
            </a:endParaRPr>
          </a:p>
        </p:txBody>
      </p:sp>
      <p:graphicFrame>
        <p:nvGraphicFramePr>
          <p:cNvPr id="122" name="Google Shape;122;p21"/>
          <p:cNvGraphicFramePr/>
          <p:nvPr/>
        </p:nvGraphicFramePr>
        <p:xfrm>
          <a:off x="861375" y="1165475"/>
          <a:ext cx="3000000" cy="3000000"/>
        </p:xfrm>
        <a:graphic>
          <a:graphicData uri="http://schemas.openxmlformats.org/drawingml/2006/table">
            <a:tbl>
              <a:tblPr>
                <a:noFill/>
                <a:tableStyleId>{307CD265-632A-4138-923F-A63FA96345F9}</a:tableStyleId>
              </a:tblPr>
              <a:tblGrid>
                <a:gridCol w="1960575"/>
                <a:gridCol w="2677300"/>
                <a:gridCol w="3061350"/>
              </a:tblGrid>
              <a:tr h="381000">
                <a:tc>
                  <a:txBody>
                    <a:bodyPr/>
                    <a:lstStyle/>
                    <a:p>
                      <a:pPr indent="0" lvl="0" marL="0" rtl="0" algn="ctr">
                        <a:lnSpc>
                          <a:spcPct val="115000"/>
                        </a:lnSpc>
                        <a:spcBef>
                          <a:spcPts val="0"/>
                        </a:spcBef>
                        <a:spcAft>
                          <a:spcPts val="0"/>
                        </a:spcAft>
                        <a:buNone/>
                      </a:pPr>
                      <a:r>
                        <a:rPr b="1" lang="en" sz="1200"/>
                        <a:t>Solution</a:t>
                      </a:r>
                      <a:endParaRPr b="1" sz="1200"/>
                    </a:p>
                  </a:txBody>
                  <a:tcPr marT="91425" marB="91425" marR="91425" marL="91425">
                    <a:solidFill>
                      <a:srgbClr val="F4CCCC"/>
                    </a:solidFill>
                  </a:tcPr>
                </a:tc>
                <a:tc>
                  <a:txBody>
                    <a:bodyPr/>
                    <a:lstStyle/>
                    <a:p>
                      <a:pPr indent="0" lvl="0" marL="0" rtl="0" algn="ctr">
                        <a:lnSpc>
                          <a:spcPct val="115000"/>
                        </a:lnSpc>
                        <a:spcBef>
                          <a:spcPts val="0"/>
                        </a:spcBef>
                        <a:spcAft>
                          <a:spcPts val="0"/>
                        </a:spcAft>
                        <a:buNone/>
                      </a:pPr>
                      <a:r>
                        <a:rPr b="1" lang="en" sz="1200"/>
                        <a:t>Pros</a:t>
                      </a:r>
                      <a:endParaRPr b="1" sz="1200"/>
                    </a:p>
                  </a:txBody>
                  <a:tcPr marT="91425" marB="91425" marR="91425" marL="91425">
                    <a:solidFill>
                      <a:srgbClr val="F4CCCC"/>
                    </a:solidFill>
                  </a:tcPr>
                </a:tc>
                <a:tc>
                  <a:txBody>
                    <a:bodyPr/>
                    <a:lstStyle/>
                    <a:p>
                      <a:pPr indent="0" lvl="0" marL="0" rtl="0" algn="ctr">
                        <a:lnSpc>
                          <a:spcPct val="115000"/>
                        </a:lnSpc>
                        <a:spcBef>
                          <a:spcPts val="0"/>
                        </a:spcBef>
                        <a:spcAft>
                          <a:spcPts val="0"/>
                        </a:spcAft>
                        <a:buNone/>
                      </a:pPr>
                      <a:r>
                        <a:rPr b="1" lang="en" sz="1200"/>
                        <a:t>Cons</a:t>
                      </a:r>
                      <a:endParaRPr b="1" sz="1200"/>
                    </a:p>
                  </a:txBody>
                  <a:tcPr marT="91425" marB="91425" marR="91425" marL="91425">
                    <a:solidFill>
                      <a:srgbClr val="F4CCCC"/>
                    </a:solidFill>
                  </a:tcPr>
                </a:tc>
              </a:tr>
              <a:tr h="381000">
                <a:tc>
                  <a:txBody>
                    <a:bodyPr/>
                    <a:lstStyle/>
                    <a:p>
                      <a:pPr indent="0" lvl="0" marL="0" rtl="0" algn="l">
                        <a:lnSpc>
                          <a:spcPct val="115000"/>
                        </a:lnSpc>
                        <a:spcBef>
                          <a:spcPts val="0"/>
                        </a:spcBef>
                        <a:spcAft>
                          <a:spcPts val="0"/>
                        </a:spcAft>
                        <a:buNone/>
                      </a:pPr>
                      <a:r>
                        <a:rPr b="1" lang="en" sz="1200"/>
                        <a:t>Manual Pickup App (</a:t>
                      </a:r>
                      <a:r>
                        <a:rPr b="1" lang="en" sz="1200"/>
                        <a:t>PikMyKid</a:t>
                      </a:r>
                      <a:r>
                        <a:rPr b="1" lang="en" sz="1200"/>
                        <a:t>)</a:t>
                      </a:r>
                      <a:endParaRPr b="1" sz="1200"/>
                    </a:p>
                  </a:txBody>
                  <a:tcPr marT="91425" marB="91425" marR="91425" marL="91425"/>
                </a:tc>
                <a:tc>
                  <a:txBody>
                    <a:bodyPr/>
                    <a:lstStyle/>
                    <a:p>
                      <a:pPr indent="0" lvl="0" marL="0" rtl="0" algn="l">
                        <a:lnSpc>
                          <a:spcPct val="115000"/>
                        </a:lnSpc>
                        <a:spcBef>
                          <a:spcPts val="0"/>
                        </a:spcBef>
                        <a:spcAft>
                          <a:spcPts val="0"/>
                        </a:spcAft>
                        <a:buNone/>
                      </a:pPr>
                      <a:r>
                        <a:rPr lang="en" sz="1200"/>
                        <a:t>Easy to implement; low cost; reduces paperwork</a:t>
                      </a:r>
                      <a:endParaRPr sz="1200"/>
                    </a:p>
                  </a:txBody>
                  <a:tcPr marT="91425" marB="91425" marR="91425" marL="91425"/>
                </a:tc>
                <a:tc>
                  <a:txBody>
                    <a:bodyPr/>
                    <a:lstStyle/>
                    <a:p>
                      <a:pPr indent="0" lvl="0" marL="0" rtl="0" algn="l">
                        <a:lnSpc>
                          <a:spcPct val="115000"/>
                        </a:lnSpc>
                        <a:spcBef>
                          <a:spcPts val="0"/>
                        </a:spcBef>
                        <a:spcAft>
                          <a:spcPts val="0"/>
                        </a:spcAft>
                        <a:buNone/>
                      </a:pPr>
                      <a:r>
                        <a:rPr lang="en" sz="1200"/>
                        <a:t>Requires staff queue management; no automated vehicle identification</a:t>
                      </a:r>
                      <a:endParaRPr sz="1200"/>
                    </a:p>
                  </a:txBody>
                  <a:tcPr marT="91425" marB="91425" marR="91425" marL="91425"/>
                </a:tc>
              </a:tr>
              <a:tr h="381000">
                <a:tc>
                  <a:txBody>
                    <a:bodyPr/>
                    <a:lstStyle/>
                    <a:p>
                      <a:pPr indent="0" lvl="0" marL="0" rtl="0" algn="l">
                        <a:lnSpc>
                          <a:spcPct val="115000"/>
                        </a:lnSpc>
                        <a:spcBef>
                          <a:spcPts val="0"/>
                        </a:spcBef>
                        <a:spcAft>
                          <a:spcPts val="0"/>
                        </a:spcAft>
                        <a:buNone/>
                      </a:pPr>
                      <a:r>
                        <a:rPr b="1" lang="en" sz="1200"/>
                        <a:t>Integrated Dismissal System (Beeline)</a:t>
                      </a:r>
                      <a:endParaRPr b="1" sz="1200"/>
                    </a:p>
                  </a:txBody>
                  <a:tcPr marT="91425" marB="91425" marR="91425" marL="91425"/>
                </a:tc>
                <a:tc>
                  <a:txBody>
                    <a:bodyPr/>
                    <a:lstStyle/>
                    <a:p>
                      <a:pPr indent="0" lvl="0" marL="0" rtl="0" algn="l">
                        <a:lnSpc>
                          <a:spcPct val="115000"/>
                        </a:lnSpc>
                        <a:spcBef>
                          <a:spcPts val="0"/>
                        </a:spcBef>
                        <a:spcAft>
                          <a:spcPts val="0"/>
                        </a:spcAft>
                        <a:buNone/>
                      </a:pPr>
                      <a:r>
                        <a:rPr lang="en" sz="1200"/>
                        <a:t>Improves communication; integrates with school systems</a:t>
                      </a:r>
                      <a:endParaRPr sz="1200"/>
                    </a:p>
                  </a:txBody>
                  <a:tcPr marT="91425" marB="91425" marR="91425" marL="91425"/>
                </a:tc>
                <a:tc>
                  <a:txBody>
                    <a:bodyPr/>
                    <a:lstStyle/>
                    <a:p>
                      <a:pPr indent="0" lvl="0" marL="0" rtl="0" algn="l">
                        <a:lnSpc>
                          <a:spcPct val="115000"/>
                        </a:lnSpc>
                        <a:spcBef>
                          <a:spcPts val="0"/>
                        </a:spcBef>
                        <a:spcAft>
                          <a:spcPts val="0"/>
                        </a:spcAft>
                        <a:buNone/>
                      </a:pPr>
                      <a:r>
                        <a:rPr lang="en" sz="1200"/>
                        <a:t>Requires training and infrastructure; still staff-monitored</a:t>
                      </a:r>
                      <a:endParaRPr sz="1200"/>
                    </a:p>
                  </a:txBody>
                  <a:tcPr marT="91425" marB="91425" marR="91425" marL="91425"/>
                </a:tc>
              </a:tr>
              <a:tr h="381000">
                <a:tc>
                  <a:txBody>
                    <a:bodyPr/>
                    <a:lstStyle/>
                    <a:p>
                      <a:pPr indent="0" lvl="0" marL="0" rtl="0" algn="l">
                        <a:lnSpc>
                          <a:spcPct val="115000"/>
                        </a:lnSpc>
                        <a:spcBef>
                          <a:spcPts val="0"/>
                        </a:spcBef>
                        <a:spcAft>
                          <a:spcPts val="0"/>
                        </a:spcAft>
                        <a:buNone/>
                      </a:pPr>
                      <a:r>
                        <a:rPr b="1" lang="en" sz="1200"/>
                        <a:t>Geofencing (Car-Pool App)</a:t>
                      </a:r>
                      <a:endParaRPr b="1" sz="1200"/>
                    </a:p>
                  </a:txBody>
                  <a:tcPr marT="91425" marB="91425" marR="91425" marL="91425"/>
                </a:tc>
                <a:tc>
                  <a:txBody>
                    <a:bodyPr/>
                    <a:lstStyle/>
                    <a:p>
                      <a:pPr indent="0" lvl="0" marL="0" rtl="0" algn="l">
                        <a:lnSpc>
                          <a:spcPct val="115000"/>
                        </a:lnSpc>
                        <a:spcBef>
                          <a:spcPts val="0"/>
                        </a:spcBef>
                        <a:spcAft>
                          <a:spcPts val="0"/>
                        </a:spcAft>
                        <a:buNone/>
                      </a:pPr>
                      <a:r>
                        <a:rPr lang="en" sz="1200"/>
                        <a:t>Real-time arrival alerts; reduced manual check-ins</a:t>
                      </a:r>
                      <a:endParaRPr sz="1200"/>
                    </a:p>
                  </a:txBody>
                  <a:tcPr marT="91425" marB="91425" marR="91425" marL="91425"/>
                </a:tc>
                <a:tc>
                  <a:txBody>
                    <a:bodyPr/>
                    <a:lstStyle/>
                    <a:p>
                      <a:pPr indent="0" lvl="0" marL="0" rtl="0" algn="l">
                        <a:lnSpc>
                          <a:spcPct val="115000"/>
                        </a:lnSpc>
                        <a:spcBef>
                          <a:spcPts val="0"/>
                        </a:spcBef>
                        <a:spcAft>
                          <a:spcPts val="0"/>
                        </a:spcAft>
                        <a:buNone/>
                      </a:pPr>
                      <a:r>
                        <a:rPr lang="en" sz="1200"/>
                        <a:t>Dependent on GPS accuracy, mobile devices, and connectivity</a:t>
                      </a:r>
                      <a:endParaRPr sz="1200"/>
                    </a:p>
                  </a:txBody>
                  <a:tcPr marT="91425" marB="91425" marR="91425" marL="91425"/>
                </a:tc>
              </a:tr>
              <a:tr h="381000">
                <a:tc>
                  <a:txBody>
                    <a:bodyPr/>
                    <a:lstStyle/>
                    <a:p>
                      <a:pPr indent="0" lvl="0" marL="0" rtl="0" algn="l">
                        <a:lnSpc>
                          <a:spcPct val="115000"/>
                        </a:lnSpc>
                        <a:spcBef>
                          <a:spcPts val="0"/>
                        </a:spcBef>
                        <a:spcAft>
                          <a:spcPts val="0"/>
                        </a:spcAft>
                        <a:buNone/>
                      </a:pPr>
                      <a:r>
                        <a:rPr b="1" lang="en" sz="1200"/>
                        <a:t>GPS Check-In (IschoolRide)</a:t>
                      </a:r>
                      <a:endParaRPr b="1" sz="1200"/>
                    </a:p>
                  </a:txBody>
                  <a:tcPr marT="91425" marB="91425" marR="91425" marL="91425"/>
                </a:tc>
                <a:tc>
                  <a:txBody>
                    <a:bodyPr/>
                    <a:lstStyle/>
                    <a:p>
                      <a:pPr indent="0" lvl="0" marL="0" rtl="0" algn="l">
                        <a:lnSpc>
                          <a:spcPct val="115000"/>
                        </a:lnSpc>
                        <a:spcBef>
                          <a:spcPts val="0"/>
                        </a:spcBef>
                        <a:spcAft>
                          <a:spcPts val="0"/>
                        </a:spcAft>
                        <a:buNone/>
                      </a:pPr>
                      <a:r>
                        <a:rPr lang="en" sz="1200"/>
                        <a:t>Keeps students inside until arrival; reduces idle staging</a:t>
                      </a:r>
                      <a:endParaRPr sz="1200"/>
                    </a:p>
                  </a:txBody>
                  <a:tcPr marT="91425" marB="91425" marR="91425" marL="91425"/>
                </a:tc>
                <a:tc>
                  <a:txBody>
                    <a:bodyPr/>
                    <a:lstStyle/>
                    <a:p>
                      <a:pPr indent="0" lvl="0" marL="0" rtl="0" algn="l">
                        <a:lnSpc>
                          <a:spcPct val="115000"/>
                        </a:lnSpc>
                        <a:spcBef>
                          <a:spcPts val="0"/>
                        </a:spcBef>
                        <a:spcAft>
                          <a:spcPts val="0"/>
                        </a:spcAft>
                        <a:buNone/>
                      </a:pPr>
                      <a:r>
                        <a:rPr lang="en" sz="1200"/>
                        <a:t>Relies on parent app usage and accurate GPS; staff verification will still be needed</a:t>
                      </a:r>
                      <a:endParaRPr sz="1200"/>
                    </a:p>
                  </a:txBody>
                  <a:tcPr marT="91425" marB="91425" marR="91425" marL="91425"/>
                </a:tc>
              </a:tr>
              <a:tr h="381000">
                <a:tc>
                  <a:txBody>
                    <a:bodyPr/>
                    <a:lstStyle/>
                    <a:p>
                      <a:pPr indent="0" lvl="0" marL="0" rtl="0" algn="l">
                        <a:lnSpc>
                          <a:spcPct val="115000"/>
                        </a:lnSpc>
                        <a:spcBef>
                          <a:spcPts val="0"/>
                        </a:spcBef>
                        <a:spcAft>
                          <a:spcPts val="0"/>
                        </a:spcAft>
                        <a:buNone/>
                      </a:pPr>
                      <a:r>
                        <a:rPr b="1" lang="en" sz="1200"/>
                        <a:t>QR Codes (Kids Pick Up App)</a:t>
                      </a:r>
                      <a:endParaRPr b="1" sz="1200"/>
                    </a:p>
                  </a:txBody>
                  <a:tcPr marT="91425" marB="91425" marR="91425" marL="91425"/>
                </a:tc>
                <a:tc>
                  <a:txBody>
                    <a:bodyPr/>
                    <a:lstStyle/>
                    <a:p>
                      <a:pPr indent="0" lvl="0" marL="0" rtl="0" algn="l">
                        <a:lnSpc>
                          <a:spcPct val="115000"/>
                        </a:lnSpc>
                        <a:spcBef>
                          <a:spcPts val="0"/>
                        </a:spcBef>
                        <a:spcAft>
                          <a:spcPts val="0"/>
                        </a:spcAft>
                        <a:buNone/>
                      </a:pPr>
                      <a:r>
                        <a:rPr lang="en" sz="1200"/>
                        <a:t>Simple, affordable; no cellular service required</a:t>
                      </a:r>
                      <a:endParaRPr sz="1200"/>
                    </a:p>
                  </a:txBody>
                  <a:tcPr marT="91425" marB="91425" marR="91425" marL="91425"/>
                </a:tc>
                <a:tc>
                  <a:txBody>
                    <a:bodyPr/>
                    <a:lstStyle/>
                    <a:p>
                      <a:pPr indent="0" lvl="0" marL="0" rtl="0" algn="l">
                        <a:lnSpc>
                          <a:spcPct val="115000"/>
                        </a:lnSpc>
                        <a:spcBef>
                          <a:spcPts val="0"/>
                        </a:spcBef>
                        <a:spcAft>
                          <a:spcPts val="0"/>
                        </a:spcAft>
                        <a:buNone/>
                      </a:pPr>
                      <a:r>
                        <a:rPr lang="en" sz="1200"/>
                        <a:t>Requires staff scanning; affected by glare, weather, and visibility</a:t>
                      </a:r>
                      <a:endParaRPr sz="1200"/>
                    </a:p>
                  </a:txBody>
                  <a:tcPr marT="91425" marB="91425" marR="91425" marL="91425"/>
                </a:tc>
              </a:tr>
            </a:tbl>
          </a:graphicData>
        </a:graphic>
      </p:graphicFrame>
      <p:sp>
        <p:nvSpPr>
          <p:cNvPr id="123" name="Google Shape;123;p21"/>
          <p:cNvSpPr txBox="1"/>
          <p:nvPr/>
        </p:nvSpPr>
        <p:spPr>
          <a:xfrm>
            <a:off x="1023688" y="4426600"/>
            <a:ext cx="7374600" cy="49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i="1" lang="en" sz="1100">
                <a:solidFill>
                  <a:schemeClr val="dk1"/>
                </a:solidFill>
              </a:rPr>
              <a:t>All alternatives improve organization but still rely on staff actions or parent interaction, limiting full automation.</a:t>
            </a:r>
            <a:endParaRPr i="1" sz="1100">
              <a:solidFill>
                <a:schemeClr val="dk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27" name="Shape 127"/>
        <p:cNvGrpSpPr/>
        <p:nvPr/>
      </p:nvGrpSpPr>
      <p:grpSpPr>
        <a:xfrm>
          <a:off x="0" y="0"/>
          <a:ext cx="0" cy="0"/>
          <a:chOff x="0" y="0"/>
          <a:chExt cx="0" cy="0"/>
        </a:xfrm>
      </p:grpSpPr>
      <p:sp>
        <p:nvSpPr>
          <p:cNvPr id="128" name="Google Shape;128;p22"/>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22"/>
          <p:cNvSpPr txBox="1"/>
          <p:nvPr>
            <p:ph type="title"/>
          </p:nvPr>
        </p:nvSpPr>
        <p:spPr>
          <a:xfrm>
            <a:off x="311700" y="124850"/>
            <a:ext cx="8520600" cy="89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System Level Functional Description</a:t>
            </a:r>
            <a:r>
              <a:rPr b="1" lang="en" sz="2620">
                <a:solidFill>
                  <a:schemeClr val="lt1"/>
                </a:solidFill>
                <a:latin typeface="Atkinson Hyperlegible"/>
                <a:ea typeface="Atkinson Hyperlegible"/>
                <a:cs typeface="Atkinson Hyperlegible"/>
                <a:sym typeface="Atkinson Hyperlegible"/>
              </a:rPr>
              <a:t> - High-Level Block Diagram</a:t>
            </a:r>
            <a:endParaRPr b="1" sz="2620">
              <a:solidFill>
                <a:schemeClr val="lt1"/>
              </a:solidFill>
              <a:latin typeface="Atkinson Hyperlegible"/>
              <a:ea typeface="Atkinson Hyperlegible"/>
              <a:cs typeface="Atkinson Hyperlegible"/>
              <a:sym typeface="Atkinson Hyperlegible"/>
            </a:endParaRPr>
          </a:p>
        </p:txBody>
      </p:sp>
      <p:sp>
        <p:nvSpPr>
          <p:cNvPr id="130" name="Google Shape;130;p22"/>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fontScale="92500"/>
          </a:bodyPr>
          <a:lstStyle/>
          <a:p>
            <a:pPr indent="0" lvl="0" marL="0" rtl="0" algn="r">
              <a:spcBef>
                <a:spcPts val="0"/>
              </a:spcBef>
              <a:spcAft>
                <a:spcPts val="0"/>
              </a:spcAft>
              <a:buNone/>
            </a:pPr>
            <a:r>
              <a:rPr lang="en">
                <a:solidFill>
                  <a:schemeClr val="lt1"/>
                </a:solidFill>
              </a:rPr>
              <a:t>CDR</a:t>
            </a:r>
            <a:r>
              <a:rPr lang="en">
                <a:solidFill>
                  <a:schemeClr val="lt1"/>
                </a:solidFill>
              </a:rPr>
              <a:t> Presentation - </a:t>
            </a:r>
            <a:fld id="{00000000-1234-1234-1234-123412341234}" type="slidenum">
              <a:rPr lang="en">
                <a:solidFill>
                  <a:schemeClr val="lt1"/>
                </a:solidFill>
              </a:rPr>
              <a:t>‹#›</a:t>
            </a:fld>
            <a:endParaRPr>
              <a:solidFill>
                <a:schemeClr val="lt1"/>
              </a:solidFill>
            </a:endParaRPr>
          </a:p>
        </p:txBody>
      </p:sp>
      <p:sp>
        <p:nvSpPr>
          <p:cNvPr id="131" name="Google Shape;131;p22"/>
          <p:cNvSpPr txBox="1"/>
          <p:nvPr/>
        </p:nvSpPr>
        <p:spPr>
          <a:xfrm>
            <a:off x="2457825" y="1077087"/>
            <a:ext cx="3474000" cy="312600"/>
          </a:xfrm>
          <a:prstGeom prst="rect">
            <a:avLst/>
          </a:prstGeom>
          <a:noFill/>
          <a:ln>
            <a:noFill/>
          </a:ln>
        </p:spPr>
        <p:txBody>
          <a:bodyPr anchorCtr="0" anchor="t" bIns="61900" lIns="61900" spcFirstLastPara="1" rIns="61900" wrap="square" tIns="61900">
            <a:spAutoFit/>
          </a:bodyPr>
          <a:lstStyle/>
          <a:p>
            <a:pPr indent="0" lvl="0" marL="0" rtl="0" algn="l">
              <a:spcBef>
                <a:spcPts val="0"/>
              </a:spcBef>
              <a:spcAft>
                <a:spcPts val="0"/>
              </a:spcAft>
              <a:buNone/>
            </a:pPr>
            <a:r>
              <a:rPr lang="en" sz="1219">
                <a:solidFill>
                  <a:srgbClr val="595959"/>
                </a:solidFill>
              </a:rPr>
              <a:t>Car line entrance</a:t>
            </a:r>
            <a:endParaRPr sz="1219">
              <a:solidFill>
                <a:srgbClr val="595959"/>
              </a:solidFill>
            </a:endParaRPr>
          </a:p>
        </p:txBody>
      </p:sp>
      <p:sp>
        <p:nvSpPr>
          <p:cNvPr id="132" name="Google Shape;132;p22"/>
          <p:cNvSpPr/>
          <p:nvPr/>
        </p:nvSpPr>
        <p:spPr>
          <a:xfrm>
            <a:off x="3775999" y="1136525"/>
            <a:ext cx="197100" cy="1860300"/>
          </a:xfrm>
          <a:prstGeom prst="rect">
            <a:avLst/>
          </a:prstGeom>
          <a:solidFill>
            <a:srgbClr val="595959"/>
          </a:solidFill>
          <a:ln>
            <a:noFill/>
          </a:ln>
        </p:spPr>
        <p:txBody>
          <a:bodyPr anchorCtr="0" anchor="ctr" bIns="61900" lIns="61900" spcFirstLastPara="1" rIns="61900" wrap="square" tIns="61900">
            <a:noAutofit/>
          </a:bodyPr>
          <a:lstStyle/>
          <a:p>
            <a:pPr indent="0" lvl="0" marL="0" rtl="0" algn="ctr">
              <a:spcBef>
                <a:spcPts val="0"/>
              </a:spcBef>
              <a:spcAft>
                <a:spcPts val="0"/>
              </a:spcAft>
              <a:buNone/>
            </a:pPr>
            <a:r>
              <a:t/>
            </a:r>
            <a:endParaRPr sz="948"/>
          </a:p>
        </p:txBody>
      </p:sp>
      <p:sp>
        <p:nvSpPr>
          <p:cNvPr id="133" name="Google Shape;133;p22"/>
          <p:cNvSpPr/>
          <p:nvPr/>
        </p:nvSpPr>
        <p:spPr>
          <a:xfrm rot="5400000">
            <a:off x="4702885" y="1843216"/>
            <a:ext cx="227100" cy="2080500"/>
          </a:xfrm>
          <a:prstGeom prst="rect">
            <a:avLst/>
          </a:prstGeom>
          <a:solidFill>
            <a:srgbClr val="595959"/>
          </a:solidFill>
          <a:ln>
            <a:noFill/>
          </a:ln>
        </p:spPr>
        <p:txBody>
          <a:bodyPr anchorCtr="0" anchor="ctr" bIns="61900" lIns="61900" spcFirstLastPara="1" rIns="61900" wrap="square" tIns="61900">
            <a:noAutofit/>
          </a:bodyPr>
          <a:lstStyle/>
          <a:p>
            <a:pPr indent="0" lvl="0" marL="0" rtl="0" algn="ctr">
              <a:spcBef>
                <a:spcPts val="0"/>
              </a:spcBef>
              <a:spcAft>
                <a:spcPts val="0"/>
              </a:spcAft>
              <a:buNone/>
            </a:pPr>
            <a:r>
              <a:t/>
            </a:r>
            <a:endParaRPr sz="948"/>
          </a:p>
        </p:txBody>
      </p:sp>
      <p:pic>
        <p:nvPicPr>
          <p:cNvPr descr="Editable stroke icons of car transport in flat design. (Provided by Getty Images)" id="134" name="Google Shape;134;p22"/>
          <p:cNvPicPr preferRelativeResize="0"/>
          <p:nvPr/>
        </p:nvPicPr>
        <p:blipFill rotWithShape="1">
          <a:blip r:embed="rId3">
            <a:alphaModFix/>
          </a:blip>
          <a:srcRect b="25473" l="13370" r="13648" t="24706"/>
          <a:stretch/>
        </p:blipFill>
        <p:spPr>
          <a:xfrm flipH="1">
            <a:off x="3701797" y="1386627"/>
            <a:ext cx="345359" cy="210816"/>
          </a:xfrm>
          <a:prstGeom prst="rect">
            <a:avLst/>
          </a:prstGeom>
          <a:noFill/>
          <a:ln>
            <a:noFill/>
          </a:ln>
        </p:spPr>
      </p:pic>
      <p:sp>
        <p:nvSpPr>
          <p:cNvPr id="135" name="Google Shape;135;p22"/>
          <p:cNvSpPr txBox="1"/>
          <p:nvPr/>
        </p:nvSpPr>
        <p:spPr>
          <a:xfrm>
            <a:off x="3821268" y="2717360"/>
            <a:ext cx="3493800" cy="312600"/>
          </a:xfrm>
          <a:prstGeom prst="rect">
            <a:avLst/>
          </a:prstGeom>
          <a:noFill/>
          <a:ln>
            <a:noFill/>
          </a:ln>
        </p:spPr>
        <p:txBody>
          <a:bodyPr anchorCtr="0" anchor="t" bIns="61900" lIns="61900" spcFirstLastPara="1" rIns="61900" wrap="square" tIns="61900">
            <a:spAutoFit/>
          </a:bodyPr>
          <a:lstStyle/>
          <a:p>
            <a:pPr indent="0" lvl="0" marL="0" rtl="0" algn="l">
              <a:spcBef>
                <a:spcPts val="0"/>
              </a:spcBef>
              <a:spcAft>
                <a:spcPts val="0"/>
              </a:spcAft>
              <a:buNone/>
            </a:pPr>
            <a:r>
              <a:rPr lang="en" sz="1219">
                <a:solidFill>
                  <a:srgbClr val="FFFF00"/>
                </a:solidFill>
              </a:rPr>
              <a:t>--------------------------------</a:t>
            </a:r>
            <a:endParaRPr sz="1219">
              <a:solidFill>
                <a:srgbClr val="FFFF00"/>
              </a:solidFill>
            </a:endParaRPr>
          </a:p>
        </p:txBody>
      </p:sp>
      <p:pic>
        <p:nvPicPr>
          <p:cNvPr descr="Editable stroke icons of car transport in flat design. (Provided by Getty Images)" id="136" name="Google Shape;136;p22"/>
          <p:cNvPicPr preferRelativeResize="0"/>
          <p:nvPr/>
        </p:nvPicPr>
        <p:blipFill rotWithShape="1">
          <a:blip r:embed="rId3">
            <a:alphaModFix/>
          </a:blip>
          <a:srcRect b="25473" l="13370" r="13648" t="24706"/>
          <a:stretch/>
        </p:blipFill>
        <p:spPr>
          <a:xfrm>
            <a:off x="4491478" y="2803591"/>
            <a:ext cx="345359" cy="210816"/>
          </a:xfrm>
          <a:prstGeom prst="rect">
            <a:avLst/>
          </a:prstGeom>
          <a:noFill/>
          <a:ln>
            <a:noFill/>
          </a:ln>
        </p:spPr>
      </p:pic>
      <p:pic>
        <p:nvPicPr>
          <p:cNvPr descr="Editable stroke icons of car transport in flat design. (Provided by Getty Images)" id="137" name="Google Shape;137;p22"/>
          <p:cNvPicPr preferRelativeResize="0"/>
          <p:nvPr/>
        </p:nvPicPr>
        <p:blipFill rotWithShape="1">
          <a:blip r:embed="rId3">
            <a:alphaModFix/>
          </a:blip>
          <a:srcRect b="25473" l="13370" r="13648" t="24706"/>
          <a:stretch/>
        </p:blipFill>
        <p:spPr>
          <a:xfrm>
            <a:off x="4976233" y="2803591"/>
            <a:ext cx="345359" cy="210816"/>
          </a:xfrm>
          <a:prstGeom prst="rect">
            <a:avLst/>
          </a:prstGeom>
          <a:noFill/>
          <a:ln>
            <a:noFill/>
          </a:ln>
        </p:spPr>
      </p:pic>
      <p:pic>
        <p:nvPicPr>
          <p:cNvPr descr="Editable stroke icons of car transport in flat design. (Provided by Getty Images)" id="138" name="Google Shape;138;p22"/>
          <p:cNvPicPr preferRelativeResize="0"/>
          <p:nvPr/>
        </p:nvPicPr>
        <p:blipFill rotWithShape="1">
          <a:blip r:embed="rId3">
            <a:alphaModFix/>
          </a:blip>
          <a:srcRect b="25473" l="13370" r="13648" t="24706"/>
          <a:stretch/>
        </p:blipFill>
        <p:spPr>
          <a:xfrm>
            <a:off x="5460989" y="2803591"/>
            <a:ext cx="345359" cy="210816"/>
          </a:xfrm>
          <a:prstGeom prst="rect">
            <a:avLst/>
          </a:prstGeom>
          <a:noFill/>
          <a:ln>
            <a:noFill/>
          </a:ln>
        </p:spPr>
      </p:pic>
      <p:sp>
        <p:nvSpPr>
          <p:cNvPr id="139" name="Google Shape;139;p22"/>
          <p:cNvSpPr txBox="1"/>
          <p:nvPr/>
        </p:nvSpPr>
        <p:spPr>
          <a:xfrm>
            <a:off x="2363131" y="3541182"/>
            <a:ext cx="3097500" cy="312600"/>
          </a:xfrm>
          <a:prstGeom prst="rect">
            <a:avLst/>
          </a:prstGeom>
          <a:noFill/>
          <a:ln>
            <a:noFill/>
          </a:ln>
        </p:spPr>
        <p:txBody>
          <a:bodyPr anchorCtr="0" anchor="t" bIns="61900" lIns="61900" spcFirstLastPara="1" rIns="61900" wrap="square" tIns="61900">
            <a:spAutoFit/>
          </a:bodyPr>
          <a:lstStyle/>
          <a:p>
            <a:pPr indent="0" lvl="0" marL="0" rtl="0" algn="l">
              <a:spcBef>
                <a:spcPts val="0"/>
              </a:spcBef>
              <a:spcAft>
                <a:spcPts val="0"/>
              </a:spcAft>
              <a:buNone/>
            </a:pPr>
            <a:r>
              <a:t/>
            </a:r>
            <a:endParaRPr sz="1219">
              <a:solidFill>
                <a:srgbClr val="595959"/>
              </a:solidFill>
            </a:endParaRPr>
          </a:p>
        </p:txBody>
      </p:sp>
      <p:sp>
        <p:nvSpPr>
          <p:cNvPr id="140" name="Google Shape;140;p22"/>
          <p:cNvSpPr txBox="1"/>
          <p:nvPr/>
        </p:nvSpPr>
        <p:spPr>
          <a:xfrm>
            <a:off x="4459718" y="2508864"/>
            <a:ext cx="3493800" cy="312600"/>
          </a:xfrm>
          <a:prstGeom prst="rect">
            <a:avLst/>
          </a:prstGeom>
          <a:noFill/>
          <a:ln>
            <a:noFill/>
          </a:ln>
        </p:spPr>
        <p:txBody>
          <a:bodyPr anchorCtr="0" anchor="t" bIns="61900" lIns="61900" spcFirstLastPara="1" rIns="61900" wrap="square" tIns="61900">
            <a:spAutoFit/>
          </a:bodyPr>
          <a:lstStyle/>
          <a:p>
            <a:pPr indent="0" lvl="0" marL="0" rtl="0" algn="l">
              <a:spcBef>
                <a:spcPts val="0"/>
              </a:spcBef>
              <a:spcAft>
                <a:spcPts val="0"/>
              </a:spcAft>
              <a:buNone/>
            </a:pPr>
            <a:r>
              <a:rPr lang="en" sz="1219">
                <a:solidFill>
                  <a:srgbClr val="595959"/>
                </a:solidFill>
              </a:rPr>
              <a:t>Car Stations</a:t>
            </a:r>
            <a:endParaRPr sz="1219">
              <a:solidFill>
                <a:srgbClr val="595959"/>
              </a:solidFill>
            </a:endParaRPr>
          </a:p>
        </p:txBody>
      </p:sp>
      <p:sp>
        <p:nvSpPr>
          <p:cNvPr id="141" name="Google Shape;141;p22"/>
          <p:cNvSpPr/>
          <p:nvPr/>
        </p:nvSpPr>
        <p:spPr>
          <a:xfrm>
            <a:off x="2652454" y="1449128"/>
            <a:ext cx="938400" cy="448500"/>
          </a:xfrm>
          <a:prstGeom prst="rect">
            <a:avLst/>
          </a:prstGeom>
          <a:solidFill>
            <a:srgbClr val="EEEEEE"/>
          </a:solidFill>
          <a:ln cap="flat" cmpd="sng" w="6450">
            <a:solidFill>
              <a:srgbClr val="595959"/>
            </a:solidFill>
            <a:prstDash val="solid"/>
            <a:round/>
            <a:headEnd len="sm" w="sm" type="none"/>
            <a:tailEnd len="sm" w="sm" type="none"/>
          </a:ln>
        </p:spPr>
        <p:txBody>
          <a:bodyPr anchorCtr="0" anchor="ctr" bIns="61900" lIns="61900" spcFirstLastPara="1" rIns="61900" wrap="square" tIns="61900">
            <a:noAutofit/>
          </a:bodyPr>
          <a:lstStyle/>
          <a:p>
            <a:pPr indent="0" lvl="0" marL="0" rtl="0" algn="ctr">
              <a:spcBef>
                <a:spcPts val="0"/>
              </a:spcBef>
              <a:spcAft>
                <a:spcPts val="0"/>
              </a:spcAft>
              <a:buNone/>
            </a:pPr>
            <a:r>
              <a:rPr lang="en" sz="948"/>
              <a:t>Car Entrance Module</a:t>
            </a:r>
            <a:endParaRPr sz="948"/>
          </a:p>
        </p:txBody>
      </p:sp>
      <p:pic>
        <p:nvPicPr>
          <p:cNvPr id="142" name="Google Shape;142;p22"/>
          <p:cNvPicPr preferRelativeResize="0"/>
          <p:nvPr/>
        </p:nvPicPr>
        <p:blipFill>
          <a:blip r:embed="rId4">
            <a:alphaModFix/>
          </a:blip>
          <a:stretch>
            <a:fillRect/>
          </a:stretch>
        </p:blipFill>
        <p:spPr>
          <a:xfrm rot="10800000">
            <a:off x="1987201" y="3112025"/>
            <a:ext cx="3748599" cy="1400851"/>
          </a:xfrm>
          <a:prstGeom prst="rect">
            <a:avLst/>
          </a:prstGeom>
          <a:noFill/>
          <a:ln>
            <a:noFill/>
          </a:ln>
        </p:spPr>
      </p:pic>
      <p:sp>
        <p:nvSpPr>
          <p:cNvPr id="143" name="Google Shape;143;p22"/>
          <p:cNvSpPr/>
          <p:nvPr/>
        </p:nvSpPr>
        <p:spPr>
          <a:xfrm>
            <a:off x="4776800" y="4041500"/>
            <a:ext cx="998700" cy="448500"/>
          </a:xfrm>
          <a:prstGeom prst="rect">
            <a:avLst/>
          </a:prstGeom>
          <a:solidFill>
            <a:srgbClr val="EEEEEE"/>
          </a:solidFill>
          <a:ln cap="flat" cmpd="sng" w="6450">
            <a:solidFill>
              <a:srgbClr val="595959"/>
            </a:solidFill>
            <a:prstDash val="solid"/>
            <a:round/>
            <a:headEnd len="sm" w="sm" type="none"/>
            <a:tailEnd len="sm" w="sm" type="none"/>
          </a:ln>
        </p:spPr>
        <p:txBody>
          <a:bodyPr anchorCtr="0" anchor="ctr" bIns="61900" lIns="61900" spcFirstLastPara="1" rIns="61900" wrap="square" tIns="61900">
            <a:noAutofit/>
          </a:bodyPr>
          <a:lstStyle/>
          <a:p>
            <a:pPr indent="0" lvl="0" marL="0" rtl="0" algn="ctr">
              <a:spcBef>
                <a:spcPts val="0"/>
              </a:spcBef>
              <a:spcAft>
                <a:spcPts val="0"/>
              </a:spcAft>
              <a:buNone/>
            </a:pPr>
            <a:r>
              <a:rPr lang="en" sz="948"/>
              <a:t>Main Server Module</a:t>
            </a:r>
            <a:endParaRPr sz="948"/>
          </a:p>
        </p:txBody>
      </p:sp>
      <p:pic>
        <p:nvPicPr>
          <p:cNvPr id="144" name="Google Shape;144;p22"/>
          <p:cNvPicPr preferRelativeResize="0"/>
          <p:nvPr/>
        </p:nvPicPr>
        <p:blipFill>
          <a:blip r:embed="rId5">
            <a:alphaModFix/>
          </a:blip>
          <a:stretch>
            <a:fillRect/>
          </a:stretch>
        </p:blipFill>
        <p:spPr>
          <a:xfrm>
            <a:off x="1877517" y="3597121"/>
            <a:ext cx="998547" cy="892887"/>
          </a:xfrm>
          <a:prstGeom prst="rect">
            <a:avLst/>
          </a:prstGeom>
          <a:noFill/>
          <a:ln>
            <a:noFill/>
          </a:ln>
        </p:spPr>
      </p:pic>
      <p:sp>
        <p:nvSpPr>
          <p:cNvPr id="145" name="Google Shape;145;p22"/>
          <p:cNvSpPr/>
          <p:nvPr/>
        </p:nvSpPr>
        <p:spPr>
          <a:xfrm>
            <a:off x="1817146" y="3112028"/>
            <a:ext cx="1119300" cy="485100"/>
          </a:xfrm>
          <a:prstGeom prst="rect">
            <a:avLst/>
          </a:prstGeom>
          <a:solidFill>
            <a:srgbClr val="EEEEEE"/>
          </a:solidFill>
          <a:ln cap="flat" cmpd="sng" w="6450">
            <a:solidFill>
              <a:srgbClr val="595959"/>
            </a:solidFill>
            <a:prstDash val="solid"/>
            <a:round/>
            <a:headEnd len="sm" w="sm" type="none"/>
            <a:tailEnd len="sm" w="sm" type="none"/>
          </a:ln>
        </p:spPr>
        <p:txBody>
          <a:bodyPr anchorCtr="0" anchor="ctr" bIns="61900" lIns="61900" spcFirstLastPara="1" rIns="61900" wrap="square" tIns="61900">
            <a:noAutofit/>
          </a:bodyPr>
          <a:lstStyle/>
          <a:p>
            <a:pPr indent="0" lvl="0" marL="0" rtl="0" algn="ctr">
              <a:spcBef>
                <a:spcPts val="0"/>
              </a:spcBef>
              <a:spcAft>
                <a:spcPts val="0"/>
              </a:spcAft>
              <a:buNone/>
            </a:pPr>
            <a:r>
              <a:rPr lang="en" sz="948"/>
              <a:t>Kids Waiting Module</a:t>
            </a:r>
            <a:endParaRPr sz="948"/>
          </a:p>
        </p:txBody>
      </p:sp>
      <p:sp>
        <p:nvSpPr>
          <p:cNvPr id="146" name="Google Shape;146;p22"/>
          <p:cNvSpPr/>
          <p:nvPr/>
        </p:nvSpPr>
        <p:spPr>
          <a:xfrm>
            <a:off x="4933131" y="2008304"/>
            <a:ext cx="998700" cy="485100"/>
          </a:xfrm>
          <a:prstGeom prst="rect">
            <a:avLst/>
          </a:prstGeom>
          <a:solidFill>
            <a:srgbClr val="EEEEEE"/>
          </a:solidFill>
          <a:ln cap="flat" cmpd="sng" w="6450">
            <a:solidFill>
              <a:srgbClr val="595959"/>
            </a:solidFill>
            <a:prstDash val="solid"/>
            <a:round/>
            <a:headEnd len="sm" w="sm" type="none"/>
            <a:tailEnd len="sm" w="sm" type="none"/>
          </a:ln>
        </p:spPr>
        <p:txBody>
          <a:bodyPr anchorCtr="0" anchor="ctr" bIns="61900" lIns="61900" spcFirstLastPara="1" rIns="61900" wrap="square" tIns="61900">
            <a:noAutofit/>
          </a:bodyPr>
          <a:lstStyle/>
          <a:p>
            <a:pPr indent="0" lvl="0" marL="0" rtl="0" algn="ctr">
              <a:spcBef>
                <a:spcPts val="0"/>
              </a:spcBef>
              <a:spcAft>
                <a:spcPts val="0"/>
              </a:spcAft>
              <a:buNone/>
            </a:pPr>
            <a:r>
              <a:rPr lang="en" sz="948"/>
              <a:t>Zone Pickup Module</a:t>
            </a:r>
            <a:endParaRPr sz="948"/>
          </a:p>
        </p:txBody>
      </p:sp>
      <p:sp>
        <p:nvSpPr>
          <p:cNvPr id="147" name="Google Shape;147;p22"/>
          <p:cNvSpPr txBox="1"/>
          <p:nvPr/>
        </p:nvSpPr>
        <p:spPr>
          <a:xfrm>
            <a:off x="311700" y="1210625"/>
            <a:ext cx="2182500" cy="1400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98450" lvl="0" marL="457200" rtl="0" algn="l">
              <a:spcBef>
                <a:spcPts val="0"/>
              </a:spcBef>
              <a:spcAft>
                <a:spcPts val="0"/>
              </a:spcAft>
              <a:buClr>
                <a:schemeClr val="dk2"/>
              </a:buClr>
              <a:buSzPts val="1100"/>
              <a:buChar char="●"/>
            </a:pPr>
            <a:r>
              <a:rPr lang="en" sz="1100">
                <a:solidFill>
                  <a:schemeClr val="dk2"/>
                </a:solidFill>
              </a:rPr>
              <a:t>Recognize car identifier (license plate or QR code)</a:t>
            </a:r>
            <a:endParaRPr sz="1100">
              <a:solidFill>
                <a:schemeClr val="dk2"/>
              </a:solidFill>
            </a:endParaRPr>
          </a:p>
          <a:p>
            <a:pPr indent="-298450" lvl="0" marL="457200" rtl="0" algn="l">
              <a:spcBef>
                <a:spcPts val="0"/>
              </a:spcBef>
              <a:spcAft>
                <a:spcPts val="0"/>
              </a:spcAft>
              <a:buClr>
                <a:schemeClr val="dk2"/>
              </a:buClr>
              <a:buSzPts val="1100"/>
              <a:buChar char="●"/>
            </a:pPr>
            <a:r>
              <a:rPr lang="en" sz="1100">
                <a:solidFill>
                  <a:schemeClr val="dk2"/>
                </a:solidFill>
              </a:rPr>
              <a:t>Send and receive data</a:t>
            </a:r>
            <a:endParaRPr sz="1100">
              <a:solidFill>
                <a:schemeClr val="dk2"/>
              </a:solidFill>
            </a:endParaRPr>
          </a:p>
          <a:p>
            <a:pPr indent="-298450" lvl="1" marL="914400" rtl="0" algn="l">
              <a:spcBef>
                <a:spcPts val="0"/>
              </a:spcBef>
              <a:spcAft>
                <a:spcPts val="0"/>
              </a:spcAft>
              <a:buClr>
                <a:schemeClr val="dk2"/>
              </a:buClr>
              <a:buSzPts val="1100"/>
              <a:buChar char="○"/>
            </a:pPr>
            <a:r>
              <a:rPr lang="en" sz="1100">
                <a:solidFill>
                  <a:schemeClr val="dk2"/>
                </a:solidFill>
              </a:rPr>
              <a:t>Over zigbee</a:t>
            </a:r>
            <a:endParaRPr sz="1100">
              <a:solidFill>
                <a:schemeClr val="dk2"/>
              </a:solidFill>
            </a:endParaRPr>
          </a:p>
          <a:p>
            <a:pPr indent="-298450" lvl="0" marL="457200" rtl="0" algn="l">
              <a:spcBef>
                <a:spcPts val="0"/>
              </a:spcBef>
              <a:spcAft>
                <a:spcPts val="0"/>
              </a:spcAft>
              <a:buClr>
                <a:schemeClr val="dk2"/>
              </a:buClr>
              <a:buSzPts val="1100"/>
              <a:buChar char="●"/>
            </a:pPr>
            <a:r>
              <a:rPr lang="en" sz="1100">
                <a:solidFill>
                  <a:schemeClr val="dk2"/>
                </a:solidFill>
              </a:rPr>
              <a:t>Instruct parents wh</a:t>
            </a:r>
            <a:r>
              <a:rPr lang="en" sz="1100">
                <a:solidFill>
                  <a:schemeClr val="dk2"/>
                </a:solidFill>
              </a:rPr>
              <a:t>at</a:t>
            </a:r>
            <a:r>
              <a:rPr lang="en" sz="1100">
                <a:solidFill>
                  <a:schemeClr val="dk2"/>
                </a:solidFill>
              </a:rPr>
              <a:t> zone to go to</a:t>
            </a:r>
            <a:endParaRPr sz="1100">
              <a:solidFill>
                <a:schemeClr val="dk2"/>
              </a:solidFill>
            </a:endParaRPr>
          </a:p>
        </p:txBody>
      </p:sp>
      <p:cxnSp>
        <p:nvCxnSpPr>
          <p:cNvPr id="148" name="Google Shape;148;p22"/>
          <p:cNvCxnSpPr/>
          <p:nvPr/>
        </p:nvCxnSpPr>
        <p:spPr>
          <a:xfrm rot="10800000">
            <a:off x="2494200" y="1672625"/>
            <a:ext cx="158700" cy="1500"/>
          </a:xfrm>
          <a:prstGeom prst="straightConnector1">
            <a:avLst/>
          </a:prstGeom>
          <a:noFill/>
          <a:ln cap="flat" cmpd="sng" w="9525">
            <a:solidFill>
              <a:schemeClr val="dk2"/>
            </a:solidFill>
            <a:prstDash val="solid"/>
            <a:round/>
            <a:headEnd len="med" w="med" type="none"/>
            <a:tailEnd len="med" w="med" type="none"/>
          </a:ln>
        </p:spPr>
      </p:cxnSp>
      <p:sp>
        <p:nvSpPr>
          <p:cNvPr id="149" name="Google Shape;149;p22"/>
          <p:cNvSpPr txBox="1"/>
          <p:nvPr/>
        </p:nvSpPr>
        <p:spPr>
          <a:xfrm>
            <a:off x="251225" y="3056525"/>
            <a:ext cx="1499100" cy="1281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98450" lvl="0" marL="457200" rtl="0" algn="l">
              <a:spcBef>
                <a:spcPts val="0"/>
              </a:spcBef>
              <a:spcAft>
                <a:spcPts val="0"/>
              </a:spcAft>
              <a:buClr>
                <a:schemeClr val="dk2"/>
              </a:buClr>
              <a:buSzPts val="1100"/>
              <a:buChar char="●"/>
            </a:pPr>
            <a:r>
              <a:rPr lang="en" sz="1100">
                <a:solidFill>
                  <a:schemeClr val="dk2"/>
                </a:solidFill>
              </a:rPr>
              <a:t>Display website which contains instructions to send kid to car stations</a:t>
            </a:r>
            <a:endParaRPr sz="1100">
              <a:solidFill>
                <a:schemeClr val="dk2"/>
              </a:solidFill>
            </a:endParaRPr>
          </a:p>
        </p:txBody>
      </p:sp>
      <p:cxnSp>
        <p:nvCxnSpPr>
          <p:cNvPr id="150" name="Google Shape;150;p22"/>
          <p:cNvCxnSpPr>
            <a:stCxn id="145" idx="1"/>
          </p:cNvCxnSpPr>
          <p:nvPr/>
        </p:nvCxnSpPr>
        <p:spPr>
          <a:xfrm flipH="1">
            <a:off x="1749346" y="3354578"/>
            <a:ext cx="67800" cy="900"/>
          </a:xfrm>
          <a:prstGeom prst="straightConnector1">
            <a:avLst/>
          </a:prstGeom>
          <a:noFill/>
          <a:ln cap="flat" cmpd="sng" w="9525">
            <a:solidFill>
              <a:schemeClr val="dk2"/>
            </a:solidFill>
            <a:prstDash val="solid"/>
            <a:round/>
            <a:headEnd len="med" w="med" type="none"/>
            <a:tailEnd len="med" w="med" type="none"/>
          </a:ln>
        </p:spPr>
      </p:cxnSp>
      <p:sp>
        <p:nvSpPr>
          <p:cNvPr id="151" name="Google Shape;151;p22"/>
          <p:cNvSpPr txBox="1"/>
          <p:nvPr/>
        </p:nvSpPr>
        <p:spPr>
          <a:xfrm>
            <a:off x="6474375" y="1195681"/>
            <a:ext cx="2358000" cy="1677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98450" lvl="0" marL="457200" rtl="0" algn="l">
              <a:spcBef>
                <a:spcPts val="0"/>
              </a:spcBef>
              <a:spcAft>
                <a:spcPts val="0"/>
              </a:spcAft>
              <a:buClr>
                <a:schemeClr val="dk2"/>
              </a:buClr>
              <a:buSzPts val="1100"/>
              <a:buChar char="●"/>
            </a:pPr>
            <a:r>
              <a:rPr lang="en" sz="1100">
                <a:solidFill>
                  <a:schemeClr val="dk2"/>
                </a:solidFill>
              </a:rPr>
              <a:t>Display pickup information to staff</a:t>
            </a:r>
            <a:endParaRPr sz="1100">
              <a:solidFill>
                <a:schemeClr val="dk2"/>
              </a:solidFill>
            </a:endParaRPr>
          </a:p>
          <a:p>
            <a:pPr indent="-298450" lvl="0" marL="457200" rtl="0" algn="l">
              <a:spcBef>
                <a:spcPts val="0"/>
              </a:spcBef>
              <a:spcAft>
                <a:spcPts val="0"/>
              </a:spcAft>
              <a:buClr>
                <a:schemeClr val="dk2"/>
              </a:buClr>
              <a:buSzPts val="1100"/>
              <a:buChar char="●"/>
            </a:pPr>
            <a:r>
              <a:rPr lang="en" sz="1100">
                <a:solidFill>
                  <a:schemeClr val="dk2"/>
                </a:solidFill>
              </a:rPr>
              <a:t>Allow staff to update system once a kid has been picked up</a:t>
            </a:r>
            <a:endParaRPr sz="1100">
              <a:solidFill>
                <a:schemeClr val="dk2"/>
              </a:solidFill>
            </a:endParaRPr>
          </a:p>
          <a:p>
            <a:pPr indent="-298450" lvl="0" marL="457200" rtl="0" algn="l">
              <a:spcBef>
                <a:spcPts val="0"/>
              </a:spcBef>
              <a:spcAft>
                <a:spcPts val="0"/>
              </a:spcAft>
              <a:buClr>
                <a:schemeClr val="dk2"/>
              </a:buClr>
              <a:buSzPts val="1100"/>
              <a:buChar char="●"/>
            </a:pPr>
            <a:r>
              <a:rPr lang="en" sz="1100">
                <a:solidFill>
                  <a:schemeClr val="dk2"/>
                </a:solidFill>
              </a:rPr>
              <a:t>Forward data between car entrance module and main server module</a:t>
            </a:r>
            <a:endParaRPr sz="1100">
              <a:solidFill>
                <a:schemeClr val="dk2"/>
              </a:solidFill>
            </a:endParaRPr>
          </a:p>
        </p:txBody>
      </p:sp>
      <p:sp>
        <p:nvSpPr>
          <p:cNvPr id="152" name="Google Shape;152;p22"/>
          <p:cNvSpPr txBox="1"/>
          <p:nvPr/>
        </p:nvSpPr>
        <p:spPr>
          <a:xfrm>
            <a:off x="6073425" y="3174750"/>
            <a:ext cx="2635500" cy="1488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98450" lvl="0" marL="457200" rtl="0" algn="l">
              <a:spcBef>
                <a:spcPts val="0"/>
              </a:spcBef>
              <a:spcAft>
                <a:spcPts val="0"/>
              </a:spcAft>
              <a:buClr>
                <a:schemeClr val="dk2"/>
              </a:buClr>
              <a:buSzPts val="1100"/>
              <a:buChar char="●"/>
            </a:pPr>
            <a:r>
              <a:rPr lang="en" sz="1100">
                <a:solidFill>
                  <a:schemeClr val="dk2"/>
                </a:solidFill>
              </a:rPr>
              <a:t>Host a </a:t>
            </a:r>
            <a:r>
              <a:rPr lang="en" sz="1100">
                <a:solidFill>
                  <a:schemeClr val="dk2"/>
                </a:solidFill>
              </a:rPr>
              <a:t>website that can be updated in real time</a:t>
            </a:r>
            <a:endParaRPr sz="1100">
              <a:solidFill>
                <a:schemeClr val="dk2"/>
              </a:solidFill>
            </a:endParaRPr>
          </a:p>
          <a:p>
            <a:pPr indent="-298450" lvl="0" marL="457200" rtl="0" algn="l">
              <a:spcBef>
                <a:spcPts val="0"/>
              </a:spcBef>
              <a:spcAft>
                <a:spcPts val="0"/>
              </a:spcAft>
              <a:buClr>
                <a:schemeClr val="dk2"/>
              </a:buClr>
              <a:buSzPts val="1100"/>
              <a:buChar char="●"/>
            </a:pPr>
            <a:r>
              <a:rPr lang="en" sz="1100">
                <a:solidFill>
                  <a:schemeClr val="dk2"/>
                </a:solidFill>
              </a:rPr>
              <a:t>Connect to a database that contains parent/kid info</a:t>
            </a:r>
            <a:endParaRPr sz="1100">
              <a:solidFill>
                <a:schemeClr val="dk2"/>
              </a:solidFill>
            </a:endParaRPr>
          </a:p>
          <a:p>
            <a:pPr indent="-298450" lvl="0" marL="457200" rtl="0" algn="l">
              <a:spcBef>
                <a:spcPts val="0"/>
              </a:spcBef>
              <a:spcAft>
                <a:spcPts val="0"/>
              </a:spcAft>
              <a:buClr>
                <a:schemeClr val="dk2"/>
              </a:buClr>
              <a:buSzPts val="1100"/>
              <a:buChar char="●"/>
            </a:pPr>
            <a:r>
              <a:rPr lang="en" sz="1100">
                <a:solidFill>
                  <a:schemeClr val="dk2"/>
                </a:solidFill>
              </a:rPr>
              <a:t>Handle information update requests from parents</a:t>
            </a:r>
            <a:endParaRPr sz="1100">
              <a:solidFill>
                <a:schemeClr val="dk2"/>
              </a:solidFill>
            </a:endParaRPr>
          </a:p>
          <a:p>
            <a:pPr indent="-298450" lvl="0" marL="457200" rtl="0" algn="l">
              <a:spcBef>
                <a:spcPts val="0"/>
              </a:spcBef>
              <a:spcAft>
                <a:spcPts val="0"/>
              </a:spcAft>
              <a:buClr>
                <a:schemeClr val="dk2"/>
              </a:buClr>
              <a:buSzPts val="1100"/>
              <a:buChar char="●"/>
            </a:pPr>
            <a:r>
              <a:rPr lang="en" sz="1100">
                <a:solidFill>
                  <a:schemeClr val="dk2"/>
                </a:solidFill>
              </a:rPr>
              <a:t>Send updates to car entrance module</a:t>
            </a:r>
            <a:endParaRPr sz="1100">
              <a:solidFill>
                <a:schemeClr val="dk2"/>
              </a:solidFill>
            </a:endParaRPr>
          </a:p>
        </p:txBody>
      </p:sp>
      <p:cxnSp>
        <p:nvCxnSpPr>
          <p:cNvPr id="153" name="Google Shape;153;p22"/>
          <p:cNvCxnSpPr>
            <a:stCxn id="146" idx="3"/>
          </p:cNvCxnSpPr>
          <p:nvPr/>
        </p:nvCxnSpPr>
        <p:spPr>
          <a:xfrm>
            <a:off x="5931831" y="2250854"/>
            <a:ext cx="544200" cy="6900"/>
          </a:xfrm>
          <a:prstGeom prst="straightConnector1">
            <a:avLst/>
          </a:prstGeom>
          <a:noFill/>
          <a:ln cap="flat" cmpd="sng" w="9525">
            <a:solidFill>
              <a:schemeClr val="dk2"/>
            </a:solidFill>
            <a:prstDash val="solid"/>
            <a:round/>
            <a:headEnd len="med" w="med" type="none"/>
            <a:tailEnd len="med" w="med" type="none"/>
          </a:ln>
        </p:spPr>
      </p:cxnSp>
      <p:cxnSp>
        <p:nvCxnSpPr>
          <p:cNvPr id="154" name="Google Shape;154;p22"/>
          <p:cNvCxnSpPr>
            <a:stCxn id="143" idx="3"/>
          </p:cNvCxnSpPr>
          <p:nvPr/>
        </p:nvCxnSpPr>
        <p:spPr>
          <a:xfrm>
            <a:off x="5775500" y="4265750"/>
            <a:ext cx="297000" cy="30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58" name="Shape 158"/>
        <p:cNvGrpSpPr/>
        <p:nvPr/>
      </p:nvGrpSpPr>
      <p:grpSpPr>
        <a:xfrm>
          <a:off x="0" y="0"/>
          <a:ext cx="0" cy="0"/>
          <a:chOff x="0" y="0"/>
          <a:chExt cx="0" cy="0"/>
        </a:xfrm>
      </p:grpSpPr>
      <p:sp>
        <p:nvSpPr>
          <p:cNvPr id="159" name="Google Shape;159;p23"/>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 name="Google Shape;160;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System Component</a:t>
            </a:r>
            <a:r>
              <a:rPr b="1" lang="en" sz="2620">
                <a:solidFill>
                  <a:schemeClr val="lt1"/>
                </a:solidFill>
                <a:latin typeface="Atkinson Hyperlegible"/>
                <a:ea typeface="Atkinson Hyperlegible"/>
                <a:cs typeface="Atkinson Hyperlegible"/>
                <a:sym typeface="Atkinson Hyperlegible"/>
              </a:rPr>
              <a:t> - Car Entrance Module</a:t>
            </a:r>
            <a:endParaRPr b="1" sz="2620">
              <a:solidFill>
                <a:schemeClr val="lt1"/>
              </a:solidFill>
              <a:latin typeface="Atkinson Hyperlegible"/>
              <a:ea typeface="Atkinson Hyperlegible"/>
              <a:cs typeface="Atkinson Hyperlegible"/>
              <a:sym typeface="Atkinson Hyperlegible"/>
            </a:endParaRPr>
          </a:p>
        </p:txBody>
      </p:sp>
      <p:sp>
        <p:nvSpPr>
          <p:cNvPr id="161" name="Google Shape;161;p23"/>
          <p:cNvSpPr txBox="1"/>
          <p:nvPr>
            <p:ph idx="1" type="body"/>
          </p:nvPr>
        </p:nvSpPr>
        <p:spPr>
          <a:xfrm>
            <a:off x="311700" y="1096825"/>
            <a:ext cx="4177800" cy="3960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500">
                <a:solidFill>
                  <a:schemeClr val="dk1"/>
                </a:solidFill>
              </a:rPr>
              <a:t>Hardware:</a:t>
            </a:r>
            <a:endParaRPr sz="15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Microcontroller for processing and controlling devices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Camera for images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Display for instructing </a:t>
            </a:r>
            <a:r>
              <a:rPr lang="en" sz="1100">
                <a:solidFill>
                  <a:schemeClr val="dk1"/>
                </a:solidFill>
              </a:rPr>
              <a:t>parents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Zigbee antenna for radio communication</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Rechargeable battery for power</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500">
                <a:solidFill>
                  <a:schemeClr val="dk1"/>
                </a:solidFill>
              </a:rPr>
              <a:t>Software:</a:t>
            </a:r>
            <a:endParaRPr sz="15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Image processing and recognition software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Display instructions on screen</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Zigbee communication software</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500">
                <a:solidFill>
                  <a:schemeClr val="dk1"/>
                </a:solidFill>
              </a:rPr>
              <a:t>Interfaces:</a:t>
            </a:r>
            <a:endParaRPr sz="15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Inputs:</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Images</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Zigbee data</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Outputs:</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Display information to instruct parents</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Zigbee data</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
        <p:nvSpPr>
          <p:cNvPr id="162" name="Google Shape;162;p23"/>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fontScale="92500"/>
          </a:bodyPr>
          <a:lstStyle/>
          <a:p>
            <a:pPr indent="0" lvl="0" marL="0" rtl="0" algn="r">
              <a:spcBef>
                <a:spcPts val="0"/>
              </a:spcBef>
              <a:spcAft>
                <a:spcPts val="0"/>
              </a:spcAft>
              <a:buNone/>
            </a:pPr>
            <a:r>
              <a:rPr lang="en">
                <a:solidFill>
                  <a:schemeClr val="lt1"/>
                </a:solidFill>
              </a:rPr>
              <a:t>CDR</a:t>
            </a:r>
            <a:r>
              <a:rPr lang="en">
                <a:solidFill>
                  <a:schemeClr val="lt1"/>
                </a:solidFill>
              </a:rPr>
              <a:t> Presentation - </a:t>
            </a:r>
            <a:fld id="{00000000-1234-1234-1234-123412341234}" type="slidenum">
              <a:rPr lang="en">
                <a:solidFill>
                  <a:schemeClr val="lt1"/>
                </a:solidFill>
              </a:rPr>
              <a:t>‹#›</a:t>
            </a:fld>
            <a:endParaRPr>
              <a:solidFill>
                <a:schemeClr val="lt1"/>
              </a:solidFill>
            </a:endParaRPr>
          </a:p>
        </p:txBody>
      </p:sp>
      <p:pic>
        <p:nvPicPr>
          <p:cNvPr id="163" name="Google Shape;163;p23"/>
          <p:cNvPicPr preferRelativeResize="0"/>
          <p:nvPr/>
        </p:nvPicPr>
        <p:blipFill rotWithShape="1">
          <a:blip r:embed="rId3">
            <a:alphaModFix/>
          </a:blip>
          <a:srcRect b="8871" l="0" r="3800" t="12202"/>
          <a:stretch/>
        </p:blipFill>
        <p:spPr>
          <a:xfrm>
            <a:off x="4213225" y="1551950"/>
            <a:ext cx="4749250" cy="2693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67" name="Shape 167"/>
        <p:cNvGrpSpPr/>
        <p:nvPr/>
      </p:nvGrpSpPr>
      <p:grpSpPr>
        <a:xfrm>
          <a:off x="0" y="0"/>
          <a:ext cx="0" cy="0"/>
          <a:chOff x="0" y="0"/>
          <a:chExt cx="0" cy="0"/>
        </a:xfrm>
      </p:grpSpPr>
      <p:sp>
        <p:nvSpPr>
          <p:cNvPr id="168" name="Google Shape;168;p24"/>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System Component </a:t>
            </a:r>
            <a:r>
              <a:rPr b="1" lang="en" sz="2620">
                <a:solidFill>
                  <a:schemeClr val="lt1"/>
                </a:solidFill>
                <a:latin typeface="Atkinson Hyperlegible"/>
                <a:ea typeface="Atkinson Hyperlegible"/>
                <a:cs typeface="Atkinson Hyperlegible"/>
                <a:sym typeface="Atkinson Hyperlegible"/>
              </a:rPr>
              <a:t>- Zone Pickup Module</a:t>
            </a:r>
            <a:endParaRPr b="1" sz="2620">
              <a:solidFill>
                <a:schemeClr val="lt1"/>
              </a:solidFill>
              <a:latin typeface="Atkinson Hyperlegible"/>
              <a:ea typeface="Atkinson Hyperlegible"/>
              <a:cs typeface="Atkinson Hyperlegible"/>
              <a:sym typeface="Atkinson Hyperlegible"/>
            </a:endParaRPr>
          </a:p>
        </p:txBody>
      </p:sp>
      <p:sp>
        <p:nvSpPr>
          <p:cNvPr id="170" name="Google Shape;170;p24"/>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fontScale="92500"/>
          </a:bodyPr>
          <a:lstStyle/>
          <a:p>
            <a:pPr indent="0" lvl="0" marL="0" rtl="0" algn="r">
              <a:spcBef>
                <a:spcPts val="0"/>
              </a:spcBef>
              <a:spcAft>
                <a:spcPts val="0"/>
              </a:spcAft>
              <a:buNone/>
            </a:pPr>
            <a:r>
              <a:rPr lang="en">
                <a:solidFill>
                  <a:schemeClr val="lt1"/>
                </a:solidFill>
              </a:rPr>
              <a:t>CDR</a:t>
            </a:r>
            <a:r>
              <a:rPr lang="en">
                <a:solidFill>
                  <a:schemeClr val="lt1"/>
                </a:solidFill>
              </a:rPr>
              <a:t> Presentation - </a:t>
            </a:r>
            <a:fld id="{00000000-1234-1234-1234-123412341234}" type="slidenum">
              <a:rPr lang="en">
                <a:solidFill>
                  <a:schemeClr val="lt1"/>
                </a:solidFill>
              </a:rPr>
              <a:t>‹#›</a:t>
            </a:fld>
            <a:endParaRPr>
              <a:solidFill>
                <a:schemeClr val="lt1"/>
              </a:solidFill>
            </a:endParaRPr>
          </a:p>
        </p:txBody>
      </p:sp>
      <p:pic>
        <p:nvPicPr>
          <p:cNvPr id="171" name="Google Shape;171;p24"/>
          <p:cNvPicPr preferRelativeResize="0"/>
          <p:nvPr/>
        </p:nvPicPr>
        <p:blipFill rotWithShape="1">
          <a:blip r:embed="rId3">
            <a:alphaModFix/>
          </a:blip>
          <a:srcRect b="30443" l="0" r="0" t="18374"/>
          <a:stretch/>
        </p:blipFill>
        <p:spPr>
          <a:xfrm>
            <a:off x="4070350" y="1697475"/>
            <a:ext cx="4863801" cy="2286000"/>
          </a:xfrm>
          <a:prstGeom prst="rect">
            <a:avLst/>
          </a:prstGeom>
          <a:noFill/>
          <a:ln>
            <a:noFill/>
          </a:ln>
        </p:spPr>
      </p:pic>
      <p:sp>
        <p:nvSpPr>
          <p:cNvPr id="172" name="Google Shape;172;p24"/>
          <p:cNvSpPr txBox="1"/>
          <p:nvPr/>
        </p:nvSpPr>
        <p:spPr>
          <a:xfrm>
            <a:off x="441325" y="1225550"/>
            <a:ext cx="8343900" cy="12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73" name="Google Shape;173;p24"/>
          <p:cNvSpPr txBox="1"/>
          <p:nvPr>
            <p:ph idx="1" type="body"/>
          </p:nvPr>
        </p:nvSpPr>
        <p:spPr>
          <a:xfrm>
            <a:off x="311700" y="1096825"/>
            <a:ext cx="4587300" cy="396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solidFill>
                  <a:schemeClr val="dk1"/>
                </a:solidFill>
              </a:rPr>
              <a:t>Hardware:</a:t>
            </a:r>
            <a:endParaRPr sz="15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Laptop for software and zigbee connection</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Zigbee antenna for radio communication</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Phones to show specific zone </a:t>
            </a:r>
            <a:r>
              <a:rPr lang="en" sz="1100">
                <a:solidFill>
                  <a:schemeClr val="dk1"/>
                </a:solidFill>
              </a:rPr>
              <a:t>information</a:t>
            </a:r>
            <a:r>
              <a:rPr lang="en" sz="1100">
                <a:solidFill>
                  <a:schemeClr val="dk1"/>
                </a:solidFill>
              </a:rPr>
              <a:t> to zone attendant</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500">
                <a:solidFill>
                  <a:schemeClr val="dk1"/>
                </a:solidFill>
              </a:rPr>
              <a:t>Software:</a:t>
            </a:r>
            <a:endParaRPr sz="15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Zigbee communication software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Website access on phones</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500">
                <a:solidFill>
                  <a:schemeClr val="dk1"/>
                </a:solidFill>
              </a:rPr>
              <a:t>Interfaces:</a:t>
            </a:r>
            <a:endParaRPr sz="15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Inputs:</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Zigbee data</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Button input on phones once a kid has been picked up</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Server data (updates for car entrance module)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Outputs:</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Zigbee data</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77" name="Shape 177"/>
        <p:cNvGrpSpPr/>
        <p:nvPr/>
      </p:nvGrpSpPr>
      <p:grpSpPr>
        <a:xfrm>
          <a:off x="0" y="0"/>
          <a:ext cx="0" cy="0"/>
          <a:chOff x="0" y="0"/>
          <a:chExt cx="0" cy="0"/>
        </a:xfrm>
      </p:grpSpPr>
      <p:sp>
        <p:nvSpPr>
          <p:cNvPr id="178" name="Google Shape;178;p25"/>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 name="Google Shape;179;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System Component </a:t>
            </a:r>
            <a:r>
              <a:rPr b="1" lang="en" sz="2620">
                <a:solidFill>
                  <a:schemeClr val="lt1"/>
                </a:solidFill>
                <a:latin typeface="Atkinson Hyperlegible"/>
                <a:ea typeface="Atkinson Hyperlegible"/>
                <a:cs typeface="Atkinson Hyperlegible"/>
                <a:sym typeface="Atkinson Hyperlegible"/>
              </a:rPr>
              <a:t>- Main Server Module</a:t>
            </a:r>
            <a:endParaRPr b="1" sz="2620">
              <a:solidFill>
                <a:schemeClr val="lt1"/>
              </a:solidFill>
              <a:latin typeface="Atkinson Hyperlegible"/>
              <a:ea typeface="Atkinson Hyperlegible"/>
              <a:cs typeface="Atkinson Hyperlegible"/>
              <a:sym typeface="Atkinson Hyperlegible"/>
            </a:endParaRPr>
          </a:p>
        </p:txBody>
      </p:sp>
      <p:sp>
        <p:nvSpPr>
          <p:cNvPr id="180" name="Google Shape;180;p25"/>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fontScale="92500"/>
          </a:bodyPr>
          <a:lstStyle/>
          <a:p>
            <a:pPr indent="0" lvl="0" marL="0" rtl="0" algn="r">
              <a:spcBef>
                <a:spcPts val="0"/>
              </a:spcBef>
              <a:spcAft>
                <a:spcPts val="0"/>
              </a:spcAft>
              <a:buNone/>
            </a:pPr>
            <a:r>
              <a:rPr lang="en">
                <a:solidFill>
                  <a:schemeClr val="lt1"/>
                </a:solidFill>
              </a:rPr>
              <a:t>CDR</a:t>
            </a:r>
            <a:r>
              <a:rPr lang="en">
                <a:solidFill>
                  <a:schemeClr val="lt1"/>
                </a:solidFill>
              </a:rPr>
              <a:t> Presentation - </a:t>
            </a:r>
            <a:fld id="{00000000-1234-1234-1234-123412341234}" type="slidenum">
              <a:rPr lang="en">
                <a:solidFill>
                  <a:schemeClr val="lt1"/>
                </a:solidFill>
              </a:rPr>
              <a:t>‹#›</a:t>
            </a:fld>
            <a:endParaRPr>
              <a:solidFill>
                <a:schemeClr val="lt1"/>
              </a:solidFill>
            </a:endParaRPr>
          </a:p>
        </p:txBody>
      </p:sp>
      <p:pic>
        <p:nvPicPr>
          <p:cNvPr id="181" name="Google Shape;181;p25"/>
          <p:cNvPicPr preferRelativeResize="0"/>
          <p:nvPr/>
        </p:nvPicPr>
        <p:blipFill rotWithShape="1">
          <a:blip r:embed="rId3">
            <a:alphaModFix/>
          </a:blip>
          <a:srcRect b="32905" l="0" r="0" t="28419"/>
          <a:stretch/>
        </p:blipFill>
        <p:spPr>
          <a:xfrm>
            <a:off x="4023275" y="1933013"/>
            <a:ext cx="5943600" cy="1724025"/>
          </a:xfrm>
          <a:prstGeom prst="rect">
            <a:avLst/>
          </a:prstGeom>
          <a:noFill/>
          <a:ln>
            <a:noFill/>
          </a:ln>
        </p:spPr>
      </p:pic>
      <p:sp>
        <p:nvSpPr>
          <p:cNvPr id="182" name="Google Shape;182;p25"/>
          <p:cNvSpPr txBox="1"/>
          <p:nvPr>
            <p:ph idx="1" type="body"/>
          </p:nvPr>
        </p:nvSpPr>
        <p:spPr>
          <a:xfrm>
            <a:off x="311700" y="1096825"/>
            <a:ext cx="4758900" cy="396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Hardware:</a:t>
            </a:r>
            <a:endParaRPr sz="16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Computer to run software</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600">
                <a:solidFill>
                  <a:schemeClr val="dk1"/>
                </a:solidFill>
              </a:rPr>
              <a:t>Software:</a:t>
            </a:r>
            <a:endParaRPr sz="16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Website hosting - needs real time updating</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Database connection to access and update parents/kids info</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Send updates to car entrance module display</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600">
                <a:solidFill>
                  <a:schemeClr val="dk1"/>
                </a:solidFill>
              </a:rPr>
              <a:t>Interfaces:</a:t>
            </a:r>
            <a:endParaRPr sz="16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Inputs:</a:t>
            </a:r>
            <a:endParaRPr sz="1200">
              <a:solidFill>
                <a:schemeClr val="dk1"/>
              </a:solidFill>
            </a:endParaRPr>
          </a:p>
          <a:p>
            <a:pPr indent="-304800" lvl="1" marL="914400" rtl="0" algn="l">
              <a:spcBef>
                <a:spcPts val="0"/>
              </a:spcBef>
              <a:spcAft>
                <a:spcPts val="0"/>
              </a:spcAft>
              <a:buClr>
                <a:schemeClr val="dk1"/>
              </a:buClr>
              <a:buSzPts val="1200"/>
              <a:buChar char="○"/>
            </a:pPr>
            <a:r>
              <a:rPr lang="en" sz="1200">
                <a:solidFill>
                  <a:schemeClr val="dk1"/>
                </a:solidFill>
              </a:rPr>
              <a:t>Identifier</a:t>
            </a:r>
            <a:r>
              <a:rPr lang="en" sz="1200">
                <a:solidFill>
                  <a:schemeClr val="dk1"/>
                </a:solidFill>
              </a:rPr>
              <a:t> data (to query database to find parent and kid)</a:t>
            </a:r>
            <a:endParaRPr sz="1200">
              <a:solidFill>
                <a:schemeClr val="dk1"/>
              </a:solidFill>
            </a:endParaRPr>
          </a:p>
          <a:p>
            <a:pPr indent="-304800" lvl="1" marL="914400" rtl="0" algn="l">
              <a:spcBef>
                <a:spcPts val="0"/>
              </a:spcBef>
              <a:spcAft>
                <a:spcPts val="0"/>
              </a:spcAft>
              <a:buClr>
                <a:schemeClr val="dk1"/>
              </a:buClr>
              <a:buSzPts val="1200"/>
              <a:buChar char="○"/>
            </a:pPr>
            <a:r>
              <a:rPr lang="en" sz="1200">
                <a:solidFill>
                  <a:schemeClr val="dk1"/>
                </a:solidFill>
              </a:rPr>
              <a:t>Parent requests (to update information)</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Outputs:</a:t>
            </a:r>
            <a:endParaRPr sz="1200">
              <a:solidFill>
                <a:schemeClr val="dk1"/>
              </a:solidFill>
            </a:endParaRPr>
          </a:p>
          <a:p>
            <a:pPr indent="-304800" lvl="1" marL="914400" rtl="0" algn="l">
              <a:spcBef>
                <a:spcPts val="0"/>
              </a:spcBef>
              <a:spcAft>
                <a:spcPts val="0"/>
              </a:spcAft>
              <a:buClr>
                <a:schemeClr val="dk1"/>
              </a:buClr>
              <a:buSzPts val="1200"/>
              <a:buChar char="○"/>
            </a:pPr>
            <a:r>
              <a:rPr lang="en" sz="1200">
                <a:solidFill>
                  <a:schemeClr val="dk1"/>
                </a:solidFill>
              </a:rPr>
              <a:t>Information to update car entrance module </a:t>
            </a:r>
            <a:r>
              <a:rPr lang="en" sz="1200">
                <a:solidFill>
                  <a:schemeClr val="dk1"/>
                </a:solidFill>
              </a:rPr>
              <a:t>display</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86" name="Shape 186"/>
        <p:cNvGrpSpPr/>
        <p:nvPr/>
      </p:nvGrpSpPr>
      <p:grpSpPr>
        <a:xfrm>
          <a:off x="0" y="0"/>
          <a:ext cx="0" cy="0"/>
          <a:chOff x="0" y="0"/>
          <a:chExt cx="0" cy="0"/>
        </a:xfrm>
      </p:grpSpPr>
      <p:sp>
        <p:nvSpPr>
          <p:cNvPr id="187" name="Google Shape;187;p26"/>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 name="Google Shape;188;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System Component </a:t>
            </a:r>
            <a:r>
              <a:rPr b="1" lang="en" sz="2620">
                <a:solidFill>
                  <a:schemeClr val="lt1"/>
                </a:solidFill>
                <a:latin typeface="Atkinson Hyperlegible"/>
                <a:ea typeface="Atkinson Hyperlegible"/>
                <a:cs typeface="Atkinson Hyperlegible"/>
                <a:sym typeface="Atkinson Hyperlegible"/>
              </a:rPr>
              <a:t>- Kids Waiting Module</a:t>
            </a:r>
            <a:endParaRPr b="1" sz="2620">
              <a:solidFill>
                <a:schemeClr val="lt1"/>
              </a:solidFill>
              <a:latin typeface="Atkinson Hyperlegible"/>
              <a:ea typeface="Atkinson Hyperlegible"/>
              <a:cs typeface="Atkinson Hyperlegible"/>
              <a:sym typeface="Atkinson Hyperlegible"/>
            </a:endParaRPr>
          </a:p>
        </p:txBody>
      </p:sp>
      <p:sp>
        <p:nvSpPr>
          <p:cNvPr id="189" name="Google Shape;189;p26"/>
          <p:cNvSpPr txBox="1"/>
          <p:nvPr>
            <p:ph idx="12" type="sldNum"/>
          </p:nvPr>
        </p:nvSpPr>
        <p:spPr>
          <a:xfrm>
            <a:off x="7611888" y="4663225"/>
            <a:ext cx="1409400" cy="393600"/>
          </a:xfrm>
          <a:prstGeom prst="rect">
            <a:avLst/>
          </a:prstGeom>
        </p:spPr>
        <p:txBody>
          <a:bodyPr anchorCtr="0" anchor="ctr" bIns="91425" lIns="91425" spcFirstLastPara="1" rIns="91425" wrap="square" tIns="91425">
            <a:normAutofit fontScale="92500"/>
          </a:bodyPr>
          <a:lstStyle/>
          <a:p>
            <a:pPr indent="0" lvl="0" marL="0" rtl="0" algn="r">
              <a:spcBef>
                <a:spcPts val="0"/>
              </a:spcBef>
              <a:spcAft>
                <a:spcPts val="0"/>
              </a:spcAft>
              <a:buNone/>
            </a:pPr>
            <a:r>
              <a:rPr lang="en">
                <a:solidFill>
                  <a:schemeClr val="lt1"/>
                </a:solidFill>
              </a:rPr>
              <a:t>CDR </a:t>
            </a:r>
            <a:r>
              <a:rPr lang="en">
                <a:solidFill>
                  <a:schemeClr val="lt1"/>
                </a:solidFill>
              </a:rPr>
              <a:t>Presentation - </a:t>
            </a:r>
            <a:fld id="{00000000-1234-1234-1234-123412341234}" type="slidenum">
              <a:rPr lang="en">
                <a:solidFill>
                  <a:schemeClr val="lt1"/>
                </a:solidFill>
              </a:rPr>
              <a:t>‹#›</a:t>
            </a:fld>
            <a:endParaRPr>
              <a:solidFill>
                <a:schemeClr val="lt1"/>
              </a:solidFill>
            </a:endParaRPr>
          </a:p>
        </p:txBody>
      </p:sp>
      <p:pic>
        <p:nvPicPr>
          <p:cNvPr id="190" name="Google Shape;190;p26"/>
          <p:cNvPicPr preferRelativeResize="0"/>
          <p:nvPr/>
        </p:nvPicPr>
        <p:blipFill rotWithShape="1">
          <a:blip r:embed="rId3">
            <a:alphaModFix/>
          </a:blip>
          <a:srcRect b="33929" l="0" r="0" t="26560"/>
          <a:stretch/>
        </p:blipFill>
        <p:spPr>
          <a:xfrm>
            <a:off x="3077700" y="1636338"/>
            <a:ext cx="5943600" cy="1762125"/>
          </a:xfrm>
          <a:prstGeom prst="rect">
            <a:avLst/>
          </a:prstGeom>
          <a:noFill/>
          <a:ln>
            <a:noFill/>
          </a:ln>
        </p:spPr>
      </p:pic>
      <p:sp>
        <p:nvSpPr>
          <p:cNvPr id="191" name="Google Shape;191;p26"/>
          <p:cNvSpPr txBox="1"/>
          <p:nvPr>
            <p:ph idx="1" type="body"/>
          </p:nvPr>
        </p:nvSpPr>
        <p:spPr>
          <a:xfrm>
            <a:off x="311700" y="1096825"/>
            <a:ext cx="4758900" cy="396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rPr>
              <a:t>Hardware:</a:t>
            </a:r>
            <a:endParaRPr sz="17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Large display (projector or large TV)</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rPr lang="en" sz="1700">
                <a:solidFill>
                  <a:schemeClr val="dk1"/>
                </a:solidFill>
              </a:rPr>
              <a:t>Software:</a:t>
            </a:r>
            <a:endParaRPr sz="17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Website access on screen</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rPr lang="en" sz="1700">
                <a:solidFill>
                  <a:schemeClr val="dk1"/>
                </a:solidFill>
              </a:rPr>
              <a:t>Interfaces:</a:t>
            </a:r>
            <a:endParaRPr sz="17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Inputs: None</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Outputs:</a:t>
            </a:r>
            <a:endParaRPr sz="1300">
              <a:solidFill>
                <a:schemeClr val="dk1"/>
              </a:solidFill>
            </a:endParaRPr>
          </a:p>
          <a:p>
            <a:pPr indent="-311150" lvl="1" marL="914400" rtl="0" algn="l">
              <a:spcBef>
                <a:spcPts val="0"/>
              </a:spcBef>
              <a:spcAft>
                <a:spcPts val="0"/>
              </a:spcAft>
              <a:buClr>
                <a:schemeClr val="dk1"/>
              </a:buClr>
              <a:buSzPts val="1300"/>
              <a:buChar char="○"/>
            </a:pPr>
            <a:r>
              <a:rPr lang="en" sz="1300">
                <a:solidFill>
                  <a:schemeClr val="dk1"/>
                </a:solidFill>
              </a:rPr>
              <a:t>Website to instruct kids and staff when to</a:t>
            </a:r>
            <a:endParaRPr sz="1300">
              <a:solidFill>
                <a:schemeClr val="dk1"/>
              </a:solidFill>
            </a:endParaRPr>
          </a:p>
          <a:p>
            <a:pPr indent="0" lvl="0" marL="0" rtl="0" algn="l">
              <a:spcBef>
                <a:spcPts val="0"/>
              </a:spcBef>
              <a:spcAft>
                <a:spcPts val="0"/>
              </a:spcAft>
              <a:buNone/>
            </a:pPr>
            <a:r>
              <a:rPr lang="en" sz="1300">
                <a:solidFill>
                  <a:schemeClr val="dk1"/>
                </a:solidFill>
              </a:rPr>
              <a:t>		send kid to zones to be picked up (also which</a:t>
            </a:r>
            <a:endParaRPr sz="1300">
              <a:solidFill>
                <a:schemeClr val="dk1"/>
              </a:solidFill>
            </a:endParaRPr>
          </a:p>
          <a:p>
            <a:pPr indent="457200" lvl="0" marL="457200" rtl="0" algn="l">
              <a:spcBef>
                <a:spcPts val="0"/>
              </a:spcBef>
              <a:spcAft>
                <a:spcPts val="0"/>
              </a:spcAft>
              <a:buNone/>
            </a:pPr>
            <a:r>
              <a:rPr lang="en" sz="1300">
                <a:solidFill>
                  <a:schemeClr val="dk1"/>
                </a:solidFill>
              </a:rPr>
              <a:t>zone to go to)</a:t>
            </a:r>
            <a:endParaRPr sz="13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95" name="Shape 195"/>
        <p:cNvGrpSpPr/>
        <p:nvPr/>
      </p:nvGrpSpPr>
      <p:grpSpPr>
        <a:xfrm>
          <a:off x="0" y="0"/>
          <a:ext cx="0" cy="0"/>
          <a:chOff x="0" y="0"/>
          <a:chExt cx="0" cy="0"/>
        </a:xfrm>
      </p:grpSpPr>
      <p:sp>
        <p:nvSpPr>
          <p:cNvPr id="196" name="Google Shape;196;p27"/>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Design Validation and Testing - 1</a:t>
            </a:r>
            <a:endParaRPr b="1" sz="2620">
              <a:solidFill>
                <a:schemeClr val="lt1"/>
              </a:solidFill>
              <a:latin typeface="Atkinson Hyperlegible"/>
              <a:ea typeface="Atkinson Hyperlegible"/>
              <a:cs typeface="Atkinson Hyperlegible"/>
              <a:sym typeface="Atkinson Hyperlegible"/>
            </a:endParaRPr>
          </a:p>
        </p:txBody>
      </p:sp>
      <p:sp>
        <p:nvSpPr>
          <p:cNvPr id="198" name="Google Shape;198;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700">
                <a:solidFill>
                  <a:schemeClr val="dk1"/>
                </a:solidFill>
              </a:rPr>
              <a:t>Small, foundational testing first</a:t>
            </a:r>
            <a:endParaRPr sz="1700">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Verify connectivity to web server and database</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Display text found by the camera directly to the screen it is connected to</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Ping router from the car entrance module to verify connectivity</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QUERY database to ensure proper initialization</a:t>
            </a:r>
            <a:endParaRPr sz="1500">
              <a:solidFill>
                <a:schemeClr val="dk1"/>
              </a:solidFill>
            </a:endParaRPr>
          </a:p>
          <a:p>
            <a:pPr indent="0" lvl="0" marL="0" rtl="0" algn="l">
              <a:spcBef>
                <a:spcPts val="1200"/>
              </a:spcBef>
              <a:spcAft>
                <a:spcPts val="0"/>
              </a:spcAft>
              <a:buNone/>
            </a:pPr>
            <a:r>
              <a:rPr lang="en" sz="1700">
                <a:solidFill>
                  <a:schemeClr val="dk1"/>
                </a:solidFill>
              </a:rPr>
              <a:t>System testing comes next</a:t>
            </a:r>
            <a:endParaRPr sz="1700">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Packets should be sent to the database, should return student names</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Screens directing drivers and students should update in no more than 5 seconds</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Web server flags incoming requests to alter database to admin page</a:t>
            </a:r>
            <a:endParaRPr sz="1500">
              <a:solidFill>
                <a:schemeClr val="dk1"/>
              </a:solidFill>
            </a:endParaRPr>
          </a:p>
        </p:txBody>
      </p:sp>
      <p:sp>
        <p:nvSpPr>
          <p:cNvPr id="199" name="Google Shape;199;p27"/>
          <p:cNvSpPr txBox="1"/>
          <p:nvPr>
            <p:ph idx="12" type="sldNum"/>
          </p:nvPr>
        </p:nvSpPr>
        <p:spPr>
          <a:xfrm>
            <a:off x="7016255" y="4663225"/>
            <a:ext cx="20052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CDR</a:t>
            </a:r>
            <a:r>
              <a:rPr lang="en">
                <a:solidFill>
                  <a:schemeClr val="lt1"/>
                </a:solidFill>
              </a:rPr>
              <a:t> Presentation - </a:t>
            </a: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03" name="Shape 203"/>
        <p:cNvGrpSpPr/>
        <p:nvPr/>
      </p:nvGrpSpPr>
      <p:grpSpPr>
        <a:xfrm>
          <a:off x="0" y="0"/>
          <a:ext cx="0" cy="0"/>
          <a:chOff x="0" y="0"/>
          <a:chExt cx="0" cy="0"/>
        </a:xfrm>
      </p:grpSpPr>
      <p:sp>
        <p:nvSpPr>
          <p:cNvPr id="204" name="Google Shape;204;p28"/>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 name="Google Shape;205;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Design Validation and Testing - 2</a:t>
            </a:r>
            <a:endParaRPr b="1" sz="2620">
              <a:solidFill>
                <a:schemeClr val="lt1"/>
              </a:solidFill>
              <a:latin typeface="Atkinson Hyperlegible"/>
              <a:ea typeface="Atkinson Hyperlegible"/>
              <a:cs typeface="Atkinson Hyperlegible"/>
              <a:sym typeface="Atkinson Hyperlegible"/>
            </a:endParaRPr>
          </a:p>
        </p:txBody>
      </p:sp>
      <p:sp>
        <p:nvSpPr>
          <p:cNvPr id="206" name="Google Shape;206;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700">
                <a:solidFill>
                  <a:schemeClr val="dk1"/>
                </a:solidFill>
              </a:rPr>
              <a:t>End with Full System Functionality Tests:</a:t>
            </a:r>
            <a:endParaRPr sz="1700">
              <a:solidFill>
                <a:schemeClr val="dk1"/>
              </a:solidFill>
            </a:endParaRPr>
          </a:p>
          <a:p>
            <a:pPr indent="-336550" lvl="0" marL="457200" rtl="0" algn="l">
              <a:spcBef>
                <a:spcPts val="1200"/>
              </a:spcBef>
              <a:spcAft>
                <a:spcPts val="0"/>
              </a:spcAft>
              <a:buClr>
                <a:schemeClr val="dk1"/>
              </a:buClr>
              <a:buSzPts val="1700"/>
              <a:buChar char="●"/>
            </a:pPr>
            <a:r>
              <a:rPr lang="en" sz="1700">
                <a:solidFill>
                  <a:schemeClr val="dk1"/>
                </a:solidFill>
              </a:rPr>
              <a:t>Run full pickup simulation </a:t>
            </a:r>
            <a:endParaRPr sz="1700">
              <a:solidFill>
                <a:schemeClr val="dk1"/>
              </a:solidFill>
            </a:endParaRPr>
          </a:p>
          <a:p>
            <a:pPr indent="-336550" lvl="1" marL="914400" rtl="0" algn="l">
              <a:spcBef>
                <a:spcPts val="0"/>
              </a:spcBef>
              <a:spcAft>
                <a:spcPts val="0"/>
              </a:spcAft>
              <a:buClr>
                <a:schemeClr val="dk1"/>
              </a:buClr>
              <a:buSzPts val="1700"/>
              <a:buChar char="○"/>
            </a:pPr>
            <a:r>
              <a:rPr lang="en" sz="1700">
                <a:solidFill>
                  <a:schemeClr val="dk1"/>
                </a:solidFill>
              </a:rPr>
              <a:t>Scan QR code</a:t>
            </a:r>
            <a:endParaRPr sz="1700">
              <a:solidFill>
                <a:schemeClr val="dk1"/>
              </a:solidFill>
            </a:endParaRPr>
          </a:p>
          <a:p>
            <a:pPr indent="-336550" lvl="1" marL="914400" rtl="0" algn="l">
              <a:spcBef>
                <a:spcPts val="0"/>
              </a:spcBef>
              <a:spcAft>
                <a:spcPts val="0"/>
              </a:spcAft>
              <a:buClr>
                <a:schemeClr val="dk1"/>
              </a:buClr>
              <a:buSzPts val="1700"/>
              <a:buChar char="○"/>
            </a:pPr>
            <a:r>
              <a:rPr lang="en" sz="1700">
                <a:solidFill>
                  <a:schemeClr val="dk1"/>
                </a:solidFill>
              </a:rPr>
              <a:t>Send information to Server</a:t>
            </a:r>
            <a:endParaRPr sz="1700">
              <a:solidFill>
                <a:schemeClr val="dk1"/>
              </a:solidFill>
            </a:endParaRPr>
          </a:p>
          <a:p>
            <a:pPr indent="-336550" lvl="1" marL="914400" rtl="0" algn="l">
              <a:spcBef>
                <a:spcPts val="0"/>
              </a:spcBef>
              <a:spcAft>
                <a:spcPts val="0"/>
              </a:spcAft>
              <a:buClr>
                <a:schemeClr val="dk1"/>
              </a:buClr>
              <a:buSzPts val="1700"/>
              <a:buChar char="○"/>
            </a:pPr>
            <a:r>
              <a:rPr lang="en" sz="1700">
                <a:solidFill>
                  <a:schemeClr val="dk1"/>
                </a:solidFill>
              </a:rPr>
              <a:t>Inform kid they are being picked up</a:t>
            </a:r>
            <a:endParaRPr sz="1700">
              <a:solidFill>
                <a:schemeClr val="dk1"/>
              </a:solidFill>
            </a:endParaRPr>
          </a:p>
          <a:p>
            <a:pPr indent="-336550" lvl="1" marL="914400" rtl="0" algn="l">
              <a:spcBef>
                <a:spcPts val="0"/>
              </a:spcBef>
              <a:spcAft>
                <a:spcPts val="0"/>
              </a:spcAft>
              <a:buClr>
                <a:schemeClr val="dk1"/>
              </a:buClr>
              <a:buSzPts val="1700"/>
              <a:buChar char="○"/>
            </a:pPr>
            <a:r>
              <a:rPr lang="en" sz="1700">
                <a:solidFill>
                  <a:schemeClr val="dk1"/>
                </a:solidFill>
              </a:rPr>
              <a:t>Kid goes to the line</a:t>
            </a:r>
            <a:endParaRPr sz="1700">
              <a:solidFill>
                <a:schemeClr val="dk1"/>
              </a:solidFill>
            </a:endParaRPr>
          </a:p>
          <a:p>
            <a:pPr indent="-336550" lvl="1" marL="914400" rtl="0" algn="l">
              <a:spcBef>
                <a:spcPts val="0"/>
              </a:spcBef>
              <a:spcAft>
                <a:spcPts val="0"/>
              </a:spcAft>
              <a:buClr>
                <a:schemeClr val="dk1"/>
              </a:buClr>
              <a:buSzPts val="1700"/>
              <a:buChar char="○"/>
            </a:pPr>
            <a:r>
              <a:rPr lang="en" sz="1700">
                <a:solidFill>
                  <a:schemeClr val="dk1"/>
                </a:solidFill>
              </a:rPr>
              <a:t>Kid gets in the car</a:t>
            </a:r>
            <a:endParaRPr sz="1700">
              <a:solidFill>
                <a:schemeClr val="dk1"/>
              </a:solidFill>
            </a:endParaRPr>
          </a:p>
          <a:p>
            <a:pPr indent="0" lvl="0" marL="457200" rtl="0" algn="l">
              <a:spcBef>
                <a:spcPts val="1200"/>
              </a:spcBef>
              <a:spcAft>
                <a:spcPts val="1200"/>
              </a:spcAft>
              <a:buNone/>
            </a:pPr>
            <a:r>
              <a:t/>
            </a:r>
            <a:endParaRPr sz="1700">
              <a:solidFill>
                <a:schemeClr val="dk1"/>
              </a:solidFill>
            </a:endParaRPr>
          </a:p>
        </p:txBody>
      </p:sp>
      <p:sp>
        <p:nvSpPr>
          <p:cNvPr id="207" name="Google Shape;207;p28"/>
          <p:cNvSpPr txBox="1"/>
          <p:nvPr>
            <p:ph idx="12" type="sldNum"/>
          </p:nvPr>
        </p:nvSpPr>
        <p:spPr>
          <a:xfrm>
            <a:off x="7016255" y="4663225"/>
            <a:ext cx="20052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CDR</a:t>
            </a:r>
            <a:r>
              <a:rPr lang="en">
                <a:solidFill>
                  <a:schemeClr val="lt1"/>
                </a:solidFill>
              </a:rPr>
              <a:t> Presentation - </a:t>
            </a: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11" name="Shape 211"/>
        <p:cNvGrpSpPr/>
        <p:nvPr/>
      </p:nvGrpSpPr>
      <p:grpSpPr>
        <a:xfrm>
          <a:off x="0" y="0"/>
          <a:ext cx="0" cy="0"/>
          <a:chOff x="0" y="0"/>
          <a:chExt cx="0" cy="0"/>
        </a:xfrm>
      </p:grpSpPr>
      <p:sp>
        <p:nvSpPr>
          <p:cNvPr id="212" name="Google Shape;212;p29"/>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3" name="Google Shape;213;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Vision</a:t>
            </a:r>
            <a:r>
              <a:rPr b="1" lang="en" sz="2620">
                <a:solidFill>
                  <a:schemeClr val="lt1"/>
                </a:solidFill>
                <a:latin typeface="Atkinson Hyperlegible"/>
                <a:ea typeface="Atkinson Hyperlegible"/>
                <a:cs typeface="Atkinson Hyperlegible"/>
                <a:sym typeface="Atkinson Hyperlegible"/>
              </a:rPr>
              <a:t> for Product Demonstration</a:t>
            </a:r>
            <a:endParaRPr b="1" sz="2620">
              <a:solidFill>
                <a:schemeClr val="lt1"/>
              </a:solidFill>
              <a:latin typeface="Atkinson Hyperlegible"/>
              <a:ea typeface="Atkinson Hyperlegible"/>
              <a:cs typeface="Atkinson Hyperlegible"/>
              <a:sym typeface="Atkinson Hyperlegible"/>
            </a:endParaRPr>
          </a:p>
        </p:txBody>
      </p:sp>
      <p:sp>
        <p:nvSpPr>
          <p:cNvPr id="214" name="Google Shape;214;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Clr>
                <a:schemeClr val="dk1"/>
              </a:buClr>
              <a:buSzPts val="1700"/>
              <a:buChar char="●"/>
            </a:pPr>
            <a:r>
              <a:rPr lang="en" sz="1700">
                <a:solidFill>
                  <a:schemeClr val="dk1"/>
                </a:solidFill>
              </a:rPr>
              <a:t>Film a video of the full system test</a:t>
            </a:r>
            <a:endParaRPr sz="1700">
              <a:solidFill>
                <a:schemeClr val="dk1"/>
              </a:solidFill>
            </a:endParaRPr>
          </a:p>
          <a:p>
            <a:pPr indent="-336550" lvl="1" marL="914400" rtl="0" algn="l">
              <a:spcBef>
                <a:spcPts val="0"/>
              </a:spcBef>
              <a:spcAft>
                <a:spcPts val="0"/>
              </a:spcAft>
              <a:buClr>
                <a:schemeClr val="dk1"/>
              </a:buClr>
              <a:buSzPts val="1700"/>
              <a:buChar char="○"/>
            </a:pPr>
            <a:r>
              <a:rPr lang="en" sz="1700">
                <a:solidFill>
                  <a:schemeClr val="dk1"/>
                </a:solidFill>
              </a:rPr>
              <a:t>Set up each of the modules in locations similar to what the school would look like and go through the process of picking up a queue of students</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Live QR code scanning and site updates</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Website - </a:t>
            </a:r>
            <a:r>
              <a:rPr lang="en" sz="1100" u="sng">
                <a:solidFill>
                  <a:schemeClr val="hlink"/>
                </a:solidFill>
                <a:hlinkClick r:id="rId3"/>
              </a:rPr>
              <a:t>https://thewranglers.onrender.com/</a:t>
            </a:r>
            <a:endParaRPr sz="1700">
              <a:solidFill>
                <a:schemeClr val="dk1"/>
              </a:solidFill>
            </a:endParaRPr>
          </a:p>
          <a:p>
            <a:pPr indent="0" lvl="0" marL="457200" rtl="0" algn="l">
              <a:spcBef>
                <a:spcPts val="1200"/>
              </a:spcBef>
              <a:spcAft>
                <a:spcPts val="1200"/>
              </a:spcAft>
              <a:buNone/>
            </a:pPr>
            <a:r>
              <a:t/>
            </a:r>
            <a:endParaRPr sz="1700">
              <a:solidFill>
                <a:schemeClr val="dk1"/>
              </a:solidFill>
            </a:endParaRPr>
          </a:p>
        </p:txBody>
      </p:sp>
      <p:sp>
        <p:nvSpPr>
          <p:cNvPr id="215" name="Google Shape;215;p29"/>
          <p:cNvSpPr txBox="1"/>
          <p:nvPr>
            <p:ph idx="12" type="sldNum"/>
          </p:nvPr>
        </p:nvSpPr>
        <p:spPr>
          <a:xfrm>
            <a:off x="7016255" y="4663225"/>
            <a:ext cx="20052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CDR</a:t>
            </a:r>
            <a:r>
              <a:rPr lang="en">
                <a:solidFill>
                  <a:schemeClr val="lt1"/>
                </a:solidFill>
              </a:rPr>
              <a:t> Presentation - </a:t>
            </a: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19" name="Shape 219"/>
        <p:cNvGrpSpPr/>
        <p:nvPr/>
      </p:nvGrpSpPr>
      <p:grpSpPr>
        <a:xfrm>
          <a:off x="0" y="0"/>
          <a:ext cx="0" cy="0"/>
          <a:chOff x="0" y="0"/>
          <a:chExt cx="0" cy="0"/>
        </a:xfrm>
      </p:grpSpPr>
      <p:sp>
        <p:nvSpPr>
          <p:cNvPr id="220" name="Google Shape;220;p30"/>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1" name="Google Shape;221;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Evidence of Effective Teaming</a:t>
            </a:r>
            <a:endParaRPr b="1" sz="2620">
              <a:solidFill>
                <a:schemeClr val="lt1"/>
              </a:solidFill>
              <a:latin typeface="Atkinson Hyperlegible"/>
              <a:ea typeface="Atkinson Hyperlegible"/>
              <a:cs typeface="Atkinson Hyperlegible"/>
              <a:sym typeface="Atkinson Hyperlegible"/>
            </a:endParaRPr>
          </a:p>
        </p:txBody>
      </p:sp>
      <p:sp>
        <p:nvSpPr>
          <p:cNvPr id="222" name="Google Shape;222;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1400"/>
              </a:spcBef>
              <a:spcAft>
                <a:spcPts val="0"/>
              </a:spcAft>
              <a:buNone/>
            </a:pPr>
            <a:r>
              <a:rPr b="1" lang="en" sz="4800">
                <a:solidFill>
                  <a:schemeClr val="dk1"/>
                </a:solidFill>
              </a:rPr>
              <a:t>Defined Roles and Responsibilities</a:t>
            </a:r>
            <a:endParaRPr b="1" sz="4800">
              <a:solidFill>
                <a:schemeClr val="dk1"/>
              </a:solidFill>
            </a:endParaRPr>
          </a:p>
          <a:p>
            <a:pPr indent="0" lvl="0" marL="0" rtl="0" algn="l">
              <a:spcBef>
                <a:spcPts val="1200"/>
              </a:spcBef>
              <a:spcAft>
                <a:spcPts val="0"/>
              </a:spcAft>
              <a:buNone/>
            </a:pPr>
            <a:r>
              <a:rPr lang="en" sz="4800">
                <a:solidFill>
                  <a:schemeClr val="dk1"/>
                </a:solidFill>
              </a:rPr>
              <a:t>Each team member is responsible for a specific subsystem:</a:t>
            </a:r>
            <a:endParaRPr sz="4800">
              <a:solidFill>
                <a:schemeClr val="dk1"/>
              </a:solidFill>
            </a:endParaRPr>
          </a:p>
          <a:p>
            <a:pPr indent="-304800" lvl="0" marL="457200" rtl="0" algn="l">
              <a:spcBef>
                <a:spcPts val="1200"/>
              </a:spcBef>
              <a:spcAft>
                <a:spcPts val="0"/>
              </a:spcAft>
              <a:buClr>
                <a:schemeClr val="dk1"/>
              </a:buClr>
              <a:buSzPct val="100000"/>
              <a:buChar char="●"/>
            </a:pPr>
            <a:r>
              <a:rPr b="1" lang="en" sz="4800">
                <a:solidFill>
                  <a:schemeClr val="dk1"/>
                </a:solidFill>
              </a:rPr>
              <a:t>Haya Abusada</a:t>
            </a:r>
            <a:r>
              <a:rPr lang="en" sz="4800">
                <a:solidFill>
                  <a:schemeClr val="dk1"/>
                </a:solidFill>
              </a:rPr>
              <a:t> – Frontend development and system integration</a:t>
            </a:r>
            <a:endParaRPr sz="4800">
              <a:solidFill>
                <a:schemeClr val="dk1"/>
              </a:solidFill>
            </a:endParaRPr>
          </a:p>
          <a:p>
            <a:pPr indent="-304800" lvl="0" marL="457200" rtl="0" algn="l">
              <a:spcBef>
                <a:spcPts val="0"/>
              </a:spcBef>
              <a:spcAft>
                <a:spcPts val="0"/>
              </a:spcAft>
              <a:buClr>
                <a:schemeClr val="dk1"/>
              </a:buClr>
              <a:buSzPct val="100000"/>
              <a:buChar char="●"/>
            </a:pPr>
            <a:r>
              <a:rPr b="1" lang="en" sz="4800">
                <a:solidFill>
                  <a:schemeClr val="dk1"/>
                </a:solidFill>
              </a:rPr>
              <a:t>Sara Vorhaben</a:t>
            </a:r>
            <a:r>
              <a:rPr lang="en" sz="4800">
                <a:solidFill>
                  <a:schemeClr val="dk1"/>
                </a:solidFill>
              </a:rPr>
              <a:t> – Backend development and authentication</a:t>
            </a:r>
            <a:endParaRPr sz="4800">
              <a:solidFill>
                <a:schemeClr val="dk1"/>
              </a:solidFill>
            </a:endParaRPr>
          </a:p>
          <a:p>
            <a:pPr indent="-304800" lvl="0" marL="457200" rtl="0" algn="l">
              <a:spcBef>
                <a:spcPts val="0"/>
              </a:spcBef>
              <a:spcAft>
                <a:spcPts val="0"/>
              </a:spcAft>
              <a:buClr>
                <a:schemeClr val="dk1"/>
              </a:buClr>
              <a:buSzPct val="100000"/>
              <a:buChar char="●"/>
            </a:pPr>
            <a:r>
              <a:rPr b="1" lang="en" sz="4800">
                <a:solidFill>
                  <a:schemeClr val="dk1"/>
                </a:solidFill>
              </a:rPr>
              <a:t>Jake Hewett</a:t>
            </a:r>
            <a:r>
              <a:rPr lang="en" sz="4800">
                <a:solidFill>
                  <a:schemeClr val="dk1"/>
                </a:solidFill>
              </a:rPr>
              <a:t> – Database architecture and administrative interface</a:t>
            </a:r>
            <a:endParaRPr sz="4800">
              <a:solidFill>
                <a:schemeClr val="dk1"/>
              </a:solidFill>
            </a:endParaRPr>
          </a:p>
          <a:p>
            <a:pPr indent="-304800" lvl="0" marL="457200" rtl="0" algn="l">
              <a:spcBef>
                <a:spcPts val="0"/>
              </a:spcBef>
              <a:spcAft>
                <a:spcPts val="0"/>
              </a:spcAft>
              <a:buClr>
                <a:schemeClr val="dk1"/>
              </a:buClr>
              <a:buSzPct val="100000"/>
              <a:buChar char="●"/>
            </a:pPr>
            <a:r>
              <a:rPr b="1" lang="en" sz="4800">
                <a:solidFill>
                  <a:schemeClr val="dk1"/>
                </a:solidFill>
              </a:rPr>
              <a:t>Jack Uehlinger</a:t>
            </a:r>
            <a:r>
              <a:rPr lang="en" sz="4800">
                <a:solidFill>
                  <a:schemeClr val="dk1"/>
                </a:solidFill>
              </a:rPr>
              <a:t> – Hardware and camera integration</a:t>
            </a:r>
            <a:endParaRPr sz="4800">
              <a:solidFill>
                <a:schemeClr val="dk1"/>
              </a:solidFill>
            </a:endParaRPr>
          </a:p>
          <a:p>
            <a:pPr indent="-304800" lvl="0" marL="457200" rtl="0" algn="l">
              <a:spcBef>
                <a:spcPts val="0"/>
              </a:spcBef>
              <a:spcAft>
                <a:spcPts val="0"/>
              </a:spcAft>
              <a:buClr>
                <a:schemeClr val="dk1"/>
              </a:buClr>
              <a:buSzPct val="100000"/>
              <a:buChar char="●"/>
            </a:pPr>
            <a:r>
              <a:rPr b="1" lang="en" sz="4800">
                <a:solidFill>
                  <a:schemeClr val="dk1"/>
                </a:solidFill>
              </a:rPr>
              <a:t>Jayden Pearson</a:t>
            </a:r>
            <a:r>
              <a:rPr lang="en" sz="4800">
                <a:solidFill>
                  <a:schemeClr val="dk1"/>
                </a:solidFill>
              </a:rPr>
              <a:t> – Mechanical design and enclosure development</a:t>
            </a:r>
            <a:endParaRPr sz="4800">
              <a:solidFill>
                <a:schemeClr val="dk1"/>
              </a:solidFill>
            </a:endParaRPr>
          </a:p>
          <a:p>
            <a:pPr indent="0" lvl="0" marL="0" rtl="0" algn="l">
              <a:spcBef>
                <a:spcPts val="1200"/>
              </a:spcBef>
              <a:spcAft>
                <a:spcPts val="0"/>
              </a:spcAft>
              <a:buNone/>
            </a:pPr>
            <a:r>
              <a:rPr lang="en" sz="4800">
                <a:solidFill>
                  <a:schemeClr val="dk1"/>
                </a:solidFill>
              </a:rPr>
              <a:t>This ensures </a:t>
            </a:r>
            <a:r>
              <a:rPr b="1" lang="en" sz="4800">
                <a:solidFill>
                  <a:schemeClr val="dk1"/>
                </a:solidFill>
              </a:rPr>
              <a:t>clear ownership of tasks and efficient development</a:t>
            </a:r>
            <a:r>
              <a:rPr lang="en" sz="4800">
                <a:solidFill>
                  <a:schemeClr val="dk1"/>
                </a:solidFill>
              </a:rPr>
              <a:t>.</a:t>
            </a:r>
            <a:endParaRPr sz="4800">
              <a:solidFill>
                <a:schemeClr val="dk1"/>
              </a:solidFill>
            </a:endParaRPr>
          </a:p>
          <a:p>
            <a:pPr indent="0" lvl="0" marL="0" rtl="0" algn="l">
              <a:spcBef>
                <a:spcPts val="1400"/>
              </a:spcBef>
              <a:spcAft>
                <a:spcPts val="0"/>
              </a:spcAft>
              <a:buNone/>
            </a:pPr>
            <a:r>
              <a:rPr b="1" lang="en" sz="4800">
                <a:solidFill>
                  <a:schemeClr val="dk1"/>
                </a:solidFill>
              </a:rPr>
              <a:t>Collaboration and Communication</a:t>
            </a:r>
            <a:endParaRPr b="1" sz="4800">
              <a:solidFill>
                <a:schemeClr val="dk1"/>
              </a:solidFill>
            </a:endParaRPr>
          </a:p>
          <a:p>
            <a:pPr indent="0" lvl="0" marL="0" rtl="0" algn="l">
              <a:spcBef>
                <a:spcPts val="1200"/>
              </a:spcBef>
              <a:spcAft>
                <a:spcPts val="0"/>
              </a:spcAft>
              <a:buNone/>
            </a:pPr>
            <a:r>
              <a:rPr lang="en" sz="4800">
                <a:solidFill>
                  <a:schemeClr val="dk1"/>
                </a:solidFill>
              </a:rPr>
              <a:t>The team maintains strong coordination through:</a:t>
            </a:r>
            <a:endParaRPr sz="4800">
              <a:solidFill>
                <a:schemeClr val="dk1"/>
              </a:solidFill>
            </a:endParaRPr>
          </a:p>
          <a:p>
            <a:pPr indent="-304800" lvl="0" marL="457200" rtl="0" algn="l">
              <a:spcBef>
                <a:spcPts val="1200"/>
              </a:spcBef>
              <a:spcAft>
                <a:spcPts val="0"/>
              </a:spcAft>
              <a:buClr>
                <a:schemeClr val="dk1"/>
              </a:buClr>
              <a:buSzPct val="100000"/>
              <a:buChar char="●"/>
            </a:pPr>
            <a:r>
              <a:rPr b="1" lang="en" sz="4800">
                <a:solidFill>
                  <a:schemeClr val="dk1"/>
                </a:solidFill>
              </a:rPr>
              <a:t>Weekly team meetings</a:t>
            </a:r>
            <a:r>
              <a:rPr lang="en" sz="4800">
                <a:solidFill>
                  <a:schemeClr val="dk1"/>
                </a:solidFill>
              </a:rPr>
              <a:t> to review progress and address issues</a:t>
            </a:r>
            <a:endParaRPr sz="4800">
              <a:solidFill>
                <a:schemeClr val="dk1"/>
              </a:solidFill>
            </a:endParaRPr>
          </a:p>
          <a:p>
            <a:pPr indent="-304800" lvl="0" marL="457200" rtl="0" algn="l">
              <a:spcBef>
                <a:spcPts val="0"/>
              </a:spcBef>
              <a:spcAft>
                <a:spcPts val="0"/>
              </a:spcAft>
              <a:buClr>
                <a:schemeClr val="dk1"/>
              </a:buClr>
              <a:buSzPct val="100000"/>
              <a:buChar char="●"/>
            </a:pPr>
            <a:r>
              <a:rPr b="1" lang="en" sz="4800">
                <a:solidFill>
                  <a:schemeClr val="dk1"/>
                </a:solidFill>
              </a:rPr>
              <a:t>GitHub</a:t>
            </a:r>
            <a:r>
              <a:rPr lang="en" sz="4800">
                <a:solidFill>
                  <a:schemeClr val="dk1"/>
                </a:solidFill>
              </a:rPr>
              <a:t> for version control and collaborative development</a:t>
            </a:r>
            <a:endParaRPr sz="4800">
              <a:solidFill>
                <a:schemeClr val="dk1"/>
              </a:solidFill>
            </a:endParaRPr>
          </a:p>
          <a:p>
            <a:pPr indent="-304800" lvl="0" marL="457200" rtl="0" algn="l">
              <a:spcBef>
                <a:spcPts val="0"/>
              </a:spcBef>
              <a:spcAft>
                <a:spcPts val="0"/>
              </a:spcAft>
              <a:buClr>
                <a:schemeClr val="dk1"/>
              </a:buClr>
              <a:buSzPct val="100000"/>
              <a:buChar char="●"/>
            </a:pPr>
            <a:r>
              <a:rPr b="1" lang="en" sz="4800">
                <a:solidFill>
                  <a:schemeClr val="dk1"/>
                </a:solidFill>
              </a:rPr>
              <a:t>Discord</a:t>
            </a:r>
            <a:r>
              <a:rPr lang="en" sz="4800">
                <a:solidFill>
                  <a:schemeClr val="dk1"/>
                </a:solidFill>
              </a:rPr>
              <a:t> for daily communication and troubleshooting</a:t>
            </a:r>
            <a:endParaRPr sz="4800">
              <a:solidFill>
                <a:schemeClr val="dk1"/>
              </a:solidFill>
            </a:endParaRPr>
          </a:p>
          <a:p>
            <a:pPr indent="-304800" lvl="0" marL="457200" rtl="0" algn="l">
              <a:spcBef>
                <a:spcPts val="0"/>
              </a:spcBef>
              <a:spcAft>
                <a:spcPts val="0"/>
              </a:spcAft>
              <a:buClr>
                <a:schemeClr val="dk1"/>
              </a:buClr>
              <a:buSzPct val="100000"/>
              <a:buChar char="●"/>
            </a:pPr>
            <a:r>
              <a:rPr b="1" lang="en" sz="4800">
                <a:solidFill>
                  <a:schemeClr val="dk1"/>
                </a:solidFill>
              </a:rPr>
              <a:t>Google Drive</a:t>
            </a:r>
            <a:r>
              <a:rPr lang="en" sz="4800">
                <a:solidFill>
                  <a:schemeClr val="dk1"/>
                </a:solidFill>
              </a:rPr>
              <a:t> for shared documentation and reports</a:t>
            </a:r>
            <a:endParaRPr sz="4800">
              <a:solidFill>
                <a:schemeClr val="dk1"/>
              </a:solidFill>
            </a:endParaRPr>
          </a:p>
          <a:p>
            <a:pPr indent="0" lvl="0" marL="0" rtl="0" algn="l">
              <a:spcBef>
                <a:spcPts val="1200"/>
              </a:spcBef>
              <a:spcAft>
                <a:spcPts val="1200"/>
              </a:spcAft>
              <a:buNone/>
            </a:pPr>
            <a:r>
              <a:t/>
            </a:r>
            <a:endParaRPr>
              <a:solidFill>
                <a:schemeClr val="dk1"/>
              </a:solidFill>
            </a:endParaRPr>
          </a:p>
        </p:txBody>
      </p:sp>
      <p:sp>
        <p:nvSpPr>
          <p:cNvPr id="223" name="Google Shape;223;p30"/>
          <p:cNvSpPr txBox="1"/>
          <p:nvPr>
            <p:ph idx="12" type="sldNum"/>
          </p:nvPr>
        </p:nvSpPr>
        <p:spPr>
          <a:xfrm>
            <a:off x="7236078" y="4663225"/>
            <a:ext cx="17853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CDR </a:t>
            </a:r>
            <a:r>
              <a:rPr lang="en">
                <a:solidFill>
                  <a:schemeClr val="lt1"/>
                </a:solidFill>
              </a:rPr>
              <a:t>Presentation - </a:t>
            </a:r>
            <a:fld id="{00000000-1234-1234-1234-123412341234}" type="slidenum">
              <a:rPr lang="en">
                <a:solidFill>
                  <a:schemeClr val="lt1"/>
                </a:solidFill>
              </a:rPr>
              <a:t>‹#›</a:t>
            </a:fld>
            <a:endParaRPr>
              <a:solidFill>
                <a:schemeClr val="lt1"/>
              </a:solidFill>
            </a:endParaRPr>
          </a:p>
        </p:txBody>
      </p:sp>
      <p:pic>
        <p:nvPicPr>
          <p:cNvPr id="224" name="Google Shape;224;p30" title="Screenshot 2026-03-10 at 6.14.31 PM.png"/>
          <p:cNvPicPr preferRelativeResize="0"/>
          <p:nvPr/>
        </p:nvPicPr>
        <p:blipFill rotWithShape="1">
          <a:blip r:embed="rId3">
            <a:alphaModFix/>
          </a:blip>
          <a:srcRect b="0" l="0" r="24602" t="0"/>
          <a:stretch/>
        </p:blipFill>
        <p:spPr>
          <a:xfrm>
            <a:off x="5543800" y="1916163"/>
            <a:ext cx="3288499" cy="1848625"/>
          </a:xfrm>
          <a:prstGeom prst="rect">
            <a:avLst/>
          </a:prstGeom>
          <a:noFill/>
          <a:ln>
            <a:noFill/>
          </a:ln>
        </p:spPr>
      </p:pic>
      <p:sp>
        <p:nvSpPr>
          <p:cNvPr id="225" name="Google Shape;225;p30"/>
          <p:cNvSpPr txBox="1"/>
          <p:nvPr/>
        </p:nvSpPr>
        <p:spPr>
          <a:xfrm>
            <a:off x="5688050" y="3708100"/>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800">
                <a:solidFill>
                  <a:schemeClr val="dk2"/>
                </a:solidFill>
              </a:rPr>
              <a:t>Screenshot of Github Repo</a:t>
            </a:r>
            <a:endParaRPr i="1" sz="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29" name="Shape 229"/>
        <p:cNvGrpSpPr/>
        <p:nvPr/>
      </p:nvGrpSpPr>
      <p:grpSpPr>
        <a:xfrm>
          <a:off x="0" y="0"/>
          <a:ext cx="0" cy="0"/>
          <a:chOff x="0" y="0"/>
          <a:chExt cx="0" cy="0"/>
        </a:xfrm>
      </p:grpSpPr>
      <p:sp>
        <p:nvSpPr>
          <p:cNvPr id="230" name="Google Shape;230;p31"/>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 name="Google Shape;231;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Evidence of Effective Teaming</a:t>
            </a:r>
            <a:r>
              <a:rPr b="1" lang="en" sz="2620">
                <a:solidFill>
                  <a:schemeClr val="lt1"/>
                </a:solidFill>
                <a:latin typeface="Atkinson Hyperlegible"/>
                <a:ea typeface="Atkinson Hyperlegible"/>
                <a:cs typeface="Atkinson Hyperlegible"/>
                <a:sym typeface="Atkinson Hyperlegible"/>
              </a:rPr>
              <a:t> - Gantt Chart</a:t>
            </a:r>
            <a:endParaRPr b="1" sz="2620">
              <a:solidFill>
                <a:schemeClr val="lt1"/>
              </a:solidFill>
              <a:latin typeface="Atkinson Hyperlegible"/>
              <a:ea typeface="Atkinson Hyperlegible"/>
              <a:cs typeface="Atkinson Hyperlegible"/>
              <a:sym typeface="Atkinson Hyperlegible"/>
            </a:endParaRPr>
          </a:p>
        </p:txBody>
      </p:sp>
      <p:sp>
        <p:nvSpPr>
          <p:cNvPr id="232" name="Google Shape;232;p31"/>
          <p:cNvSpPr txBox="1"/>
          <p:nvPr>
            <p:ph idx="1" type="body"/>
          </p:nvPr>
        </p:nvSpPr>
        <p:spPr>
          <a:xfrm>
            <a:off x="5871725" y="1152475"/>
            <a:ext cx="29607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Gantt Chart Shows tasks completed</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Red line is today</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All tasks are completed on time</a:t>
            </a:r>
            <a:endParaRPr>
              <a:solidFill>
                <a:schemeClr val="dk1"/>
              </a:solidFill>
            </a:endParaRPr>
          </a:p>
          <a:p>
            <a:pPr indent="0" lvl="0" marL="457200" rtl="0" algn="l">
              <a:spcBef>
                <a:spcPts val="1200"/>
              </a:spcBef>
              <a:spcAft>
                <a:spcPts val="1200"/>
              </a:spcAft>
              <a:buNone/>
            </a:pPr>
            <a:r>
              <a:t/>
            </a:r>
            <a:endParaRPr>
              <a:solidFill>
                <a:schemeClr val="dk1"/>
              </a:solidFill>
            </a:endParaRPr>
          </a:p>
        </p:txBody>
      </p:sp>
      <p:sp>
        <p:nvSpPr>
          <p:cNvPr id="233" name="Google Shape;233;p31"/>
          <p:cNvSpPr txBox="1"/>
          <p:nvPr>
            <p:ph idx="12" type="sldNum"/>
          </p:nvPr>
        </p:nvSpPr>
        <p:spPr>
          <a:xfrm>
            <a:off x="7236078" y="4663225"/>
            <a:ext cx="17853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CDR</a:t>
            </a:r>
            <a:r>
              <a:rPr lang="en">
                <a:solidFill>
                  <a:schemeClr val="lt1"/>
                </a:solidFill>
              </a:rPr>
              <a:t> Presentation - </a:t>
            </a:r>
            <a:fld id="{00000000-1234-1234-1234-123412341234}" type="slidenum">
              <a:rPr lang="en">
                <a:solidFill>
                  <a:schemeClr val="lt1"/>
                </a:solidFill>
              </a:rPr>
              <a:t>‹#›</a:t>
            </a:fld>
            <a:endParaRPr>
              <a:solidFill>
                <a:schemeClr val="lt1"/>
              </a:solidFill>
            </a:endParaRPr>
          </a:p>
        </p:txBody>
      </p:sp>
      <p:pic>
        <p:nvPicPr>
          <p:cNvPr id="234" name="Google Shape;234;p31"/>
          <p:cNvPicPr preferRelativeResize="0"/>
          <p:nvPr/>
        </p:nvPicPr>
        <p:blipFill rotWithShape="1">
          <a:blip r:embed="rId3">
            <a:alphaModFix/>
          </a:blip>
          <a:srcRect b="0" l="0" r="25021" t="0"/>
          <a:stretch/>
        </p:blipFill>
        <p:spPr>
          <a:xfrm>
            <a:off x="373000" y="1302377"/>
            <a:ext cx="5464650" cy="294334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38" name="Shape 238"/>
        <p:cNvGrpSpPr/>
        <p:nvPr/>
      </p:nvGrpSpPr>
      <p:grpSpPr>
        <a:xfrm>
          <a:off x="0" y="0"/>
          <a:ext cx="0" cy="0"/>
          <a:chOff x="0" y="0"/>
          <a:chExt cx="0" cy="0"/>
        </a:xfrm>
      </p:grpSpPr>
      <p:sp>
        <p:nvSpPr>
          <p:cNvPr id="239" name="Google Shape;239;p32"/>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0" name="Google Shape;240;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Preliminary Results</a:t>
            </a:r>
            <a:endParaRPr b="1" sz="2620">
              <a:solidFill>
                <a:schemeClr val="lt1"/>
              </a:solidFill>
              <a:latin typeface="Atkinson Hyperlegible"/>
              <a:ea typeface="Atkinson Hyperlegible"/>
              <a:cs typeface="Atkinson Hyperlegible"/>
              <a:sym typeface="Atkinson Hyperlegible"/>
            </a:endParaRPr>
          </a:p>
          <a:p>
            <a:pPr indent="0" lvl="0" marL="0" rtl="0" algn="l">
              <a:spcBef>
                <a:spcPts val="0"/>
              </a:spcBef>
              <a:spcAft>
                <a:spcPts val="0"/>
              </a:spcAft>
              <a:buSzPts val="990"/>
              <a:buNone/>
            </a:pPr>
            <a:r>
              <a:t/>
            </a:r>
            <a:endParaRPr b="1" sz="2620">
              <a:solidFill>
                <a:schemeClr val="lt1"/>
              </a:solidFill>
              <a:latin typeface="Atkinson Hyperlegible"/>
              <a:ea typeface="Atkinson Hyperlegible"/>
              <a:cs typeface="Atkinson Hyperlegible"/>
              <a:sym typeface="Atkinson Hyperlegible"/>
            </a:endParaRPr>
          </a:p>
        </p:txBody>
      </p:sp>
      <p:sp>
        <p:nvSpPr>
          <p:cNvPr id="241" name="Google Shape;241;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1400"/>
              </a:spcBef>
              <a:spcAft>
                <a:spcPts val="0"/>
              </a:spcAft>
              <a:buClr>
                <a:schemeClr val="dk1"/>
              </a:buClr>
              <a:buSzPts val="275"/>
              <a:buFont typeface="Arial"/>
              <a:buNone/>
            </a:pPr>
            <a:r>
              <a:rPr b="1" lang="en" sz="4900">
                <a:solidFill>
                  <a:schemeClr val="dk1"/>
                </a:solidFill>
              </a:rPr>
              <a:t>System Development Progress</a:t>
            </a:r>
            <a:endParaRPr b="1" sz="4900">
              <a:solidFill>
                <a:schemeClr val="dk1"/>
              </a:solidFill>
            </a:endParaRPr>
          </a:p>
          <a:p>
            <a:pPr indent="-306388" lvl="0" marL="457200" rtl="0" algn="l">
              <a:spcBef>
                <a:spcPts val="1200"/>
              </a:spcBef>
              <a:spcAft>
                <a:spcPts val="0"/>
              </a:spcAft>
              <a:buClr>
                <a:schemeClr val="dk1"/>
              </a:buClr>
              <a:buSzPct val="100000"/>
              <a:buChar char="●"/>
            </a:pPr>
            <a:r>
              <a:rPr lang="en" sz="4900">
                <a:solidFill>
                  <a:schemeClr val="dk1"/>
                </a:solidFill>
              </a:rPr>
              <a:t>Web-based interface developed using </a:t>
            </a:r>
            <a:r>
              <a:rPr b="1" lang="en" sz="4900">
                <a:solidFill>
                  <a:schemeClr val="dk1"/>
                </a:solidFill>
              </a:rPr>
              <a:t>React</a:t>
            </a:r>
            <a:endParaRPr b="1" sz="4900">
              <a:solidFill>
                <a:schemeClr val="dk1"/>
              </a:solidFill>
            </a:endParaRPr>
          </a:p>
          <a:p>
            <a:pPr indent="-306388" lvl="0" marL="457200" rtl="0" algn="l">
              <a:spcBef>
                <a:spcPts val="0"/>
              </a:spcBef>
              <a:spcAft>
                <a:spcPts val="0"/>
              </a:spcAft>
              <a:buClr>
                <a:schemeClr val="dk1"/>
              </a:buClr>
              <a:buSzPct val="100000"/>
              <a:buChar char="●"/>
            </a:pPr>
            <a:r>
              <a:rPr lang="en" sz="4900">
                <a:solidFill>
                  <a:schemeClr val="dk1"/>
                </a:solidFill>
              </a:rPr>
              <a:t>Major pages implemented:</a:t>
            </a:r>
            <a:endParaRPr sz="4900">
              <a:solidFill>
                <a:schemeClr val="dk1"/>
              </a:solidFill>
            </a:endParaRPr>
          </a:p>
          <a:p>
            <a:pPr indent="-306388" lvl="1" marL="914400" rtl="0" algn="l">
              <a:spcBef>
                <a:spcPts val="0"/>
              </a:spcBef>
              <a:spcAft>
                <a:spcPts val="0"/>
              </a:spcAft>
              <a:buClr>
                <a:schemeClr val="dk1"/>
              </a:buClr>
              <a:buSzPct val="100000"/>
              <a:buChar char="○"/>
            </a:pPr>
            <a:r>
              <a:rPr lang="en" sz="4900">
                <a:solidFill>
                  <a:schemeClr val="dk1"/>
                </a:solidFill>
              </a:rPr>
              <a:t>Landing page</a:t>
            </a:r>
            <a:endParaRPr sz="4900">
              <a:solidFill>
                <a:schemeClr val="dk1"/>
              </a:solidFill>
            </a:endParaRPr>
          </a:p>
          <a:p>
            <a:pPr indent="-306388" lvl="1" marL="914400" rtl="0" algn="l">
              <a:spcBef>
                <a:spcPts val="0"/>
              </a:spcBef>
              <a:spcAft>
                <a:spcPts val="0"/>
              </a:spcAft>
              <a:buClr>
                <a:schemeClr val="dk1"/>
              </a:buClr>
              <a:buSzPct val="100000"/>
              <a:buChar char="○"/>
            </a:pPr>
            <a:r>
              <a:rPr lang="en" sz="4900">
                <a:solidFill>
                  <a:schemeClr val="dk1"/>
                </a:solidFill>
              </a:rPr>
              <a:t>Parent portal</a:t>
            </a:r>
            <a:endParaRPr sz="4900">
              <a:solidFill>
                <a:schemeClr val="dk1"/>
              </a:solidFill>
            </a:endParaRPr>
          </a:p>
          <a:p>
            <a:pPr indent="-306388" lvl="1" marL="914400" rtl="0" algn="l">
              <a:spcBef>
                <a:spcPts val="0"/>
              </a:spcBef>
              <a:spcAft>
                <a:spcPts val="0"/>
              </a:spcAft>
              <a:buClr>
                <a:schemeClr val="dk1"/>
              </a:buClr>
              <a:buSzPct val="100000"/>
              <a:buChar char="○"/>
            </a:pPr>
            <a:r>
              <a:rPr lang="en" sz="4900">
                <a:solidFill>
                  <a:schemeClr val="dk1"/>
                </a:solidFill>
              </a:rPr>
              <a:t>Administrative pages</a:t>
            </a:r>
            <a:endParaRPr sz="4900">
              <a:solidFill>
                <a:schemeClr val="dk1"/>
              </a:solidFill>
            </a:endParaRPr>
          </a:p>
          <a:p>
            <a:pPr indent="-306388" lvl="1" marL="914400" rtl="0" algn="l">
              <a:spcBef>
                <a:spcPts val="0"/>
              </a:spcBef>
              <a:spcAft>
                <a:spcPts val="0"/>
              </a:spcAft>
              <a:buClr>
                <a:schemeClr val="dk1"/>
              </a:buClr>
              <a:buSzPct val="100000"/>
              <a:buChar char="○"/>
            </a:pPr>
            <a:r>
              <a:rPr lang="en" sz="4900">
                <a:solidFill>
                  <a:schemeClr val="dk1"/>
                </a:solidFill>
              </a:rPr>
              <a:t>Kids pickup module</a:t>
            </a:r>
            <a:endParaRPr sz="4900">
              <a:solidFill>
                <a:schemeClr val="dk1"/>
              </a:solidFill>
            </a:endParaRPr>
          </a:p>
          <a:p>
            <a:pPr indent="-306388" lvl="0" marL="457200" rtl="0" algn="l">
              <a:spcBef>
                <a:spcPts val="0"/>
              </a:spcBef>
              <a:spcAft>
                <a:spcPts val="0"/>
              </a:spcAft>
              <a:buClr>
                <a:schemeClr val="dk1"/>
              </a:buClr>
              <a:buSzPct val="100000"/>
              <a:buChar char="●"/>
            </a:pPr>
            <a:r>
              <a:rPr lang="en" sz="4900">
                <a:solidFill>
                  <a:schemeClr val="dk1"/>
                </a:solidFill>
              </a:rPr>
              <a:t>Website successfully deployed and connected to </a:t>
            </a:r>
            <a:r>
              <a:rPr b="1" lang="en" sz="4900">
                <a:solidFill>
                  <a:schemeClr val="dk1"/>
                </a:solidFill>
              </a:rPr>
              <a:t>database.</a:t>
            </a:r>
            <a:endParaRPr b="1" sz="4900">
              <a:solidFill>
                <a:schemeClr val="dk1"/>
              </a:solidFill>
            </a:endParaRPr>
          </a:p>
          <a:p>
            <a:pPr indent="0" lvl="0" marL="0" rtl="0" algn="l">
              <a:spcBef>
                <a:spcPts val="1400"/>
              </a:spcBef>
              <a:spcAft>
                <a:spcPts val="0"/>
              </a:spcAft>
              <a:buNone/>
            </a:pPr>
            <a:r>
              <a:rPr b="1" lang="en" sz="4900">
                <a:solidFill>
                  <a:schemeClr val="dk1"/>
                </a:solidFill>
              </a:rPr>
              <a:t>Parent Portal Functionality</a:t>
            </a:r>
            <a:endParaRPr b="1" sz="4900">
              <a:solidFill>
                <a:schemeClr val="dk1"/>
              </a:solidFill>
            </a:endParaRPr>
          </a:p>
          <a:p>
            <a:pPr indent="-306388" lvl="0" marL="457200" rtl="0" algn="l">
              <a:spcBef>
                <a:spcPts val="1200"/>
              </a:spcBef>
              <a:spcAft>
                <a:spcPts val="0"/>
              </a:spcAft>
              <a:buClr>
                <a:schemeClr val="dk1"/>
              </a:buClr>
              <a:buSzPct val="100000"/>
              <a:buChar char="●"/>
            </a:pPr>
            <a:r>
              <a:rPr b="1" lang="en" sz="4900">
                <a:solidFill>
                  <a:schemeClr val="dk1"/>
                </a:solidFill>
              </a:rPr>
              <a:t>Google authentication</a:t>
            </a:r>
            <a:r>
              <a:rPr lang="en" sz="4900">
                <a:solidFill>
                  <a:schemeClr val="dk1"/>
                </a:solidFill>
              </a:rPr>
              <a:t> implemented for secure login</a:t>
            </a:r>
            <a:endParaRPr sz="4900">
              <a:solidFill>
                <a:schemeClr val="dk1"/>
              </a:solidFill>
            </a:endParaRPr>
          </a:p>
          <a:p>
            <a:pPr indent="-306388" lvl="0" marL="457200" rtl="0" algn="l">
              <a:spcBef>
                <a:spcPts val="0"/>
              </a:spcBef>
              <a:spcAft>
                <a:spcPts val="0"/>
              </a:spcAft>
              <a:buClr>
                <a:schemeClr val="dk1"/>
              </a:buClr>
              <a:buSzPct val="100000"/>
              <a:buChar char="●"/>
            </a:pPr>
            <a:r>
              <a:rPr lang="en" sz="4900">
                <a:solidFill>
                  <a:schemeClr val="dk1"/>
                </a:solidFill>
              </a:rPr>
              <a:t>Parents can:</a:t>
            </a:r>
            <a:endParaRPr sz="4900">
              <a:solidFill>
                <a:schemeClr val="dk1"/>
              </a:solidFill>
            </a:endParaRPr>
          </a:p>
          <a:p>
            <a:pPr indent="-306388" lvl="1" marL="914400" rtl="0" algn="l">
              <a:spcBef>
                <a:spcPts val="0"/>
              </a:spcBef>
              <a:spcAft>
                <a:spcPts val="0"/>
              </a:spcAft>
              <a:buClr>
                <a:schemeClr val="dk1"/>
              </a:buClr>
              <a:buSzPct val="100000"/>
              <a:buChar char="○"/>
            </a:pPr>
            <a:r>
              <a:rPr lang="en" sz="4900">
                <a:solidFill>
                  <a:schemeClr val="dk1"/>
                </a:solidFill>
              </a:rPr>
              <a:t>Register student information</a:t>
            </a:r>
            <a:endParaRPr sz="4900">
              <a:solidFill>
                <a:schemeClr val="dk1"/>
              </a:solidFill>
            </a:endParaRPr>
          </a:p>
          <a:p>
            <a:pPr indent="-306388" lvl="1" marL="914400" rtl="0" algn="l">
              <a:spcBef>
                <a:spcPts val="0"/>
              </a:spcBef>
              <a:spcAft>
                <a:spcPts val="0"/>
              </a:spcAft>
              <a:buClr>
                <a:schemeClr val="dk1"/>
              </a:buClr>
              <a:buSzPct val="100000"/>
              <a:buChar char="○"/>
            </a:pPr>
            <a:r>
              <a:rPr lang="en" sz="4900">
                <a:solidFill>
                  <a:schemeClr val="dk1"/>
                </a:solidFill>
              </a:rPr>
              <a:t>Update license plate details</a:t>
            </a:r>
            <a:endParaRPr sz="4900">
              <a:solidFill>
                <a:schemeClr val="dk1"/>
              </a:solidFill>
            </a:endParaRPr>
          </a:p>
          <a:p>
            <a:pPr indent="-306388" lvl="1" marL="914400" rtl="0" algn="l">
              <a:spcBef>
                <a:spcPts val="0"/>
              </a:spcBef>
              <a:spcAft>
                <a:spcPts val="0"/>
              </a:spcAft>
              <a:buClr>
                <a:schemeClr val="dk1"/>
              </a:buClr>
              <a:buSzPct val="100000"/>
              <a:buChar char="○"/>
            </a:pPr>
            <a:r>
              <a:rPr lang="en" sz="4900">
                <a:solidFill>
                  <a:schemeClr val="dk1"/>
                </a:solidFill>
              </a:rPr>
              <a:t>View student pickup status</a:t>
            </a:r>
            <a:endParaRPr sz="4900">
              <a:solidFill>
                <a:schemeClr val="dk1"/>
              </a:solidFill>
            </a:endParaRPr>
          </a:p>
          <a:p>
            <a:pPr indent="-306388" lvl="0" marL="457200" rtl="0" algn="l">
              <a:spcBef>
                <a:spcPts val="0"/>
              </a:spcBef>
              <a:spcAft>
                <a:spcPts val="0"/>
              </a:spcAft>
              <a:buClr>
                <a:schemeClr val="dk1"/>
              </a:buClr>
              <a:buSzPct val="100000"/>
              <a:buChar char="●"/>
            </a:pPr>
            <a:r>
              <a:rPr lang="en" sz="4900">
                <a:solidFill>
                  <a:schemeClr val="dk1"/>
                </a:solidFill>
              </a:rPr>
              <a:t>Website successfully </a:t>
            </a:r>
            <a:r>
              <a:rPr b="1" lang="en" sz="4900">
                <a:solidFill>
                  <a:schemeClr val="dk1"/>
                </a:solidFill>
              </a:rPr>
              <a:t>reads and writes data to the database</a:t>
            </a:r>
            <a:endParaRPr b="1" sz="4900">
              <a:solidFill>
                <a:schemeClr val="dk1"/>
              </a:solidFill>
            </a:endParaRPr>
          </a:p>
          <a:p>
            <a:pPr indent="0" lvl="0" marL="0" rtl="0" algn="l">
              <a:spcBef>
                <a:spcPts val="1200"/>
              </a:spcBef>
              <a:spcAft>
                <a:spcPts val="1200"/>
              </a:spcAft>
              <a:buNone/>
            </a:pPr>
            <a:r>
              <a:t/>
            </a:r>
            <a:endParaRPr>
              <a:solidFill>
                <a:schemeClr val="dk1"/>
              </a:solidFill>
            </a:endParaRPr>
          </a:p>
        </p:txBody>
      </p:sp>
      <p:sp>
        <p:nvSpPr>
          <p:cNvPr id="242" name="Google Shape;242;p32"/>
          <p:cNvSpPr txBox="1"/>
          <p:nvPr>
            <p:ph idx="12" type="sldNum"/>
          </p:nvPr>
        </p:nvSpPr>
        <p:spPr>
          <a:xfrm>
            <a:off x="7258053" y="4663225"/>
            <a:ext cx="17631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CDR</a:t>
            </a:r>
            <a:r>
              <a:rPr lang="en">
                <a:solidFill>
                  <a:schemeClr val="lt1"/>
                </a:solidFill>
              </a:rPr>
              <a:t> Presentation - </a:t>
            </a:r>
            <a:fld id="{00000000-1234-1234-1234-123412341234}" type="slidenum">
              <a:rPr lang="en">
                <a:solidFill>
                  <a:schemeClr val="lt1"/>
                </a:solidFill>
              </a:rPr>
              <a:t>‹#›</a:t>
            </a:fld>
            <a:endParaRPr>
              <a:solidFill>
                <a:schemeClr val="lt1"/>
              </a:solidFill>
            </a:endParaRPr>
          </a:p>
        </p:txBody>
      </p:sp>
      <p:pic>
        <p:nvPicPr>
          <p:cNvPr id="243" name="Google Shape;243;p32" title="Screenshot 2026-03-10 at 6.05.11 PM.png"/>
          <p:cNvPicPr preferRelativeResize="0"/>
          <p:nvPr/>
        </p:nvPicPr>
        <p:blipFill>
          <a:blip r:embed="rId3">
            <a:alphaModFix/>
          </a:blip>
          <a:stretch>
            <a:fillRect/>
          </a:stretch>
        </p:blipFill>
        <p:spPr>
          <a:xfrm>
            <a:off x="5337775" y="1519675"/>
            <a:ext cx="3494523" cy="1977651"/>
          </a:xfrm>
          <a:prstGeom prst="rect">
            <a:avLst/>
          </a:prstGeom>
          <a:noFill/>
          <a:ln>
            <a:noFill/>
          </a:ln>
        </p:spPr>
      </p:pic>
      <p:sp>
        <p:nvSpPr>
          <p:cNvPr id="244" name="Google Shape;244;p32"/>
          <p:cNvSpPr txBox="1"/>
          <p:nvPr/>
        </p:nvSpPr>
        <p:spPr>
          <a:xfrm>
            <a:off x="5337838" y="3426150"/>
            <a:ext cx="3494400" cy="26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800">
                <a:solidFill>
                  <a:schemeClr val="dk2"/>
                </a:solidFill>
              </a:rPr>
              <a:t>Account creation page of the website to enter </a:t>
            </a:r>
            <a:r>
              <a:rPr i="1" lang="en" sz="800">
                <a:solidFill>
                  <a:schemeClr val="dk2"/>
                </a:solidFill>
              </a:rPr>
              <a:t>required </a:t>
            </a:r>
            <a:r>
              <a:rPr i="1" lang="en" sz="800">
                <a:solidFill>
                  <a:schemeClr val="dk2"/>
                </a:solidFill>
              </a:rPr>
              <a:t>info and create new accounts.</a:t>
            </a:r>
            <a:endParaRPr i="1" sz="8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48" name="Shape 248"/>
        <p:cNvGrpSpPr/>
        <p:nvPr/>
      </p:nvGrpSpPr>
      <p:grpSpPr>
        <a:xfrm>
          <a:off x="0" y="0"/>
          <a:ext cx="0" cy="0"/>
          <a:chOff x="0" y="0"/>
          <a:chExt cx="0" cy="0"/>
        </a:xfrm>
      </p:grpSpPr>
      <p:sp>
        <p:nvSpPr>
          <p:cNvPr id="249" name="Google Shape;249;p33"/>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0" name="Google Shape;250;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Preliminary Results</a:t>
            </a:r>
            <a:endParaRPr b="1" sz="2620">
              <a:solidFill>
                <a:schemeClr val="lt1"/>
              </a:solidFill>
              <a:latin typeface="Atkinson Hyperlegible"/>
              <a:ea typeface="Atkinson Hyperlegible"/>
              <a:cs typeface="Atkinson Hyperlegible"/>
              <a:sym typeface="Atkinson Hyperlegible"/>
            </a:endParaRPr>
          </a:p>
          <a:p>
            <a:pPr indent="0" lvl="0" marL="0" rtl="0" algn="l">
              <a:spcBef>
                <a:spcPts val="0"/>
              </a:spcBef>
              <a:spcAft>
                <a:spcPts val="0"/>
              </a:spcAft>
              <a:buSzPts val="990"/>
              <a:buNone/>
            </a:pPr>
            <a:r>
              <a:t/>
            </a:r>
            <a:endParaRPr b="1" sz="2620">
              <a:solidFill>
                <a:schemeClr val="lt1"/>
              </a:solidFill>
              <a:latin typeface="Atkinson Hyperlegible"/>
              <a:ea typeface="Atkinson Hyperlegible"/>
              <a:cs typeface="Atkinson Hyperlegible"/>
              <a:sym typeface="Atkinson Hyperlegible"/>
            </a:endParaRPr>
          </a:p>
        </p:txBody>
      </p:sp>
      <p:sp>
        <p:nvSpPr>
          <p:cNvPr id="251" name="Google Shape;251;p33"/>
          <p:cNvSpPr txBox="1"/>
          <p:nvPr>
            <p:ph idx="1" type="body"/>
          </p:nvPr>
        </p:nvSpPr>
        <p:spPr>
          <a:xfrm>
            <a:off x="311700" y="101772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Clr>
                <a:schemeClr val="dk1"/>
              </a:buClr>
              <a:buSzPts val="275"/>
              <a:buFont typeface="Arial"/>
              <a:buNone/>
            </a:pPr>
            <a:r>
              <a:rPr b="1" lang="en" sz="4800">
                <a:solidFill>
                  <a:schemeClr val="dk1"/>
                </a:solidFill>
              </a:rPr>
              <a:t>Database Implementation</a:t>
            </a:r>
            <a:endParaRPr b="1" sz="4800">
              <a:solidFill>
                <a:schemeClr val="dk1"/>
              </a:solidFill>
            </a:endParaRPr>
          </a:p>
          <a:p>
            <a:pPr indent="-304800" lvl="0" marL="457200" rtl="0" algn="l">
              <a:spcBef>
                <a:spcPts val="1000"/>
              </a:spcBef>
              <a:spcAft>
                <a:spcPts val="0"/>
              </a:spcAft>
              <a:buClr>
                <a:schemeClr val="dk1"/>
              </a:buClr>
              <a:buSzPct val="100000"/>
              <a:buChar char="●"/>
            </a:pPr>
            <a:r>
              <a:rPr lang="en" sz="4800">
                <a:solidFill>
                  <a:schemeClr val="dk1"/>
                </a:solidFill>
              </a:rPr>
              <a:t>PostgreSQL database created using </a:t>
            </a:r>
            <a:r>
              <a:rPr b="1" lang="en" sz="4800">
                <a:solidFill>
                  <a:schemeClr val="dk1"/>
                </a:solidFill>
              </a:rPr>
              <a:t>Supabase</a:t>
            </a:r>
            <a:endParaRPr b="1" sz="4800">
              <a:solidFill>
                <a:schemeClr val="dk1"/>
              </a:solidFill>
            </a:endParaRPr>
          </a:p>
          <a:p>
            <a:pPr indent="-304800" lvl="0" marL="457200" rtl="0" algn="l">
              <a:spcBef>
                <a:spcPts val="0"/>
              </a:spcBef>
              <a:spcAft>
                <a:spcPts val="0"/>
              </a:spcAft>
              <a:buClr>
                <a:schemeClr val="dk1"/>
              </a:buClr>
              <a:buSzPct val="100000"/>
              <a:buChar char="●"/>
            </a:pPr>
            <a:r>
              <a:rPr lang="en" sz="4800">
                <a:solidFill>
                  <a:schemeClr val="dk1"/>
                </a:solidFill>
              </a:rPr>
              <a:t>Tables implemented for:</a:t>
            </a:r>
            <a:endParaRPr sz="4800">
              <a:solidFill>
                <a:schemeClr val="dk1"/>
              </a:solidFill>
            </a:endParaRPr>
          </a:p>
          <a:p>
            <a:pPr indent="-304800" lvl="1" marL="914400" rtl="0" algn="l">
              <a:spcBef>
                <a:spcPts val="0"/>
              </a:spcBef>
              <a:spcAft>
                <a:spcPts val="0"/>
              </a:spcAft>
              <a:buClr>
                <a:schemeClr val="dk1"/>
              </a:buClr>
              <a:buSzPct val="100000"/>
              <a:buChar char="○"/>
            </a:pPr>
            <a:r>
              <a:rPr lang="en" sz="4800">
                <a:solidFill>
                  <a:schemeClr val="dk1"/>
                </a:solidFill>
              </a:rPr>
              <a:t>Parent accounts</a:t>
            </a:r>
            <a:endParaRPr sz="4800">
              <a:solidFill>
                <a:schemeClr val="dk1"/>
              </a:solidFill>
            </a:endParaRPr>
          </a:p>
          <a:p>
            <a:pPr indent="-304800" lvl="1" marL="914400" rtl="0" algn="l">
              <a:spcBef>
                <a:spcPts val="0"/>
              </a:spcBef>
              <a:spcAft>
                <a:spcPts val="0"/>
              </a:spcAft>
              <a:buClr>
                <a:schemeClr val="dk1"/>
              </a:buClr>
              <a:buSzPct val="100000"/>
              <a:buChar char="○"/>
            </a:pPr>
            <a:r>
              <a:rPr lang="en" sz="4800">
                <a:solidFill>
                  <a:schemeClr val="dk1"/>
                </a:solidFill>
              </a:rPr>
              <a:t>Student records</a:t>
            </a:r>
            <a:endParaRPr sz="4800">
              <a:solidFill>
                <a:schemeClr val="dk1"/>
              </a:solidFill>
            </a:endParaRPr>
          </a:p>
          <a:p>
            <a:pPr indent="-304800" lvl="1" marL="914400" rtl="0" algn="l">
              <a:spcBef>
                <a:spcPts val="0"/>
              </a:spcBef>
              <a:spcAft>
                <a:spcPts val="0"/>
              </a:spcAft>
              <a:buClr>
                <a:schemeClr val="dk1"/>
              </a:buClr>
              <a:buSzPct val="100000"/>
              <a:buChar char="○"/>
            </a:pPr>
            <a:r>
              <a:rPr lang="en" sz="4800">
                <a:solidFill>
                  <a:schemeClr val="dk1"/>
                </a:solidFill>
              </a:rPr>
              <a:t>Parent–student relationships</a:t>
            </a:r>
            <a:endParaRPr sz="4800">
              <a:solidFill>
                <a:schemeClr val="dk1"/>
              </a:solidFill>
            </a:endParaRPr>
          </a:p>
          <a:p>
            <a:pPr indent="-304800" lvl="1" marL="914400" rtl="0" algn="l">
              <a:spcBef>
                <a:spcPts val="0"/>
              </a:spcBef>
              <a:spcAft>
                <a:spcPts val="0"/>
              </a:spcAft>
              <a:buClr>
                <a:schemeClr val="dk1"/>
              </a:buClr>
              <a:buSzPct val="100000"/>
              <a:buChar char="○"/>
            </a:pPr>
            <a:r>
              <a:rPr lang="en" sz="4800">
                <a:solidFill>
                  <a:schemeClr val="dk1"/>
                </a:solidFill>
              </a:rPr>
              <a:t>Pickup status tracking</a:t>
            </a:r>
            <a:endParaRPr sz="4800">
              <a:solidFill>
                <a:schemeClr val="dk1"/>
              </a:solidFill>
            </a:endParaRPr>
          </a:p>
          <a:p>
            <a:pPr indent="-304800" lvl="0" marL="457200" rtl="0" algn="l">
              <a:spcBef>
                <a:spcPts val="0"/>
              </a:spcBef>
              <a:spcAft>
                <a:spcPts val="0"/>
              </a:spcAft>
              <a:buClr>
                <a:schemeClr val="dk1"/>
              </a:buClr>
              <a:buSzPct val="100000"/>
              <a:buChar char="●"/>
            </a:pPr>
            <a:r>
              <a:rPr lang="en" sz="4800">
                <a:solidFill>
                  <a:schemeClr val="dk1"/>
                </a:solidFill>
              </a:rPr>
              <a:t>System successfully </a:t>
            </a:r>
            <a:r>
              <a:rPr b="1" lang="en" sz="4800">
                <a:solidFill>
                  <a:schemeClr val="dk1"/>
                </a:solidFill>
              </a:rPr>
              <a:t>inserts, retrieves, and updates records</a:t>
            </a:r>
            <a:endParaRPr b="1" sz="4800">
              <a:solidFill>
                <a:schemeClr val="dk1"/>
              </a:solidFill>
            </a:endParaRPr>
          </a:p>
          <a:p>
            <a:pPr indent="0" lvl="0" marL="0" rtl="0" algn="l">
              <a:spcBef>
                <a:spcPts val="1400"/>
              </a:spcBef>
              <a:spcAft>
                <a:spcPts val="0"/>
              </a:spcAft>
              <a:buNone/>
            </a:pPr>
            <a:r>
              <a:rPr b="1" lang="en" sz="4800">
                <a:solidFill>
                  <a:schemeClr val="dk1"/>
                </a:solidFill>
              </a:rPr>
              <a:t>Hardware Progress</a:t>
            </a:r>
            <a:endParaRPr b="1" sz="4800">
              <a:solidFill>
                <a:schemeClr val="dk1"/>
              </a:solidFill>
            </a:endParaRPr>
          </a:p>
          <a:p>
            <a:pPr indent="-304800" lvl="0" marL="457200" rtl="0" algn="l">
              <a:spcBef>
                <a:spcPts val="1000"/>
              </a:spcBef>
              <a:spcAft>
                <a:spcPts val="0"/>
              </a:spcAft>
              <a:buClr>
                <a:schemeClr val="dk1"/>
              </a:buClr>
              <a:buSzPct val="100000"/>
              <a:buChar char="●"/>
            </a:pPr>
            <a:r>
              <a:rPr b="1" lang="en" sz="4800">
                <a:solidFill>
                  <a:schemeClr val="dk1"/>
                </a:solidFill>
              </a:rPr>
              <a:t>Raspberry Pi configured and connected via SSH</a:t>
            </a:r>
            <a:endParaRPr b="1" sz="4800">
              <a:solidFill>
                <a:schemeClr val="dk1"/>
              </a:solidFill>
            </a:endParaRPr>
          </a:p>
          <a:p>
            <a:pPr indent="-304800" lvl="0" marL="457200" rtl="0" algn="l">
              <a:spcBef>
                <a:spcPts val="0"/>
              </a:spcBef>
              <a:spcAft>
                <a:spcPts val="0"/>
              </a:spcAft>
              <a:buClr>
                <a:schemeClr val="dk1"/>
              </a:buClr>
              <a:buSzPct val="100000"/>
              <a:buChar char="●"/>
            </a:pPr>
            <a:r>
              <a:rPr lang="en" sz="4800">
                <a:solidFill>
                  <a:schemeClr val="dk1"/>
                </a:solidFill>
              </a:rPr>
              <a:t>Camera module installed and tested</a:t>
            </a:r>
            <a:endParaRPr sz="4800">
              <a:solidFill>
                <a:schemeClr val="dk1"/>
              </a:solidFill>
            </a:endParaRPr>
          </a:p>
          <a:p>
            <a:pPr indent="-304800" lvl="0" marL="457200" rtl="0" algn="l">
              <a:spcBef>
                <a:spcPts val="0"/>
              </a:spcBef>
              <a:spcAft>
                <a:spcPts val="0"/>
              </a:spcAft>
              <a:buClr>
                <a:schemeClr val="dk1"/>
              </a:buClr>
              <a:buSzPct val="100000"/>
              <a:buChar char="●"/>
            </a:pPr>
            <a:r>
              <a:rPr lang="en" sz="4800">
                <a:solidFill>
                  <a:schemeClr val="dk1"/>
                </a:solidFill>
              </a:rPr>
              <a:t>System can </a:t>
            </a:r>
            <a:r>
              <a:rPr b="1" lang="en" sz="4800">
                <a:solidFill>
                  <a:schemeClr val="dk1"/>
                </a:solidFill>
              </a:rPr>
              <a:t>process images and detect license plates</a:t>
            </a:r>
            <a:endParaRPr b="1" sz="4800">
              <a:solidFill>
                <a:schemeClr val="dk1"/>
              </a:solidFill>
            </a:endParaRPr>
          </a:p>
          <a:p>
            <a:pPr indent="0" lvl="0" marL="0" rtl="0" algn="l">
              <a:spcBef>
                <a:spcPts val="1400"/>
              </a:spcBef>
              <a:spcAft>
                <a:spcPts val="0"/>
              </a:spcAft>
              <a:buNone/>
            </a:pPr>
            <a:r>
              <a:rPr b="1" lang="en" sz="4800">
                <a:solidFill>
                  <a:schemeClr val="dk1"/>
                </a:solidFill>
              </a:rPr>
              <a:t>Mechanical Development</a:t>
            </a:r>
            <a:endParaRPr b="1" sz="4800">
              <a:solidFill>
                <a:schemeClr val="dk1"/>
              </a:solidFill>
            </a:endParaRPr>
          </a:p>
          <a:p>
            <a:pPr indent="-304800" lvl="0" marL="457200" rtl="0" algn="l">
              <a:spcBef>
                <a:spcPts val="1200"/>
              </a:spcBef>
              <a:spcAft>
                <a:spcPts val="0"/>
              </a:spcAft>
              <a:buClr>
                <a:schemeClr val="dk1"/>
              </a:buClr>
              <a:buSzPct val="100000"/>
              <a:buChar char="●"/>
            </a:pPr>
            <a:r>
              <a:rPr lang="en" sz="4800">
                <a:solidFill>
                  <a:schemeClr val="dk1"/>
                </a:solidFill>
              </a:rPr>
              <a:t>CAD models created for device housing</a:t>
            </a:r>
            <a:endParaRPr sz="4800">
              <a:solidFill>
                <a:schemeClr val="dk1"/>
              </a:solidFill>
            </a:endParaRPr>
          </a:p>
          <a:p>
            <a:pPr indent="-304800" lvl="0" marL="457200" rtl="0" algn="l">
              <a:spcBef>
                <a:spcPts val="0"/>
              </a:spcBef>
              <a:spcAft>
                <a:spcPts val="0"/>
              </a:spcAft>
              <a:buClr>
                <a:schemeClr val="dk1"/>
              </a:buClr>
              <a:buSzPct val="100000"/>
              <a:buChar char="●"/>
            </a:pPr>
            <a:r>
              <a:rPr lang="en" sz="4800">
                <a:solidFill>
                  <a:schemeClr val="dk1"/>
                </a:solidFill>
              </a:rPr>
              <a:t>Measurements completed for hardware mounting</a:t>
            </a:r>
            <a:endParaRPr sz="4800">
              <a:solidFill>
                <a:schemeClr val="dk1"/>
              </a:solidFill>
            </a:endParaRPr>
          </a:p>
          <a:p>
            <a:pPr indent="-304800" lvl="0" marL="457200" rtl="0" algn="l">
              <a:spcBef>
                <a:spcPts val="0"/>
              </a:spcBef>
              <a:spcAft>
                <a:spcPts val="0"/>
              </a:spcAft>
              <a:buClr>
                <a:schemeClr val="dk1"/>
              </a:buClr>
              <a:buSzPct val="100000"/>
              <a:buChar char="●"/>
            </a:pPr>
            <a:r>
              <a:rPr lang="en" sz="4800">
                <a:solidFill>
                  <a:schemeClr val="dk1"/>
                </a:solidFill>
              </a:rPr>
              <a:t>Prototype enclosure design in progress</a:t>
            </a:r>
            <a:endParaRPr sz="4800">
              <a:solidFill>
                <a:schemeClr val="dk1"/>
              </a:solidFill>
            </a:endParaRPr>
          </a:p>
          <a:p>
            <a:pPr indent="0" lvl="0" marL="457200" rtl="0" algn="l">
              <a:spcBef>
                <a:spcPts val="1200"/>
              </a:spcBef>
              <a:spcAft>
                <a:spcPts val="0"/>
              </a:spcAft>
              <a:buNone/>
            </a:pPr>
            <a:r>
              <a:t/>
            </a:r>
            <a:endParaRPr b="1" sz="4900">
              <a:solidFill>
                <a:schemeClr val="dk1"/>
              </a:solidFill>
            </a:endParaRPr>
          </a:p>
          <a:p>
            <a:pPr indent="0" lvl="0" marL="0" rtl="0" algn="l">
              <a:spcBef>
                <a:spcPts val="1200"/>
              </a:spcBef>
              <a:spcAft>
                <a:spcPts val="1200"/>
              </a:spcAft>
              <a:buNone/>
            </a:pPr>
            <a:r>
              <a:t/>
            </a:r>
            <a:endParaRPr>
              <a:solidFill>
                <a:schemeClr val="dk1"/>
              </a:solidFill>
            </a:endParaRPr>
          </a:p>
        </p:txBody>
      </p:sp>
      <p:sp>
        <p:nvSpPr>
          <p:cNvPr id="252" name="Google Shape;252;p33"/>
          <p:cNvSpPr txBox="1"/>
          <p:nvPr>
            <p:ph idx="12" type="sldNum"/>
          </p:nvPr>
        </p:nvSpPr>
        <p:spPr>
          <a:xfrm>
            <a:off x="7258053" y="4663225"/>
            <a:ext cx="17631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CDR Presentation - </a:t>
            </a:r>
            <a:fld id="{00000000-1234-1234-1234-123412341234}" type="slidenum">
              <a:rPr lang="en">
                <a:solidFill>
                  <a:schemeClr val="lt1"/>
                </a:solidFill>
              </a:rPr>
              <a:t>‹#›</a:t>
            </a:fld>
            <a:endParaRPr>
              <a:solidFill>
                <a:schemeClr val="lt1"/>
              </a:solidFill>
            </a:endParaRPr>
          </a:p>
        </p:txBody>
      </p:sp>
      <p:pic>
        <p:nvPicPr>
          <p:cNvPr id="253" name="Google Shape;253;p33"/>
          <p:cNvPicPr preferRelativeResize="0"/>
          <p:nvPr/>
        </p:nvPicPr>
        <p:blipFill>
          <a:blip r:embed="rId3">
            <a:alphaModFix/>
          </a:blip>
          <a:stretch>
            <a:fillRect/>
          </a:stretch>
        </p:blipFill>
        <p:spPr>
          <a:xfrm>
            <a:off x="5192875" y="1116025"/>
            <a:ext cx="2389975" cy="2434350"/>
          </a:xfrm>
          <a:prstGeom prst="rect">
            <a:avLst/>
          </a:prstGeom>
          <a:noFill/>
          <a:ln>
            <a:noFill/>
          </a:ln>
        </p:spPr>
      </p:pic>
      <p:pic>
        <p:nvPicPr>
          <p:cNvPr id="254" name="Google Shape;254;p33"/>
          <p:cNvPicPr preferRelativeResize="0"/>
          <p:nvPr/>
        </p:nvPicPr>
        <p:blipFill>
          <a:blip r:embed="rId4">
            <a:alphaModFix/>
          </a:blip>
          <a:stretch>
            <a:fillRect/>
          </a:stretch>
        </p:blipFill>
        <p:spPr>
          <a:xfrm>
            <a:off x="6906650" y="3027025"/>
            <a:ext cx="1966574" cy="1528800"/>
          </a:xfrm>
          <a:prstGeom prst="rect">
            <a:avLst/>
          </a:prstGeom>
          <a:noFill/>
          <a:ln>
            <a:noFill/>
          </a:ln>
        </p:spPr>
      </p:pic>
      <p:pic>
        <p:nvPicPr>
          <p:cNvPr id="255" name="Google Shape;255;p33"/>
          <p:cNvPicPr preferRelativeResize="0"/>
          <p:nvPr/>
        </p:nvPicPr>
        <p:blipFill>
          <a:blip r:embed="rId5">
            <a:alphaModFix/>
          </a:blip>
          <a:stretch>
            <a:fillRect/>
          </a:stretch>
        </p:blipFill>
        <p:spPr>
          <a:xfrm>
            <a:off x="4799200" y="3550375"/>
            <a:ext cx="1660874" cy="11701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59" name="Shape 259"/>
        <p:cNvGrpSpPr/>
        <p:nvPr/>
      </p:nvGrpSpPr>
      <p:grpSpPr>
        <a:xfrm>
          <a:off x="0" y="0"/>
          <a:ext cx="0" cy="0"/>
          <a:chOff x="0" y="0"/>
          <a:chExt cx="0" cy="0"/>
        </a:xfrm>
      </p:grpSpPr>
      <p:sp>
        <p:nvSpPr>
          <p:cNvPr id="260" name="Google Shape;260;p34"/>
          <p:cNvSpPr/>
          <p:nvPr/>
        </p:nvSpPr>
        <p:spPr>
          <a:xfrm>
            <a:off x="380400" y="345250"/>
            <a:ext cx="8383200" cy="3898800"/>
          </a:xfrm>
          <a:prstGeom prst="flowChartAlternateProcess">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1" name="Google Shape;261;p3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Atkinson Hyperlegible"/>
                <a:ea typeface="Atkinson Hyperlegible"/>
                <a:cs typeface="Atkinson Hyperlegible"/>
                <a:sym typeface="Atkinson Hyperlegible"/>
              </a:rPr>
              <a:t>Questions?</a:t>
            </a:r>
            <a:endParaRPr>
              <a:latin typeface="Atkinson Hyperlegible"/>
              <a:ea typeface="Atkinson Hyperlegible"/>
              <a:cs typeface="Atkinson Hyperlegible"/>
              <a:sym typeface="Atkinson Hyperlegible"/>
            </a:endParaRPr>
          </a:p>
        </p:txBody>
      </p:sp>
      <p:sp>
        <p:nvSpPr>
          <p:cNvPr id="262" name="Google Shape;262;p3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latin typeface="Atkinson Hyperlegible"/>
                <a:ea typeface="Atkinson Hyperlegible"/>
                <a:cs typeface="Atkinson Hyperlegible"/>
                <a:sym typeface="Atkinson Hyperlegible"/>
              </a:rPr>
              <a:t>Thanks for listening!</a:t>
            </a:r>
            <a:endParaRPr>
              <a:latin typeface="Atkinson Hyperlegible"/>
              <a:ea typeface="Atkinson Hyperlegible"/>
              <a:cs typeface="Atkinson Hyperlegible"/>
              <a:sym typeface="Atkinson Hyperlegible"/>
            </a:endParaRPr>
          </a:p>
        </p:txBody>
      </p:sp>
      <p:sp>
        <p:nvSpPr>
          <p:cNvPr id="263" name="Google Shape;263;p34"/>
          <p:cNvSpPr/>
          <p:nvPr/>
        </p:nvSpPr>
        <p:spPr>
          <a:xfrm flipH="1" rot="10800000">
            <a:off x="7206300" y="3430950"/>
            <a:ext cx="1937700" cy="1714500"/>
          </a:xfrm>
          <a:prstGeom prst="teardrop">
            <a:avLst>
              <a:gd fmla="val 100000" name="adj"/>
            </a:avLst>
          </a:prstGeom>
          <a:solidFill>
            <a:srgbClr val="500000"/>
          </a:solidFill>
          <a:ln cap="flat" cmpd="sng" w="9525">
            <a:solidFill>
              <a:srgbClr val="5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The Wranglers Logo" id="264" name="Google Shape;264;p34" title="Untitled-4.png"/>
          <p:cNvPicPr preferRelativeResize="0"/>
          <p:nvPr/>
        </p:nvPicPr>
        <p:blipFill>
          <a:blip r:embed="rId3">
            <a:alphaModFix/>
          </a:blip>
          <a:stretch>
            <a:fillRect/>
          </a:stretch>
        </p:blipFill>
        <p:spPr>
          <a:xfrm>
            <a:off x="7510588" y="3687575"/>
            <a:ext cx="1329125" cy="13291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