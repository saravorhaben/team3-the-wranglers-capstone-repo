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Atkinson Hyperlegible"/>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482B72-5F08-4D71-AEF8-FD45600ED337}">
  <a:tblStyle styleId="{45482B72-5F08-4D71-AEF8-FD45600ED337}"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EEEB366-D9E5-4FE7-BC47-A99282684B4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AtkinsonHyperlegible-bold.fntdata"/><Relationship Id="rId14" Type="http://schemas.openxmlformats.org/officeDocument/2006/relationships/slide" Target="slides/slide8.xml"/><Relationship Id="rId36" Type="http://schemas.openxmlformats.org/officeDocument/2006/relationships/font" Target="fonts/AtkinsonHyperlegible-regular.fntdata"/><Relationship Id="rId17" Type="http://schemas.openxmlformats.org/officeDocument/2006/relationships/slide" Target="slides/slide11.xml"/><Relationship Id="rId39" Type="http://schemas.openxmlformats.org/officeDocument/2006/relationships/font" Target="fonts/AtkinsonHyperlegible-boldItalic.fntdata"/><Relationship Id="rId16" Type="http://schemas.openxmlformats.org/officeDocument/2006/relationships/slide" Target="slides/slide10.xml"/><Relationship Id="rId38" Type="http://schemas.openxmlformats.org/officeDocument/2006/relationships/font" Target="fonts/AtkinsonHyperlegible-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bd0c225375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bd0c225375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d0c225375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bd0c225375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d0c225375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d0c225375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872fb3e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872fb3e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e54590e7d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e54590e7d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e54590e7d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e54590e7d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d0c225375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d0c225375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d0c225375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d0c225375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e54590e7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be54590e7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range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725868a9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c725868a9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9440f0b54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9440f0b54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725868a96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c725868a96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725868a96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c725868a96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725868a96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c725868a96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9bc8f23e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d9bc8f23e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9bc8f23e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d9bc8f23e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bd0c225375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bd0c225375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725868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c725868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e6412e0ec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e6412e0ec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e6412e0ec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e6412e0ec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6412e0ec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e6412e0ec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e6412e0ec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e6412e0ec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bd0c225375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bd0c225375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Improve specs with respect to requirements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cec643a69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cec643a69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975d08e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d975d08e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6632f1980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e6632f1980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e6632f1980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e6632f1980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bd0c225375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bd0c225375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drive.google.com/file/d/1vi21LkvK88VlowLp8_o5fa8o9luOnCKN/view" TargetMode="External"/><Relationship Id="rId4" Type="http://schemas.openxmlformats.org/officeDocument/2006/relationships/image" Target="../media/image1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53" name="Shape 53"/>
        <p:cNvGrpSpPr/>
        <p:nvPr/>
      </p:nvGrpSpPr>
      <p:grpSpPr>
        <a:xfrm>
          <a:off x="0" y="0"/>
          <a:ext cx="0" cy="0"/>
          <a:chOff x="0" y="0"/>
          <a:chExt cx="0" cy="0"/>
        </a:xfrm>
      </p:grpSpPr>
      <p:sp>
        <p:nvSpPr>
          <p:cNvPr id="54" name="Google Shape;54;p13"/>
          <p:cNvSpPr/>
          <p:nvPr/>
        </p:nvSpPr>
        <p:spPr>
          <a:xfrm>
            <a:off x="380400" y="345250"/>
            <a:ext cx="8383200" cy="3898800"/>
          </a:xfrm>
          <a:prstGeom prst="flowChartAlternateProcess">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ph type="ctrTitle"/>
          </p:nvPr>
        </p:nvSpPr>
        <p:spPr>
          <a:xfrm>
            <a:off x="311708" y="82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Atkinson Hyperlegible"/>
                <a:ea typeface="Atkinson Hyperlegible"/>
                <a:cs typeface="Atkinson Hyperlegible"/>
                <a:sym typeface="Atkinson Hyperlegible"/>
              </a:rPr>
              <a:t>Car Rider Pickup System for Schools</a:t>
            </a:r>
            <a:endParaRPr>
              <a:latin typeface="Atkinson Hyperlegible"/>
              <a:ea typeface="Atkinson Hyperlegible"/>
              <a:cs typeface="Atkinson Hyperlegible"/>
              <a:sym typeface="Atkinson Hyperlegible"/>
            </a:endParaRPr>
          </a:p>
        </p:txBody>
      </p:sp>
      <p:sp>
        <p:nvSpPr>
          <p:cNvPr id="56" name="Google Shape;56;p13"/>
          <p:cNvSpPr txBox="1"/>
          <p:nvPr>
            <p:ph idx="1" type="subTitle"/>
          </p:nvPr>
        </p:nvSpPr>
        <p:spPr>
          <a:xfrm>
            <a:off x="311700" y="2956425"/>
            <a:ext cx="85206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 sz="2000">
                <a:latin typeface="Atkinson Hyperlegible"/>
                <a:ea typeface="Atkinson Hyperlegible"/>
                <a:cs typeface="Atkinson Hyperlegible"/>
                <a:sym typeface="Atkinson Hyperlegible"/>
              </a:rPr>
              <a:t>Haya Abusada, Jake Hewett, Jayden Pearson, Jack Uehlinger, Sara Vorhaben</a:t>
            </a:r>
            <a:endParaRPr sz="2000">
              <a:latin typeface="Atkinson Hyperlegible"/>
              <a:ea typeface="Atkinson Hyperlegible"/>
              <a:cs typeface="Atkinson Hyperlegible"/>
              <a:sym typeface="Atkinson Hyperlegible"/>
            </a:endParaRPr>
          </a:p>
          <a:p>
            <a:pPr indent="0" lvl="0" marL="0" rtl="0" algn="ctr">
              <a:spcBef>
                <a:spcPts val="0"/>
              </a:spcBef>
              <a:spcAft>
                <a:spcPts val="0"/>
              </a:spcAft>
              <a:buNone/>
            </a:pPr>
            <a:r>
              <a:t/>
            </a:r>
            <a:endParaRPr sz="2000">
              <a:latin typeface="Atkinson Hyperlegible"/>
              <a:ea typeface="Atkinson Hyperlegible"/>
              <a:cs typeface="Atkinson Hyperlegible"/>
              <a:sym typeface="Atkinson Hyperlegible"/>
            </a:endParaRPr>
          </a:p>
        </p:txBody>
      </p:sp>
      <p:sp>
        <p:nvSpPr>
          <p:cNvPr id="57" name="Google Shape;57;p13"/>
          <p:cNvSpPr/>
          <p:nvPr/>
        </p:nvSpPr>
        <p:spPr>
          <a:xfrm flipH="1" rot="10800000">
            <a:off x="7206300" y="3430950"/>
            <a:ext cx="1937700" cy="1714500"/>
          </a:xfrm>
          <a:prstGeom prst="teardrop">
            <a:avLst>
              <a:gd fmla="val 100000" name="adj"/>
            </a:avLst>
          </a:prstGeom>
          <a:solidFill>
            <a:srgbClr val="500000"/>
          </a:solidFill>
          <a:ln cap="flat" cmpd="sng" w="9525">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The Wranglers Logo" id="58" name="Google Shape;58;p13" title="Untitled-4.png"/>
          <p:cNvPicPr preferRelativeResize="0"/>
          <p:nvPr/>
        </p:nvPicPr>
        <p:blipFill>
          <a:blip r:embed="rId3">
            <a:alphaModFix/>
          </a:blip>
          <a:stretch>
            <a:fillRect/>
          </a:stretch>
        </p:blipFill>
        <p:spPr>
          <a:xfrm>
            <a:off x="7510588" y="3687575"/>
            <a:ext cx="1329125" cy="13291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62" name="Shape 62"/>
        <p:cNvGrpSpPr/>
        <p:nvPr/>
      </p:nvGrpSpPr>
      <p:grpSpPr>
        <a:xfrm>
          <a:off x="0" y="0"/>
          <a:ext cx="0" cy="0"/>
          <a:chOff x="0" y="0"/>
          <a:chExt cx="0" cy="0"/>
        </a:xfrm>
      </p:grpSpPr>
      <p:sp>
        <p:nvSpPr>
          <p:cNvPr id="63" name="Google Shape;63;p14"/>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Problem Background</a:t>
            </a:r>
            <a:endParaRPr b="1" sz="2620">
              <a:solidFill>
                <a:schemeClr val="lt1"/>
              </a:solidFill>
              <a:latin typeface="Atkinson Hyperlegible"/>
              <a:ea typeface="Atkinson Hyperlegible"/>
              <a:cs typeface="Atkinson Hyperlegible"/>
              <a:sym typeface="Atkinson Hyperlegible"/>
            </a:endParaRPr>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Char char="●"/>
            </a:pPr>
            <a:r>
              <a:rPr lang="en" sz="1600">
                <a:solidFill>
                  <a:schemeClr val="dk1"/>
                </a:solidFill>
              </a:rPr>
              <a:t>Over 70% of students are now picked up via car, creating massive congestion.</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Parents wait up to 1 hour, with lines often forming 1</a:t>
            </a:r>
            <a:r>
              <a:rPr lang="en" sz="1600">
                <a:solidFill>
                  <a:schemeClr val="dk1"/>
                </a:solidFill>
              </a:rPr>
              <a:t>-</a:t>
            </a:r>
            <a:r>
              <a:rPr lang="en" sz="1600">
                <a:solidFill>
                  <a:schemeClr val="dk1"/>
                </a:solidFill>
              </a:rPr>
              <a:t>2 hours before dismissal.</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Queues spill onto local highways, causing traffic backups and increasing accident risks.</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Inclement weather increases delays as bus and bike riders often switch to the car line.</a:t>
            </a:r>
            <a:endParaRPr sz="1600">
              <a:solidFill>
                <a:schemeClr val="dk1"/>
              </a:solidFill>
            </a:endParaRPr>
          </a:p>
          <a:p>
            <a:pPr indent="-374650" lvl="0" marL="457200" rtl="0" algn="l">
              <a:spcBef>
                <a:spcPts val="0"/>
              </a:spcBef>
              <a:spcAft>
                <a:spcPts val="0"/>
              </a:spcAft>
              <a:buClr>
                <a:schemeClr val="dk1"/>
              </a:buClr>
              <a:buSzPts val="2300"/>
              <a:buChar char="●"/>
            </a:pPr>
            <a:r>
              <a:rPr lang="en" sz="1600">
                <a:solidFill>
                  <a:schemeClr val="dk1"/>
                </a:solidFill>
              </a:rPr>
              <a:t>The manual process requires 5-10 staff members daily, diverting them from educational duties.</a:t>
            </a:r>
            <a:endParaRPr sz="23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69" name="Shape 69"/>
        <p:cNvGrpSpPr/>
        <p:nvPr/>
      </p:nvGrpSpPr>
      <p:grpSpPr>
        <a:xfrm>
          <a:off x="0" y="0"/>
          <a:ext cx="0" cy="0"/>
          <a:chOff x="0" y="0"/>
          <a:chExt cx="0" cy="0"/>
        </a:xfrm>
      </p:grpSpPr>
      <p:sp>
        <p:nvSpPr>
          <p:cNvPr id="70" name="Google Shape;70;p15"/>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Problem - Needs Statement</a:t>
            </a:r>
            <a:endParaRPr b="1" sz="2620">
              <a:solidFill>
                <a:schemeClr val="lt1"/>
              </a:solidFill>
              <a:latin typeface="Atkinson Hyperlegible"/>
              <a:ea typeface="Atkinson Hyperlegible"/>
              <a:cs typeface="Atkinson Hyperlegible"/>
              <a:sym typeface="Atkinson Hyperlegible"/>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School pickup via the car rider line has been increasing in the US over the years leading to an increase in line length and pickup time. Now, over 70% of students are picked up from school via the car rider line. Car rider lines have become congested, posing a safety issue for both the students and other drivers. With more students attending school, car rider lines have become too slow and cause parents to wait up to over an hour in line leading to frustration. Some studies show that the car rider pick-up line starts to form 1-2 hours before school actually gets out, which leads to traffic backing up local highways and streets, and even frequent accidents. Inclement weather further slows the line, as students who ride the bus or bike to school will often be picked up by their parents in the car rider line to avoid the weather. Additionally, 5-10 staff members are required to set up and run the pickup process, diverting their time away from the education of students. An automated system is needed to streamline the pick-up process to decrease delays and safety issues.</a:t>
            </a:r>
            <a:endParaRPr sz="3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76" name="Shape 76"/>
        <p:cNvGrpSpPr/>
        <p:nvPr/>
      </p:nvGrpSpPr>
      <p:grpSpPr>
        <a:xfrm>
          <a:off x="0" y="0"/>
          <a:ext cx="0" cy="0"/>
          <a:chOff x="0" y="0"/>
          <a:chExt cx="0" cy="0"/>
        </a:xfrm>
      </p:grpSpPr>
      <p:sp>
        <p:nvSpPr>
          <p:cNvPr id="77" name="Google Shape;77;p16"/>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a:t>
            </a:r>
            <a:endParaRPr b="1" sz="2620">
              <a:solidFill>
                <a:schemeClr val="lt1"/>
              </a:solidFill>
              <a:latin typeface="Atkinson Hyperlegible"/>
              <a:ea typeface="Atkinson Hyperlegible"/>
              <a:cs typeface="Atkinson Hyperlegible"/>
              <a:sym typeface="Atkinson Hyperlegible"/>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b="1" lang="en" sz="1500">
                <a:solidFill>
                  <a:schemeClr val="dk1"/>
                </a:solidFill>
              </a:rPr>
              <a:t>Goal</a:t>
            </a:r>
            <a:endParaRPr b="1" sz="15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500">
                <a:solidFill>
                  <a:schemeClr val="dk1"/>
                </a:solidFill>
              </a:rPr>
              <a:t>The goal of this project is to design and prototype a system that will help automate the car rider pick up process at schools. The system is built to reduce the amount of time necessary to pick up students from school.</a:t>
            </a:r>
            <a:endParaRPr sz="15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500">
                <a:solidFill>
                  <a:schemeClr val="dk1"/>
                </a:solidFill>
              </a:rPr>
              <a:t>Objectives</a:t>
            </a:r>
            <a:endParaRPr b="1"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system will allow parents to update their information (license plate numbers, approved adults for pickup, car rider schedules) via a website with approval from a staff member of the school.</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system will read the marker on the car (license plate, QR code, nametag) as it enters the pickup line and send the information to a server.</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server will identify the parent and child associated with the car marker, and update a display at the entrance of the pickup line to direct the car to the proper station.</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laptop at the front of the school is updated to inform the students and staff which child is being picked up, and which zone to go to. </a:t>
            </a:r>
            <a:endParaRPr sz="15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83" name="Shape 83"/>
        <p:cNvGrpSpPr/>
        <p:nvPr/>
      </p:nvGrpSpPr>
      <p:grpSpPr>
        <a:xfrm>
          <a:off x="0" y="0"/>
          <a:ext cx="0" cy="0"/>
          <a:chOff x="0" y="0"/>
          <a:chExt cx="0" cy="0"/>
        </a:xfrm>
      </p:grpSpPr>
      <p:sp>
        <p:nvSpPr>
          <p:cNvPr id="84" name="Google Shape;84;p17"/>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 - Requirements</a:t>
            </a:r>
            <a:endParaRPr b="1" sz="2620">
              <a:solidFill>
                <a:schemeClr val="lt1"/>
              </a:solidFill>
              <a:latin typeface="Atkinson Hyperlegible"/>
              <a:ea typeface="Atkinson Hyperlegible"/>
              <a:cs typeface="Atkinson Hyperlegible"/>
              <a:sym typeface="Atkinson Hyperlegible"/>
            </a:endParaRPr>
          </a:p>
        </p:txBody>
      </p:sp>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2000"/>
              </a:spcBef>
              <a:spcAft>
                <a:spcPts val="0"/>
              </a:spcAft>
              <a:buNone/>
            </a:pPr>
            <a:r>
              <a:rPr b="1" lang="en" sz="2600">
                <a:solidFill>
                  <a:schemeClr val="dk1"/>
                </a:solidFill>
              </a:rPr>
              <a:t>Marketing Requirements</a:t>
            </a:r>
            <a:endParaRPr b="1" sz="2600">
              <a:solidFill>
                <a:schemeClr val="dk1"/>
              </a:solidFill>
            </a:endParaRPr>
          </a:p>
          <a:p>
            <a:pPr indent="-336550" lvl="0" marL="457200" rtl="0" algn="l">
              <a:spcBef>
                <a:spcPts val="600"/>
              </a:spcBef>
              <a:spcAft>
                <a:spcPts val="0"/>
              </a:spcAft>
              <a:buClr>
                <a:schemeClr val="dk1"/>
              </a:buClr>
              <a:buSzPts val="1700"/>
              <a:buAutoNum type="arabicPeriod"/>
            </a:pPr>
            <a:r>
              <a:rPr lang="en" sz="1700">
                <a:solidFill>
                  <a:schemeClr val="dk1"/>
                </a:solidFill>
              </a:rPr>
              <a:t>Make the pickup process faster for parents</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easily updated</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low cost</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easy to use/install</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Information must be validated if updated or inserted</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Student safety should be ensured (information, physical, etc.)</a:t>
            </a:r>
            <a:endParaRPr sz="1700">
              <a:solidFill>
                <a:schemeClr val="dk1"/>
              </a:solidFill>
            </a:endParaRPr>
          </a:p>
          <a:p>
            <a:pPr indent="-336550" lvl="0" marL="457200" rtl="0" algn="l">
              <a:spcBef>
                <a:spcPts val="0"/>
              </a:spcBef>
              <a:spcAft>
                <a:spcPts val="0"/>
              </a:spcAft>
              <a:buClr>
                <a:schemeClr val="dk1"/>
              </a:buClr>
              <a:buSzPts val="1700"/>
              <a:buAutoNum type="arabicPeriod"/>
            </a:pPr>
            <a:r>
              <a:rPr lang="en" sz="1700">
                <a:solidFill>
                  <a:schemeClr val="dk1"/>
                </a:solidFill>
              </a:rPr>
              <a:t>The system should be reliable</a:t>
            </a:r>
            <a:endParaRPr b="1" sz="2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90" name="Shape 90"/>
        <p:cNvGrpSpPr/>
        <p:nvPr/>
      </p:nvGrpSpPr>
      <p:grpSpPr>
        <a:xfrm>
          <a:off x="0" y="0"/>
          <a:ext cx="0" cy="0"/>
          <a:chOff x="0" y="0"/>
          <a:chExt cx="0" cy="0"/>
        </a:xfrm>
      </p:grpSpPr>
      <p:sp>
        <p:nvSpPr>
          <p:cNvPr id="91" name="Google Shape;91;p18"/>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 - Requirements</a:t>
            </a:r>
            <a:endParaRPr b="1" sz="2620">
              <a:solidFill>
                <a:schemeClr val="lt1"/>
              </a:solidFill>
              <a:latin typeface="Atkinson Hyperlegible"/>
              <a:ea typeface="Atkinson Hyperlegible"/>
              <a:cs typeface="Atkinson Hyperlegible"/>
              <a:sym typeface="Atkinson Hyperlegible"/>
            </a:endParaRPr>
          </a:p>
        </p:txBody>
      </p:sp>
      <p:graphicFrame>
        <p:nvGraphicFramePr>
          <p:cNvPr id="93" name="Google Shape;93;p18"/>
          <p:cNvGraphicFramePr/>
          <p:nvPr/>
        </p:nvGraphicFramePr>
        <p:xfrm>
          <a:off x="209850" y="1123950"/>
          <a:ext cx="3000000" cy="3000000"/>
        </p:xfrm>
        <a:graphic>
          <a:graphicData uri="http://schemas.openxmlformats.org/drawingml/2006/table">
            <a:tbl>
              <a:tblPr>
                <a:noFill/>
                <a:tableStyleId>{45482B72-5F08-4D71-AEF8-FD45600ED337}</a:tableStyleId>
              </a:tblPr>
              <a:tblGrid>
                <a:gridCol w="1218350"/>
                <a:gridCol w="5517575"/>
                <a:gridCol w="1988400"/>
              </a:tblGrid>
              <a:tr h="12700">
                <a:tc>
                  <a:txBody>
                    <a:bodyPr/>
                    <a:lstStyle/>
                    <a:p>
                      <a:pPr indent="0" lvl="0" marL="0" rtl="0" algn="l">
                        <a:spcBef>
                          <a:spcPts val="0"/>
                        </a:spcBef>
                        <a:spcAft>
                          <a:spcPts val="0"/>
                        </a:spcAft>
                        <a:buNone/>
                      </a:pPr>
                      <a:r>
                        <a:rPr lang="en" sz="1000"/>
                        <a:t>Marketing Requirements</a:t>
                      </a:r>
                      <a:endParaRPr sz="1000"/>
                    </a:p>
                  </a:txBody>
                  <a:tcPr marT="63500" marB="63500" marR="63500" marL="63500"/>
                </a:tc>
                <a:tc>
                  <a:txBody>
                    <a:bodyPr/>
                    <a:lstStyle/>
                    <a:p>
                      <a:pPr indent="0" lvl="0" marL="0" rtl="0" algn="l">
                        <a:spcBef>
                          <a:spcPts val="0"/>
                        </a:spcBef>
                        <a:spcAft>
                          <a:spcPts val="0"/>
                        </a:spcAft>
                        <a:buNone/>
                      </a:pPr>
                      <a:r>
                        <a:rPr lang="en" sz="1000"/>
                        <a:t>Engineering Requirements</a:t>
                      </a:r>
                      <a:endParaRPr sz="1000"/>
                    </a:p>
                  </a:txBody>
                  <a:tcPr marT="63500" marB="63500" marR="63500" marL="63500"/>
                </a:tc>
                <a:tc>
                  <a:txBody>
                    <a:bodyPr/>
                    <a:lstStyle/>
                    <a:p>
                      <a:pPr indent="0" lvl="0" marL="0" rtl="0" algn="l">
                        <a:spcBef>
                          <a:spcPts val="0"/>
                        </a:spcBef>
                        <a:spcAft>
                          <a:spcPts val="0"/>
                        </a:spcAft>
                        <a:buNone/>
                      </a:pPr>
                      <a:r>
                        <a:rPr lang="en" sz="1000"/>
                        <a:t>How Requirement was met</a:t>
                      </a:r>
                      <a:endParaRPr sz="1000"/>
                    </a:p>
                  </a:txBody>
                  <a:tcPr marT="63500" marB="63500" marR="63500" marL="63500"/>
                </a:tc>
              </a:tr>
              <a:tr h="12700">
                <a:tc>
                  <a:txBody>
                    <a:bodyPr/>
                    <a:lstStyle/>
                    <a:p>
                      <a:pPr indent="0" lvl="0" marL="0" rtl="0" algn="l">
                        <a:spcBef>
                          <a:spcPts val="0"/>
                        </a:spcBef>
                        <a:spcAft>
                          <a:spcPts val="0"/>
                        </a:spcAft>
                        <a:buNone/>
                      </a:pPr>
                      <a:r>
                        <a:rPr lang="en" sz="1100"/>
                        <a:t>1</a:t>
                      </a:r>
                      <a:endParaRPr sz="1100"/>
                    </a:p>
                  </a:txBody>
                  <a:tcPr marT="63500" marB="63500" marR="63500" marL="63500"/>
                </a:tc>
                <a:tc>
                  <a:txBody>
                    <a:bodyPr/>
                    <a:lstStyle/>
                    <a:p>
                      <a:pPr indent="0" lvl="0" marL="0" rtl="0" algn="l">
                        <a:spcBef>
                          <a:spcPts val="0"/>
                        </a:spcBef>
                        <a:spcAft>
                          <a:spcPts val="0"/>
                        </a:spcAft>
                        <a:buNone/>
                      </a:pPr>
                      <a:r>
                        <a:rPr lang="en" sz="1100"/>
                        <a:t>Pickup time should be reduced by 30% per 100 kids. The time from the car entering the view of the camera to information being displayed should be no more than 5 seconds. </a:t>
                      </a:r>
                      <a:endParaRPr sz="1100"/>
                    </a:p>
                  </a:txBody>
                  <a:tcPr marT="63500" marB="63500" marR="63500" marL="63500"/>
                </a:tc>
                <a:tc>
                  <a:txBody>
                    <a:bodyPr/>
                    <a:lstStyle/>
                    <a:p>
                      <a:pPr indent="0" lvl="0" marL="0" rtl="0" algn="l">
                        <a:spcBef>
                          <a:spcPts val="0"/>
                        </a:spcBef>
                        <a:spcAft>
                          <a:spcPts val="0"/>
                        </a:spcAft>
                        <a:buNone/>
                      </a:pPr>
                      <a:r>
                        <a:rPr lang="en" sz="1100"/>
                        <a:t>display updates &lt;1 second</a:t>
                      </a:r>
                      <a:endParaRPr sz="1100"/>
                    </a:p>
                  </a:txBody>
                  <a:tcPr marT="63500" marB="63500" marR="63500" marL="63500"/>
                </a:tc>
              </a:tr>
              <a:tr h="12700">
                <a:tc>
                  <a:txBody>
                    <a:bodyPr/>
                    <a:lstStyle/>
                    <a:p>
                      <a:pPr indent="0" lvl="0" marL="0" rtl="0" algn="l">
                        <a:spcBef>
                          <a:spcPts val="0"/>
                        </a:spcBef>
                        <a:spcAft>
                          <a:spcPts val="0"/>
                        </a:spcAft>
                        <a:buNone/>
                      </a:pPr>
                      <a:r>
                        <a:rPr lang="en" sz="1100"/>
                        <a:t>4</a:t>
                      </a:r>
                      <a:endParaRPr sz="1100"/>
                    </a:p>
                  </a:txBody>
                  <a:tcPr marT="63500" marB="63500" marR="63500" marL="63500"/>
                </a:tc>
                <a:tc>
                  <a:txBody>
                    <a:bodyPr/>
                    <a:lstStyle/>
                    <a:p>
                      <a:pPr indent="0" lvl="0" marL="0" rtl="0" algn="l">
                        <a:spcBef>
                          <a:spcPts val="0"/>
                        </a:spcBef>
                        <a:spcAft>
                          <a:spcPts val="0"/>
                        </a:spcAft>
                        <a:buNone/>
                      </a:pPr>
                      <a:r>
                        <a:rPr lang="en" sz="1100"/>
                        <a:t>7 inch (diagonal) display screen to give station and process instructions clearly.</a:t>
                      </a:r>
                      <a:endParaRPr sz="1100"/>
                    </a:p>
                  </a:txBody>
                  <a:tcPr marT="63500" marB="63500" marR="63500" marL="63500"/>
                </a:tc>
                <a:tc>
                  <a:txBody>
                    <a:bodyPr/>
                    <a:lstStyle/>
                    <a:p>
                      <a:pPr indent="0" lvl="0" marL="0" rtl="0" algn="l">
                        <a:spcBef>
                          <a:spcPts val="0"/>
                        </a:spcBef>
                        <a:spcAft>
                          <a:spcPts val="0"/>
                        </a:spcAft>
                        <a:buNone/>
                      </a:pPr>
                      <a:r>
                        <a:rPr lang="en" sz="1100"/>
                        <a:t>See Setup</a:t>
                      </a:r>
                      <a:endParaRPr sz="1100"/>
                    </a:p>
                  </a:txBody>
                  <a:tcPr marT="63500" marB="63500" marR="63500" marL="63500"/>
                </a:tc>
              </a:tr>
              <a:tr h="12700">
                <a:tc>
                  <a:txBody>
                    <a:bodyPr/>
                    <a:lstStyle/>
                    <a:p>
                      <a:pPr indent="0" lvl="0" marL="0" rtl="0" algn="l">
                        <a:spcBef>
                          <a:spcPts val="0"/>
                        </a:spcBef>
                        <a:spcAft>
                          <a:spcPts val="0"/>
                        </a:spcAft>
                        <a:buNone/>
                      </a:pPr>
                      <a:r>
                        <a:rPr lang="en" sz="1100"/>
                        <a:t>1, 6</a:t>
                      </a:r>
                      <a:endParaRPr sz="1100"/>
                    </a:p>
                  </a:txBody>
                  <a:tcPr marT="63500" marB="63500" marR="63500" marL="63500"/>
                </a:tc>
                <a:tc>
                  <a:txBody>
                    <a:bodyPr/>
                    <a:lstStyle/>
                    <a:p>
                      <a:pPr indent="0" lvl="0" marL="0" rtl="0" algn="l">
                        <a:spcBef>
                          <a:spcPts val="0"/>
                        </a:spcBef>
                        <a:spcAft>
                          <a:spcPts val="0"/>
                        </a:spcAft>
                        <a:buNone/>
                      </a:pPr>
                      <a:r>
                        <a:rPr lang="en" sz="1100"/>
                        <a:t>Per Texas Family Code, ensure that students are referred to authorized parents 100% of the time.</a:t>
                      </a:r>
                      <a:endParaRPr sz="1100"/>
                    </a:p>
                  </a:txBody>
                  <a:tcPr marT="63500" marB="63500" marR="63500" marL="63500"/>
                </a:tc>
                <a:tc>
                  <a:txBody>
                    <a:bodyPr/>
                    <a:lstStyle/>
                    <a:p>
                      <a:pPr indent="0" lvl="0" marL="0" rtl="0" algn="l">
                        <a:spcBef>
                          <a:spcPts val="0"/>
                        </a:spcBef>
                        <a:spcAft>
                          <a:spcPts val="0"/>
                        </a:spcAft>
                        <a:buNone/>
                      </a:pPr>
                      <a:r>
                        <a:rPr lang="en" sz="1100"/>
                        <a:t>Scanned QR code only works for approved users</a:t>
                      </a:r>
                      <a:endParaRPr sz="1100"/>
                    </a:p>
                  </a:txBody>
                  <a:tcPr marT="63500" marB="63500" marR="63500" marL="63500"/>
                </a:tc>
              </a:tr>
              <a:tr h="12700">
                <a:tc>
                  <a:txBody>
                    <a:bodyPr/>
                    <a:lstStyle/>
                    <a:p>
                      <a:pPr indent="0" lvl="0" marL="0" rtl="0" algn="l">
                        <a:spcBef>
                          <a:spcPts val="0"/>
                        </a:spcBef>
                        <a:spcAft>
                          <a:spcPts val="0"/>
                        </a:spcAft>
                        <a:buNone/>
                      </a:pPr>
                      <a:r>
                        <a:rPr lang="en" sz="1100"/>
                        <a:t>6</a:t>
                      </a:r>
                      <a:endParaRPr sz="1100"/>
                    </a:p>
                  </a:txBody>
                  <a:tcPr marT="63500" marB="63500" marR="63500" marL="63500"/>
                </a:tc>
                <a:tc>
                  <a:txBody>
                    <a:bodyPr/>
                    <a:lstStyle/>
                    <a:p>
                      <a:pPr indent="0" lvl="0" marL="0" rtl="0" algn="l">
                        <a:spcBef>
                          <a:spcPts val="0"/>
                        </a:spcBef>
                        <a:spcAft>
                          <a:spcPts val="0"/>
                        </a:spcAft>
                        <a:buNone/>
                      </a:pPr>
                      <a:r>
                        <a:rPr lang="en" sz="1100"/>
                        <a:t>Private Information stored in the database should be encrypted using 128 bit encryption.</a:t>
                      </a:r>
                      <a:endParaRPr sz="1100"/>
                    </a:p>
                  </a:txBody>
                  <a:tcPr marT="63500" marB="63500" marR="63500" marL="63500"/>
                </a:tc>
                <a:tc>
                  <a:txBody>
                    <a:bodyPr/>
                    <a:lstStyle/>
                    <a:p>
                      <a:pPr indent="0" lvl="0" marL="0" rtl="0" algn="l">
                        <a:spcBef>
                          <a:spcPts val="0"/>
                        </a:spcBef>
                        <a:spcAft>
                          <a:spcPts val="0"/>
                        </a:spcAft>
                        <a:buNone/>
                      </a:pPr>
                      <a:r>
                        <a:rPr lang="en" sz="1100"/>
                        <a:t>Database </a:t>
                      </a:r>
                      <a:r>
                        <a:rPr lang="en" sz="1100"/>
                        <a:t>automatically</a:t>
                      </a:r>
                      <a:r>
                        <a:rPr lang="en" sz="1100"/>
                        <a:t> encrypts</a:t>
                      </a:r>
                      <a:endParaRPr sz="1100"/>
                    </a:p>
                  </a:txBody>
                  <a:tcPr marT="63500" marB="63500" marR="63500" marL="63500"/>
                </a:tc>
              </a:tr>
              <a:tr h="12700">
                <a:tc>
                  <a:txBody>
                    <a:bodyPr/>
                    <a:lstStyle/>
                    <a:p>
                      <a:pPr indent="0" lvl="0" marL="0" rtl="0" algn="l">
                        <a:spcBef>
                          <a:spcPts val="0"/>
                        </a:spcBef>
                        <a:spcAft>
                          <a:spcPts val="0"/>
                        </a:spcAft>
                        <a:buNone/>
                      </a:pPr>
                      <a:r>
                        <a:rPr lang="en" sz="1100"/>
                        <a:t>1,6,7</a:t>
                      </a:r>
                      <a:endParaRPr sz="1100"/>
                    </a:p>
                  </a:txBody>
                  <a:tcPr marT="63500" marB="63500" marR="63500" marL="63500"/>
                </a:tc>
                <a:tc>
                  <a:txBody>
                    <a:bodyPr/>
                    <a:lstStyle/>
                    <a:p>
                      <a:pPr indent="0" lvl="0" marL="0" rtl="0" algn="l">
                        <a:spcBef>
                          <a:spcPts val="0"/>
                        </a:spcBef>
                        <a:spcAft>
                          <a:spcPts val="0"/>
                        </a:spcAft>
                        <a:buNone/>
                      </a:pPr>
                      <a:r>
                        <a:rPr lang="en" sz="1100"/>
                        <a:t>Should correctly identify/assign parents to kids 100% of the time.</a:t>
                      </a:r>
                      <a:endParaRPr sz="1100"/>
                    </a:p>
                  </a:txBody>
                  <a:tcPr marT="63500" marB="63500" marR="63500" marL="63500"/>
                </a:tc>
                <a:tc>
                  <a:txBody>
                    <a:bodyPr/>
                    <a:lstStyle/>
                    <a:p>
                      <a:pPr indent="0" lvl="0" marL="0" rtl="0" algn="l">
                        <a:spcBef>
                          <a:spcPts val="0"/>
                        </a:spcBef>
                        <a:spcAft>
                          <a:spcPts val="0"/>
                        </a:spcAft>
                        <a:buNone/>
                      </a:pPr>
                      <a:r>
                        <a:rPr lang="en" sz="1100"/>
                        <a:t>See Full System Test</a:t>
                      </a:r>
                      <a:endParaRPr sz="1100"/>
                    </a:p>
                  </a:txBody>
                  <a:tcPr marT="63500" marB="63500" marR="63500" marL="63500"/>
                </a:tc>
              </a:tr>
              <a:tr h="12700">
                <a:tc>
                  <a:txBody>
                    <a:bodyPr/>
                    <a:lstStyle/>
                    <a:p>
                      <a:pPr indent="0" lvl="0" marL="0" rtl="0" algn="l">
                        <a:spcBef>
                          <a:spcPts val="0"/>
                        </a:spcBef>
                        <a:spcAft>
                          <a:spcPts val="0"/>
                        </a:spcAft>
                        <a:buNone/>
                      </a:pPr>
                      <a:r>
                        <a:rPr lang="en" sz="1100"/>
                        <a:t>3</a:t>
                      </a:r>
                      <a:endParaRPr sz="1100"/>
                    </a:p>
                  </a:txBody>
                  <a:tcPr marT="63500" marB="63500" marR="63500" marL="63500"/>
                </a:tc>
                <a:tc>
                  <a:txBody>
                    <a:bodyPr/>
                    <a:lstStyle/>
                    <a:p>
                      <a:pPr indent="0" lvl="0" marL="0" rtl="0" algn="l">
                        <a:spcBef>
                          <a:spcPts val="0"/>
                        </a:spcBef>
                        <a:spcAft>
                          <a:spcPts val="0"/>
                        </a:spcAft>
                        <a:buNone/>
                      </a:pPr>
                      <a:r>
                        <a:rPr lang="en" sz="1100"/>
                        <a:t>The costs for developing the system should not exceed $300.</a:t>
                      </a:r>
                      <a:endParaRPr sz="1100"/>
                    </a:p>
                  </a:txBody>
                  <a:tcPr marT="63500" marB="63500" marR="63500" marL="63500"/>
                </a:tc>
                <a:tc>
                  <a:txBody>
                    <a:bodyPr/>
                    <a:lstStyle/>
                    <a:p>
                      <a:pPr indent="0" lvl="0" marL="0" rtl="0" algn="l">
                        <a:spcBef>
                          <a:spcPts val="0"/>
                        </a:spcBef>
                        <a:spcAft>
                          <a:spcPts val="0"/>
                        </a:spcAft>
                        <a:buNone/>
                      </a:pPr>
                      <a:r>
                        <a:rPr lang="en" sz="1100"/>
                        <a:t>See Budget</a:t>
                      </a:r>
                      <a:endParaRPr sz="1100"/>
                    </a:p>
                  </a:txBody>
                  <a:tcPr marT="63500" marB="63500" marR="63500" marL="63500"/>
                </a:tc>
              </a:tr>
              <a:tr h="12700">
                <a:tc>
                  <a:txBody>
                    <a:bodyPr/>
                    <a:lstStyle/>
                    <a:p>
                      <a:pPr indent="0" lvl="0" marL="0" rtl="0" algn="l">
                        <a:spcBef>
                          <a:spcPts val="0"/>
                        </a:spcBef>
                        <a:spcAft>
                          <a:spcPts val="0"/>
                        </a:spcAft>
                        <a:buNone/>
                      </a:pPr>
                      <a:r>
                        <a:rPr lang="en" sz="1100"/>
                        <a:t>2,4,5</a:t>
                      </a:r>
                      <a:endParaRPr sz="1100"/>
                    </a:p>
                  </a:txBody>
                  <a:tcPr marT="63500" marB="63500" marR="63500" marL="63500"/>
                </a:tc>
                <a:tc>
                  <a:txBody>
                    <a:bodyPr/>
                    <a:lstStyle/>
                    <a:p>
                      <a:pPr indent="0" lvl="0" marL="0" rtl="0" algn="l">
                        <a:spcBef>
                          <a:spcPts val="0"/>
                        </a:spcBef>
                        <a:spcAft>
                          <a:spcPts val="0"/>
                        </a:spcAft>
                        <a:buNone/>
                      </a:pPr>
                      <a:r>
                        <a:rPr lang="en" sz="1100"/>
                        <a:t>The system should allow parents to submit a request to the school to update information and the school should receive the request all within 1 minute.</a:t>
                      </a:r>
                      <a:endParaRPr sz="1100"/>
                    </a:p>
                  </a:txBody>
                  <a:tcPr marT="63500" marB="63500" marR="63500" marL="63500"/>
                </a:tc>
                <a:tc>
                  <a:txBody>
                    <a:bodyPr/>
                    <a:lstStyle/>
                    <a:p>
                      <a:pPr indent="0" lvl="0" marL="0" rtl="0" algn="l">
                        <a:spcBef>
                          <a:spcPts val="0"/>
                        </a:spcBef>
                        <a:spcAft>
                          <a:spcPts val="0"/>
                        </a:spcAft>
                        <a:buNone/>
                      </a:pPr>
                      <a:r>
                        <a:rPr lang="en" sz="1100"/>
                        <a:t>Aproval requests can be seen in system in &lt;1 second</a:t>
                      </a:r>
                      <a:endParaRPr sz="1100"/>
                    </a:p>
                  </a:txBody>
                  <a:tcPr marT="63500" marB="63500" marR="63500" marL="6350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97" name="Shape 97"/>
        <p:cNvGrpSpPr/>
        <p:nvPr/>
      </p:nvGrpSpPr>
      <p:grpSpPr>
        <a:xfrm>
          <a:off x="0" y="0"/>
          <a:ext cx="0" cy="0"/>
          <a:chOff x="0" y="0"/>
          <a:chExt cx="0" cy="0"/>
        </a:xfrm>
      </p:grpSpPr>
      <p:sp>
        <p:nvSpPr>
          <p:cNvPr id="98" name="Google Shape;98;p19"/>
          <p:cNvSpPr/>
          <p:nvPr/>
        </p:nvSpPr>
        <p:spPr>
          <a:xfrm>
            <a:off x="209850" y="1096825"/>
            <a:ext cx="8724300" cy="37146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Goal and Objectives - Requirements</a:t>
            </a:r>
            <a:endParaRPr b="1" sz="2620">
              <a:solidFill>
                <a:schemeClr val="lt1"/>
              </a:solidFill>
              <a:latin typeface="Atkinson Hyperlegible"/>
              <a:ea typeface="Atkinson Hyperlegible"/>
              <a:cs typeface="Atkinson Hyperlegible"/>
              <a:sym typeface="Atkinson Hyperlegible"/>
            </a:endParaRPr>
          </a:p>
        </p:txBody>
      </p:sp>
      <p:graphicFrame>
        <p:nvGraphicFramePr>
          <p:cNvPr id="100" name="Google Shape;100;p19"/>
          <p:cNvGraphicFramePr/>
          <p:nvPr/>
        </p:nvGraphicFramePr>
        <p:xfrm>
          <a:off x="311700" y="1096825"/>
          <a:ext cx="3000000" cy="3000000"/>
        </p:xfrm>
        <a:graphic>
          <a:graphicData uri="http://schemas.openxmlformats.org/drawingml/2006/table">
            <a:tbl>
              <a:tblPr>
                <a:noFill/>
                <a:tableStyleId>{45482B72-5F08-4D71-AEF8-FD45600ED337}</a:tableStyleId>
              </a:tblPr>
              <a:tblGrid>
                <a:gridCol w="1629675"/>
                <a:gridCol w="3467650"/>
                <a:gridCol w="3467650"/>
              </a:tblGrid>
              <a:tr h="523575">
                <a:tc>
                  <a:txBody>
                    <a:bodyPr/>
                    <a:lstStyle/>
                    <a:p>
                      <a:pPr indent="0" lvl="0" marL="0" rtl="0" algn="l">
                        <a:spcBef>
                          <a:spcPts val="0"/>
                        </a:spcBef>
                        <a:spcAft>
                          <a:spcPts val="0"/>
                        </a:spcAft>
                        <a:buNone/>
                      </a:pPr>
                      <a:r>
                        <a:rPr lang="en" sz="1100"/>
                        <a:t>Marketing Requirements</a:t>
                      </a:r>
                      <a:endParaRPr sz="1100"/>
                    </a:p>
                  </a:txBody>
                  <a:tcPr marT="63500" marB="63500" marR="63500" marL="63500">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Engineering Requirements</a:t>
                      </a:r>
                      <a:endParaRPr sz="1100"/>
                    </a:p>
                  </a:txBody>
                  <a:tcPr marT="63500" marB="63500" marR="63500" marL="63500">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How Requirement was met</a:t>
                      </a:r>
                      <a:endParaRPr sz="1100"/>
                    </a:p>
                  </a:txBody>
                  <a:tcPr marT="63500" marB="63500" marR="63500" marL="63500">
                    <a:lnB cap="flat" cmpd="sng" w="12700">
                      <a:solidFill>
                        <a:srgbClr val="000000"/>
                      </a:solidFill>
                      <a:prstDash val="solid"/>
                      <a:round/>
                      <a:headEnd len="sm" w="sm" type="none"/>
                      <a:tailEnd len="sm" w="sm" type="none"/>
                    </a:lnB>
                  </a:tcPr>
                </a:tc>
              </a:tr>
              <a:tr h="714625">
                <a:tc>
                  <a:txBody>
                    <a:bodyPr/>
                    <a:lstStyle/>
                    <a:p>
                      <a:pPr indent="0" lvl="0" marL="0" rtl="0" algn="l">
                        <a:spcBef>
                          <a:spcPts val="0"/>
                        </a:spcBef>
                        <a:spcAft>
                          <a:spcPts val="0"/>
                        </a:spcAft>
                        <a:buNone/>
                      </a:pPr>
                      <a:r>
                        <a:rPr lang="en" sz="1100"/>
                        <a:t>4</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The system should have a modular design such that failed components</a:t>
                      </a:r>
                      <a:endParaRPr sz="1100"/>
                    </a:p>
                    <a:p>
                      <a:pPr indent="0" lvl="0" marL="0" rtl="0" algn="l">
                        <a:spcBef>
                          <a:spcPts val="0"/>
                        </a:spcBef>
                        <a:spcAft>
                          <a:spcPts val="0"/>
                        </a:spcAft>
                        <a:buNone/>
                      </a:pPr>
                      <a:r>
                        <a:rPr lang="en" sz="1100"/>
                        <a:t>can be replaced by a technician in under 15 minutes.</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System designed so each system component could easily be replaced if broken</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23575">
                <a:tc>
                  <a:txBody>
                    <a:bodyPr/>
                    <a:lstStyle/>
                    <a:p>
                      <a:pPr indent="0" lvl="0" marL="0" rtl="0" algn="l">
                        <a:spcBef>
                          <a:spcPts val="0"/>
                        </a:spcBef>
                        <a:spcAft>
                          <a:spcPts val="0"/>
                        </a:spcAft>
                        <a:buNone/>
                      </a:pPr>
                      <a:r>
                        <a:rPr lang="en" sz="1100"/>
                        <a:t>7</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The software will comply with the Digital Millennium Copyright Act.</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No code was copied from existing sites</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14625">
                <a:tc>
                  <a:txBody>
                    <a:bodyPr/>
                    <a:lstStyle/>
                    <a:p>
                      <a:pPr indent="0" lvl="0" marL="0" rtl="0" algn="l">
                        <a:spcBef>
                          <a:spcPts val="0"/>
                        </a:spcBef>
                        <a:spcAft>
                          <a:spcPts val="0"/>
                        </a:spcAft>
                        <a:buNone/>
                      </a:pPr>
                      <a:r>
                        <a:rPr lang="en" sz="1100"/>
                        <a:t>2,4,5,6</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Staff should be able to access databases with provided credentials and view all parent to children links.</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See staff portal</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14625">
                <a:tc>
                  <a:txBody>
                    <a:bodyPr/>
                    <a:lstStyle/>
                    <a:p>
                      <a:pPr indent="0" lvl="0" marL="0" rtl="0" algn="l">
                        <a:spcBef>
                          <a:spcPts val="0"/>
                        </a:spcBef>
                        <a:spcAft>
                          <a:spcPts val="0"/>
                        </a:spcAft>
                        <a:buNone/>
                      </a:pPr>
                      <a:r>
                        <a:rPr lang="en" sz="1100"/>
                        <a:t>1</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Minimum 40inch (diagonal) display screen to give station and process instructions clearly inside in the pickup .</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See System Setup: display Student Pickup screen inside on TV/Smartboard in classroom</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23575">
                <a:tc>
                  <a:txBody>
                    <a:bodyPr/>
                    <a:lstStyle/>
                    <a:p>
                      <a:pPr indent="0" lvl="0" marL="0" rtl="0" algn="l">
                        <a:spcBef>
                          <a:spcPts val="0"/>
                        </a:spcBef>
                        <a:spcAft>
                          <a:spcPts val="0"/>
                        </a:spcAft>
                        <a:buNone/>
                      </a:pPr>
                      <a:r>
                        <a:rPr lang="en" sz="1100"/>
                        <a:t>4,7</a:t>
                      </a:r>
                      <a:endParaRPr sz="1100"/>
                    </a:p>
                  </a:txBody>
                  <a:tcPr marT="63500" marB="63500" marR="63500" marL="63500">
                    <a:lnT cap="flat" cmpd="sng" w="12700">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 sz="1100"/>
                        <a:t>The system should be mounted correctly on a tripod to ensure stability and prevent hazards. </a:t>
                      </a:r>
                      <a:endParaRPr sz="1100"/>
                    </a:p>
                  </a:txBody>
                  <a:tcPr marT="63500" marB="63500" marR="63500" marL="63500">
                    <a:lnT cap="flat" cmpd="sng" w="12700">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 sz="1100"/>
                        <a:t>See Car Entrance Model Setup.</a:t>
                      </a:r>
                      <a:endParaRPr sz="1100"/>
                    </a:p>
                  </a:txBody>
                  <a:tcPr marT="63500" marB="63500" marR="63500" marL="63500">
                    <a:lnT cap="flat" cmpd="sng" w="12700">
                      <a:solidFill>
                        <a:srgbClr val="000000"/>
                      </a:solidFill>
                      <a:prstDash val="solid"/>
                      <a:round/>
                      <a:headEnd len="sm" w="sm" type="none"/>
                      <a:tailEnd len="sm" w="sm" type="none"/>
                    </a:lnT>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04" name="Shape 104"/>
        <p:cNvGrpSpPr/>
        <p:nvPr/>
      </p:nvGrpSpPr>
      <p:grpSpPr>
        <a:xfrm>
          <a:off x="0" y="0"/>
          <a:ext cx="0" cy="0"/>
          <a:chOff x="0" y="0"/>
          <a:chExt cx="0" cy="0"/>
        </a:xfrm>
      </p:grpSpPr>
      <p:sp>
        <p:nvSpPr>
          <p:cNvPr id="105" name="Google Shape;105;p20"/>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Design Constraints and Feasibility</a:t>
            </a:r>
            <a:endParaRPr b="1" sz="2620">
              <a:solidFill>
                <a:schemeClr val="lt1"/>
              </a:solidFill>
              <a:highlight>
                <a:schemeClr val="accent6"/>
              </a:highlight>
              <a:latin typeface="Atkinson Hyperlegible"/>
              <a:ea typeface="Atkinson Hyperlegible"/>
              <a:cs typeface="Atkinson Hyperlegible"/>
              <a:sym typeface="Atkinson Hyperlegible"/>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None/>
            </a:pPr>
            <a:r>
              <a:rPr b="1" lang="en" sz="1600">
                <a:solidFill>
                  <a:schemeClr val="dk1"/>
                </a:solidFill>
              </a:rPr>
              <a:t>Technical</a:t>
            </a:r>
            <a:r>
              <a:rPr b="1" lang="en" sz="1600">
                <a:solidFill>
                  <a:schemeClr val="dk1"/>
                </a:solidFill>
              </a:rPr>
              <a:t> and Temporal Constraints</a:t>
            </a:r>
            <a:endParaRPr b="1" sz="1600">
              <a:solidFill>
                <a:schemeClr val="dk1"/>
              </a:solidFill>
            </a:endParaRPr>
          </a:p>
          <a:p>
            <a:pPr indent="-307340" lvl="0" marL="457200" rtl="0" algn="l">
              <a:lnSpc>
                <a:spcPct val="100000"/>
              </a:lnSpc>
              <a:spcBef>
                <a:spcPts val="1200"/>
              </a:spcBef>
              <a:spcAft>
                <a:spcPts val="0"/>
              </a:spcAft>
              <a:buClr>
                <a:schemeClr val="dk1"/>
              </a:buClr>
              <a:buSzPct val="100000"/>
              <a:buChar char="●"/>
            </a:pPr>
            <a:r>
              <a:rPr lang="en" sz="1600">
                <a:solidFill>
                  <a:schemeClr val="dk1"/>
                </a:solidFill>
              </a:rPr>
              <a:t>Maximum of 5 seconds from image capture to display update</a:t>
            </a:r>
            <a:endParaRPr sz="1600">
              <a:solidFill>
                <a:schemeClr val="dk1"/>
              </a:solidFill>
            </a:endParaRPr>
          </a:p>
          <a:p>
            <a:pPr indent="-307340" lvl="0" marL="457200" rtl="0" algn="l">
              <a:lnSpc>
                <a:spcPct val="100000"/>
              </a:lnSpc>
              <a:spcBef>
                <a:spcPts val="0"/>
              </a:spcBef>
              <a:spcAft>
                <a:spcPts val="0"/>
              </a:spcAft>
              <a:buClr>
                <a:schemeClr val="dk1"/>
              </a:buClr>
              <a:buSzPct val="100000"/>
              <a:buChar char="●"/>
            </a:pPr>
            <a:r>
              <a:rPr lang="en" sz="1600">
                <a:solidFill>
                  <a:schemeClr val="dk1"/>
                </a:solidFill>
              </a:rPr>
              <a:t>Identification accuracy must be 100% to ensure safety and efficiency</a:t>
            </a:r>
            <a:endParaRPr sz="1600">
              <a:solidFill>
                <a:schemeClr val="dk1"/>
              </a:solidFill>
            </a:endParaRPr>
          </a:p>
          <a:p>
            <a:pPr indent="-307340" lvl="0" marL="457200" rtl="0" algn="l">
              <a:lnSpc>
                <a:spcPct val="100000"/>
              </a:lnSpc>
              <a:spcBef>
                <a:spcPts val="0"/>
              </a:spcBef>
              <a:spcAft>
                <a:spcPts val="0"/>
              </a:spcAft>
              <a:buClr>
                <a:schemeClr val="dk1"/>
              </a:buClr>
              <a:buSzPct val="100000"/>
              <a:buChar char="●"/>
            </a:pPr>
            <a:r>
              <a:rPr lang="en" sz="1600">
                <a:solidFill>
                  <a:schemeClr val="dk1"/>
                </a:solidFill>
              </a:rPr>
              <a:t>Connection between the system parts must be reliable</a:t>
            </a:r>
            <a:endParaRPr sz="1600">
              <a:solidFill>
                <a:schemeClr val="dk1"/>
              </a:solidFill>
            </a:endParaRPr>
          </a:p>
          <a:p>
            <a:pPr indent="0" lvl="0" marL="0" rtl="0" algn="l">
              <a:lnSpc>
                <a:spcPct val="100000"/>
              </a:lnSpc>
              <a:spcBef>
                <a:spcPts val="1200"/>
              </a:spcBef>
              <a:spcAft>
                <a:spcPts val="0"/>
              </a:spcAft>
              <a:buNone/>
            </a:pPr>
            <a:r>
              <a:rPr b="1" lang="en" sz="1600">
                <a:solidFill>
                  <a:schemeClr val="dk1"/>
                </a:solidFill>
              </a:rPr>
              <a:t>Physical and Environmental</a:t>
            </a:r>
            <a:endParaRPr b="1" sz="1600">
              <a:solidFill>
                <a:schemeClr val="dk1"/>
              </a:solidFill>
            </a:endParaRPr>
          </a:p>
          <a:p>
            <a:pPr indent="-307340" lvl="0" marL="457200" rtl="0" algn="l">
              <a:lnSpc>
                <a:spcPct val="100000"/>
              </a:lnSpc>
              <a:spcBef>
                <a:spcPts val="1200"/>
              </a:spcBef>
              <a:spcAft>
                <a:spcPts val="0"/>
              </a:spcAft>
              <a:buClr>
                <a:schemeClr val="dk1"/>
              </a:buClr>
              <a:buSzPct val="100000"/>
              <a:buChar char="●"/>
            </a:pPr>
            <a:r>
              <a:rPr lang="en" sz="1600">
                <a:solidFill>
                  <a:schemeClr val="dk1"/>
                </a:solidFill>
              </a:rPr>
              <a:t>Needs to withstand outdoor elements (wind and rain)</a:t>
            </a:r>
            <a:endParaRPr sz="1600">
              <a:solidFill>
                <a:schemeClr val="dk1"/>
              </a:solidFill>
            </a:endParaRPr>
          </a:p>
          <a:p>
            <a:pPr indent="-307340" lvl="0" marL="457200" rtl="0" algn="l">
              <a:lnSpc>
                <a:spcPct val="100000"/>
              </a:lnSpc>
              <a:spcBef>
                <a:spcPts val="0"/>
              </a:spcBef>
              <a:spcAft>
                <a:spcPts val="0"/>
              </a:spcAft>
              <a:buClr>
                <a:schemeClr val="dk1"/>
              </a:buClr>
              <a:buSzPct val="100000"/>
              <a:buChar char="●"/>
            </a:pPr>
            <a:r>
              <a:rPr lang="en" sz="1600">
                <a:solidFill>
                  <a:schemeClr val="dk1"/>
                </a:solidFill>
              </a:rPr>
              <a:t>Needs to be portable and stable with modular parts, mounting, and power supply to reduce system downtime and speed up repair and maintenance</a:t>
            </a:r>
            <a:endParaRPr sz="1600">
              <a:solidFill>
                <a:schemeClr val="dk1"/>
              </a:solidFill>
            </a:endParaRPr>
          </a:p>
          <a:p>
            <a:pPr indent="0" lvl="0" marL="0" rtl="0" algn="l">
              <a:lnSpc>
                <a:spcPct val="100000"/>
              </a:lnSpc>
              <a:spcBef>
                <a:spcPts val="1200"/>
              </a:spcBef>
              <a:spcAft>
                <a:spcPts val="0"/>
              </a:spcAft>
              <a:buNone/>
            </a:pPr>
            <a:r>
              <a:rPr b="1" lang="en" sz="1600">
                <a:solidFill>
                  <a:schemeClr val="dk1"/>
                </a:solidFill>
              </a:rPr>
              <a:t>Economic</a:t>
            </a:r>
            <a:endParaRPr b="1" sz="1600">
              <a:solidFill>
                <a:schemeClr val="dk1"/>
              </a:solidFill>
            </a:endParaRPr>
          </a:p>
          <a:p>
            <a:pPr indent="-307340" lvl="0" marL="457200" rtl="0" algn="l">
              <a:lnSpc>
                <a:spcPct val="100000"/>
              </a:lnSpc>
              <a:spcBef>
                <a:spcPts val="1200"/>
              </a:spcBef>
              <a:spcAft>
                <a:spcPts val="0"/>
              </a:spcAft>
              <a:buClr>
                <a:schemeClr val="dk1"/>
              </a:buClr>
              <a:buSzPct val="100000"/>
              <a:buChar char="●"/>
            </a:pPr>
            <a:r>
              <a:rPr lang="en" sz="1600">
                <a:solidFill>
                  <a:schemeClr val="dk1"/>
                </a:solidFill>
              </a:rPr>
              <a:t>Must cost $250 or less, necessitating cost-effective components</a:t>
            </a:r>
            <a:endParaRPr sz="1600">
              <a:solidFill>
                <a:schemeClr val="dk1"/>
              </a:solidFill>
            </a:endParaRPr>
          </a:p>
          <a:p>
            <a:pPr indent="0" lvl="0" marL="0" rtl="0" algn="l">
              <a:spcBef>
                <a:spcPts val="1200"/>
              </a:spcBef>
              <a:spcAft>
                <a:spcPts val="0"/>
              </a:spcAft>
              <a:buNone/>
            </a:pPr>
            <a:r>
              <a:rPr b="1" lang="en" sz="1600">
                <a:solidFill>
                  <a:schemeClr val="dk1"/>
                </a:solidFill>
              </a:rPr>
              <a:t>Feasibility</a:t>
            </a:r>
            <a:endParaRPr b="1" sz="1600">
              <a:solidFill>
                <a:schemeClr val="dk1"/>
              </a:solidFill>
            </a:endParaRPr>
          </a:p>
          <a:p>
            <a:pPr indent="-307340" lvl="0" marL="457200" rtl="0" algn="l">
              <a:spcBef>
                <a:spcPts val="1200"/>
              </a:spcBef>
              <a:spcAft>
                <a:spcPts val="0"/>
              </a:spcAft>
              <a:buClr>
                <a:schemeClr val="dk1"/>
              </a:buClr>
              <a:buSzPct val="100000"/>
              <a:buChar char="●"/>
            </a:pPr>
            <a:r>
              <a:rPr lang="en" sz="1600">
                <a:solidFill>
                  <a:schemeClr val="dk1"/>
                </a:solidFill>
              </a:rPr>
              <a:t>Core technology, such as Python image processing and Wi-Fi, is well documented and </a:t>
            </a:r>
            <a:r>
              <a:rPr lang="en" sz="1600">
                <a:solidFill>
                  <a:schemeClr val="dk1"/>
                </a:solidFill>
              </a:rPr>
              <a:t>achievable</a:t>
            </a:r>
            <a:endParaRPr sz="1600">
              <a:solidFill>
                <a:schemeClr val="dk1"/>
              </a:solidFill>
            </a:endParaRPr>
          </a:p>
          <a:p>
            <a:pPr indent="-307340" lvl="0" marL="457200" rtl="0" algn="l">
              <a:spcBef>
                <a:spcPts val="0"/>
              </a:spcBef>
              <a:spcAft>
                <a:spcPts val="0"/>
              </a:spcAft>
              <a:buClr>
                <a:schemeClr val="dk1"/>
              </a:buClr>
              <a:buSzPct val="100000"/>
              <a:buChar char="●"/>
            </a:pPr>
            <a:r>
              <a:rPr lang="en" sz="1600">
                <a:solidFill>
                  <a:schemeClr val="dk1"/>
                </a:solidFill>
              </a:rPr>
              <a:t>Main challenge will be creating a fast and efficient system within our budget</a:t>
            </a:r>
            <a:endParaRPr sz="16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11" name="Shape 111"/>
        <p:cNvGrpSpPr/>
        <p:nvPr/>
      </p:nvGrpSpPr>
      <p:grpSpPr>
        <a:xfrm>
          <a:off x="0" y="0"/>
          <a:ext cx="0" cy="0"/>
          <a:chOff x="0" y="0"/>
          <a:chExt cx="0" cy="0"/>
        </a:xfrm>
      </p:grpSpPr>
      <p:sp>
        <p:nvSpPr>
          <p:cNvPr id="112" name="Google Shape;112;p21"/>
          <p:cNvSpPr/>
          <p:nvPr/>
        </p:nvSpPr>
        <p:spPr>
          <a:xfrm>
            <a:off x="209850" y="1017725"/>
            <a:ext cx="8724300" cy="3744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Design Alternatives and Rationale</a:t>
            </a:r>
            <a:endParaRPr b="1" sz="2620">
              <a:solidFill>
                <a:schemeClr val="lt1"/>
              </a:solidFill>
              <a:latin typeface="Atkinson Hyperlegible"/>
              <a:ea typeface="Atkinson Hyperlegible"/>
              <a:cs typeface="Atkinson Hyperlegible"/>
              <a:sym typeface="Atkinson Hyperlegible"/>
            </a:endParaRPr>
          </a:p>
        </p:txBody>
      </p:sp>
      <p:graphicFrame>
        <p:nvGraphicFramePr>
          <p:cNvPr id="114" name="Google Shape;114;p21"/>
          <p:cNvGraphicFramePr/>
          <p:nvPr/>
        </p:nvGraphicFramePr>
        <p:xfrm>
          <a:off x="861375" y="1547625"/>
          <a:ext cx="3000000" cy="3000000"/>
        </p:xfrm>
        <a:graphic>
          <a:graphicData uri="http://schemas.openxmlformats.org/drawingml/2006/table">
            <a:tbl>
              <a:tblPr>
                <a:noFill/>
                <a:tableStyleId>{1EEEB366-D9E5-4FE7-BC47-A99282684B44}</a:tableStyleId>
              </a:tblPr>
              <a:tblGrid>
                <a:gridCol w="1960575"/>
                <a:gridCol w="2677300"/>
                <a:gridCol w="3061350"/>
              </a:tblGrid>
              <a:tr h="381000">
                <a:tc>
                  <a:txBody>
                    <a:bodyPr/>
                    <a:lstStyle/>
                    <a:p>
                      <a:pPr indent="0" lvl="0" marL="0" rtl="0" algn="ctr">
                        <a:lnSpc>
                          <a:spcPct val="115000"/>
                        </a:lnSpc>
                        <a:spcBef>
                          <a:spcPts val="0"/>
                        </a:spcBef>
                        <a:spcAft>
                          <a:spcPts val="0"/>
                        </a:spcAft>
                        <a:buNone/>
                      </a:pPr>
                      <a:r>
                        <a:rPr b="1" lang="en" sz="1200"/>
                        <a:t>Solution</a:t>
                      </a:r>
                      <a:endParaRPr b="1" sz="1200"/>
                    </a:p>
                  </a:txBody>
                  <a:tcPr marT="91425" marB="91425" marR="91425" marL="91425">
                    <a:solidFill>
                      <a:srgbClr val="F4CCCC"/>
                    </a:solidFill>
                  </a:tcPr>
                </a:tc>
                <a:tc>
                  <a:txBody>
                    <a:bodyPr/>
                    <a:lstStyle/>
                    <a:p>
                      <a:pPr indent="0" lvl="0" marL="0" rtl="0" algn="ctr">
                        <a:lnSpc>
                          <a:spcPct val="115000"/>
                        </a:lnSpc>
                        <a:spcBef>
                          <a:spcPts val="0"/>
                        </a:spcBef>
                        <a:spcAft>
                          <a:spcPts val="0"/>
                        </a:spcAft>
                        <a:buNone/>
                      </a:pPr>
                      <a:r>
                        <a:rPr b="1" lang="en" sz="1200"/>
                        <a:t>Pros</a:t>
                      </a:r>
                      <a:endParaRPr b="1" sz="1200"/>
                    </a:p>
                  </a:txBody>
                  <a:tcPr marT="91425" marB="91425" marR="91425" marL="91425">
                    <a:solidFill>
                      <a:srgbClr val="F4CCCC"/>
                    </a:solidFill>
                  </a:tcPr>
                </a:tc>
                <a:tc>
                  <a:txBody>
                    <a:bodyPr/>
                    <a:lstStyle/>
                    <a:p>
                      <a:pPr indent="0" lvl="0" marL="0" rtl="0" algn="ctr">
                        <a:lnSpc>
                          <a:spcPct val="115000"/>
                        </a:lnSpc>
                        <a:spcBef>
                          <a:spcPts val="0"/>
                        </a:spcBef>
                        <a:spcAft>
                          <a:spcPts val="0"/>
                        </a:spcAft>
                        <a:buNone/>
                      </a:pPr>
                      <a:r>
                        <a:rPr b="1" lang="en" sz="1200"/>
                        <a:t>Cons</a:t>
                      </a:r>
                      <a:endParaRPr b="1" sz="1200"/>
                    </a:p>
                  </a:txBody>
                  <a:tcPr marT="91425" marB="91425" marR="91425" marL="91425">
                    <a:solidFill>
                      <a:srgbClr val="F4CCCC"/>
                    </a:solidFill>
                  </a:tcPr>
                </a:tc>
              </a:tr>
              <a:tr h="381000">
                <a:tc>
                  <a:txBody>
                    <a:bodyPr/>
                    <a:lstStyle/>
                    <a:p>
                      <a:pPr indent="0" lvl="0" marL="0" rtl="0" algn="l">
                        <a:lnSpc>
                          <a:spcPct val="115000"/>
                        </a:lnSpc>
                        <a:spcBef>
                          <a:spcPts val="0"/>
                        </a:spcBef>
                        <a:spcAft>
                          <a:spcPts val="0"/>
                        </a:spcAft>
                        <a:buNone/>
                      </a:pPr>
                      <a:r>
                        <a:rPr b="1" lang="en" sz="1200"/>
                        <a:t>Manual Pickup App (</a:t>
                      </a:r>
                      <a:r>
                        <a:rPr b="1" lang="en" sz="1200"/>
                        <a:t>PikMyKid</a:t>
                      </a:r>
                      <a:r>
                        <a:rPr b="1" lang="en" sz="1200"/>
                        <a:t>)</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Easy to implement; low cost; reduces paperwork</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Requires staff queue management; no automated vehicle identification</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Integrated Dismissal System (Beeline)</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Improves communication; integrates with school systems</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Requires training and infrastructure; still staff-monitored</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Geofencing (Car-Pool App)</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Real-time arrival alerts; reduced manual check-ins</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Dependent on GPS accuracy, mobile devices, and connectivity</a:t>
                      </a:r>
                      <a:endParaRPr sz="1200"/>
                    </a:p>
                  </a:txBody>
                  <a:tcPr marT="91425" marB="91425" marR="91425" marL="91425"/>
                </a:tc>
              </a:tr>
              <a:tr h="381000">
                <a:tc>
                  <a:txBody>
                    <a:bodyPr/>
                    <a:lstStyle/>
                    <a:p>
                      <a:pPr indent="0" lvl="0" marL="0" rtl="0" algn="l">
                        <a:lnSpc>
                          <a:spcPct val="115000"/>
                        </a:lnSpc>
                        <a:spcBef>
                          <a:spcPts val="0"/>
                        </a:spcBef>
                        <a:spcAft>
                          <a:spcPts val="0"/>
                        </a:spcAft>
                        <a:buNone/>
                      </a:pPr>
                      <a:r>
                        <a:rPr b="1" lang="en" sz="1200"/>
                        <a:t>GPS Check-In (IschoolRide)</a:t>
                      </a:r>
                      <a:endParaRPr b="1" sz="1200"/>
                    </a:p>
                  </a:txBody>
                  <a:tcPr marT="91425" marB="91425" marR="91425" marL="91425"/>
                </a:tc>
                <a:tc>
                  <a:txBody>
                    <a:bodyPr/>
                    <a:lstStyle/>
                    <a:p>
                      <a:pPr indent="0" lvl="0" marL="0" rtl="0" algn="l">
                        <a:lnSpc>
                          <a:spcPct val="115000"/>
                        </a:lnSpc>
                        <a:spcBef>
                          <a:spcPts val="0"/>
                        </a:spcBef>
                        <a:spcAft>
                          <a:spcPts val="0"/>
                        </a:spcAft>
                        <a:buNone/>
                      </a:pPr>
                      <a:r>
                        <a:rPr lang="en" sz="1200"/>
                        <a:t>Keeps students inside until arrival; reduces idle staging</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Relies on parent app usage and accurate GPS; staff verification will still be needed</a:t>
                      </a:r>
                      <a:endParaRPr sz="1200"/>
                    </a:p>
                  </a:txBody>
                  <a:tcPr marT="91425" marB="91425" marR="91425" marL="91425"/>
                </a:tc>
              </a:tr>
            </a:tbl>
          </a:graphicData>
        </a:graphic>
      </p:graphicFrame>
      <p:sp>
        <p:nvSpPr>
          <p:cNvPr id="115" name="Google Shape;115;p21"/>
          <p:cNvSpPr txBox="1"/>
          <p:nvPr/>
        </p:nvSpPr>
        <p:spPr>
          <a:xfrm>
            <a:off x="1769388" y="4232725"/>
            <a:ext cx="7374600" cy="49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100">
                <a:solidFill>
                  <a:schemeClr val="dk1"/>
                </a:solidFill>
              </a:rPr>
              <a:t>All alternatives improve organization but still rely on staff actions, limiting full automation.</a:t>
            </a:r>
            <a:endParaRPr i="1"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19" name="Shape 119"/>
        <p:cNvGrpSpPr/>
        <p:nvPr/>
      </p:nvGrpSpPr>
      <p:grpSpPr>
        <a:xfrm>
          <a:off x="0" y="0"/>
          <a:ext cx="0" cy="0"/>
          <a:chOff x="0" y="0"/>
          <a:chExt cx="0" cy="0"/>
        </a:xfrm>
      </p:grpSpPr>
      <p:sp>
        <p:nvSpPr>
          <p:cNvPr id="120" name="Google Shape;120;p22"/>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22"/>
          <p:cNvSpPr txBox="1"/>
          <p:nvPr>
            <p:ph type="title"/>
          </p:nvPr>
        </p:nvSpPr>
        <p:spPr>
          <a:xfrm>
            <a:off x="311700" y="124850"/>
            <a:ext cx="8520600" cy="89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Level Functional Description</a:t>
            </a:r>
            <a:r>
              <a:rPr b="1" lang="en" sz="2620">
                <a:solidFill>
                  <a:schemeClr val="lt1"/>
                </a:solidFill>
                <a:latin typeface="Atkinson Hyperlegible"/>
                <a:ea typeface="Atkinson Hyperlegible"/>
                <a:cs typeface="Atkinson Hyperlegible"/>
                <a:sym typeface="Atkinson Hyperlegible"/>
              </a:rPr>
              <a:t> - High-Level Block Diagram</a:t>
            </a:r>
            <a:endParaRPr b="1" sz="2620">
              <a:solidFill>
                <a:schemeClr val="lt1"/>
              </a:solidFill>
              <a:latin typeface="Atkinson Hyperlegible"/>
              <a:ea typeface="Atkinson Hyperlegible"/>
              <a:cs typeface="Atkinson Hyperlegible"/>
              <a:sym typeface="Atkinson Hyperlegible"/>
            </a:endParaRPr>
          </a:p>
        </p:txBody>
      </p:sp>
      <p:sp>
        <p:nvSpPr>
          <p:cNvPr id="122" name="Google Shape;122;p22"/>
          <p:cNvSpPr txBox="1"/>
          <p:nvPr/>
        </p:nvSpPr>
        <p:spPr>
          <a:xfrm>
            <a:off x="2457825" y="1077087"/>
            <a:ext cx="34740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rPr lang="en" sz="1219">
                <a:solidFill>
                  <a:srgbClr val="595959"/>
                </a:solidFill>
              </a:rPr>
              <a:t>Car line entrance</a:t>
            </a:r>
            <a:endParaRPr sz="1219">
              <a:solidFill>
                <a:srgbClr val="595959"/>
              </a:solidFill>
            </a:endParaRPr>
          </a:p>
        </p:txBody>
      </p:sp>
      <p:sp>
        <p:nvSpPr>
          <p:cNvPr id="123" name="Google Shape;123;p22"/>
          <p:cNvSpPr/>
          <p:nvPr/>
        </p:nvSpPr>
        <p:spPr>
          <a:xfrm>
            <a:off x="3775999" y="1136525"/>
            <a:ext cx="197100" cy="1860300"/>
          </a:xfrm>
          <a:prstGeom prst="rect">
            <a:avLst/>
          </a:prstGeom>
          <a:solidFill>
            <a:srgbClr val="595959"/>
          </a:solidFill>
          <a:ln>
            <a:noFill/>
          </a:ln>
        </p:spPr>
        <p:txBody>
          <a:bodyPr anchorCtr="0" anchor="ctr" bIns="61900" lIns="61900" spcFirstLastPara="1" rIns="61900" wrap="square" tIns="61900">
            <a:noAutofit/>
          </a:bodyPr>
          <a:lstStyle/>
          <a:p>
            <a:pPr indent="0" lvl="0" marL="0" rtl="0" algn="ctr">
              <a:spcBef>
                <a:spcPts val="0"/>
              </a:spcBef>
              <a:spcAft>
                <a:spcPts val="0"/>
              </a:spcAft>
              <a:buNone/>
            </a:pPr>
            <a:r>
              <a:t/>
            </a:r>
            <a:endParaRPr sz="948"/>
          </a:p>
        </p:txBody>
      </p:sp>
      <p:sp>
        <p:nvSpPr>
          <p:cNvPr id="124" name="Google Shape;124;p22"/>
          <p:cNvSpPr/>
          <p:nvPr/>
        </p:nvSpPr>
        <p:spPr>
          <a:xfrm rot="5400000">
            <a:off x="4702885" y="1843216"/>
            <a:ext cx="227100" cy="2080500"/>
          </a:xfrm>
          <a:prstGeom prst="rect">
            <a:avLst/>
          </a:prstGeom>
          <a:solidFill>
            <a:srgbClr val="595959"/>
          </a:solidFill>
          <a:ln>
            <a:noFill/>
          </a:ln>
        </p:spPr>
        <p:txBody>
          <a:bodyPr anchorCtr="0" anchor="ctr" bIns="61900" lIns="61900" spcFirstLastPara="1" rIns="61900" wrap="square" tIns="61900">
            <a:noAutofit/>
          </a:bodyPr>
          <a:lstStyle/>
          <a:p>
            <a:pPr indent="0" lvl="0" marL="0" rtl="0" algn="ctr">
              <a:spcBef>
                <a:spcPts val="0"/>
              </a:spcBef>
              <a:spcAft>
                <a:spcPts val="0"/>
              </a:spcAft>
              <a:buNone/>
            </a:pPr>
            <a:r>
              <a:t/>
            </a:r>
            <a:endParaRPr sz="948"/>
          </a:p>
        </p:txBody>
      </p:sp>
      <p:pic>
        <p:nvPicPr>
          <p:cNvPr descr="Editable stroke icons of car transport in flat design. (Provided by Getty Images)" id="125" name="Google Shape;125;p22"/>
          <p:cNvPicPr preferRelativeResize="0"/>
          <p:nvPr/>
        </p:nvPicPr>
        <p:blipFill rotWithShape="1">
          <a:blip r:embed="rId3">
            <a:alphaModFix/>
          </a:blip>
          <a:srcRect b="25473" l="13370" r="13648" t="24706"/>
          <a:stretch/>
        </p:blipFill>
        <p:spPr>
          <a:xfrm flipH="1">
            <a:off x="3701797" y="1386627"/>
            <a:ext cx="345359" cy="210816"/>
          </a:xfrm>
          <a:prstGeom prst="rect">
            <a:avLst/>
          </a:prstGeom>
          <a:noFill/>
          <a:ln>
            <a:noFill/>
          </a:ln>
        </p:spPr>
      </p:pic>
      <p:sp>
        <p:nvSpPr>
          <p:cNvPr id="126" name="Google Shape;126;p22"/>
          <p:cNvSpPr txBox="1"/>
          <p:nvPr/>
        </p:nvSpPr>
        <p:spPr>
          <a:xfrm>
            <a:off x="3821268" y="2717360"/>
            <a:ext cx="34938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rPr lang="en" sz="1219">
                <a:solidFill>
                  <a:srgbClr val="FFFF00"/>
                </a:solidFill>
              </a:rPr>
              <a:t>--------------------------------</a:t>
            </a:r>
            <a:endParaRPr sz="1219">
              <a:solidFill>
                <a:srgbClr val="FFFF00"/>
              </a:solidFill>
            </a:endParaRPr>
          </a:p>
        </p:txBody>
      </p:sp>
      <p:pic>
        <p:nvPicPr>
          <p:cNvPr descr="Editable stroke icons of car transport in flat design. (Provided by Getty Images)" id="127" name="Google Shape;127;p22"/>
          <p:cNvPicPr preferRelativeResize="0"/>
          <p:nvPr/>
        </p:nvPicPr>
        <p:blipFill rotWithShape="1">
          <a:blip r:embed="rId3">
            <a:alphaModFix/>
          </a:blip>
          <a:srcRect b="25473" l="13370" r="13648" t="24706"/>
          <a:stretch/>
        </p:blipFill>
        <p:spPr>
          <a:xfrm>
            <a:off x="4491478" y="2803591"/>
            <a:ext cx="345359" cy="210816"/>
          </a:xfrm>
          <a:prstGeom prst="rect">
            <a:avLst/>
          </a:prstGeom>
          <a:noFill/>
          <a:ln>
            <a:noFill/>
          </a:ln>
        </p:spPr>
      </p:pic>
      <p:pic>
        <p:nvPicPr>
          <p:cNvPr descr="Editable stroke icons of car transport in flat design. (Provided by Getty Images)" id="128" name="Google Shape;128;p22"/>
          <p:cNvPicPr preferRelativeResize="0"/>
          <p:nvPr/>
        </p:nvPicPr>
        <p:blipFill rotWithShape="1">
          <a:blip r:embed="rId3">
            <a:alphaModFix/>
          </a:blip>
          <a:srcRect b="25473" l="13370" r="13648" t="24706"/>
          <a:stretch/>
        </p:blipFill>
        <p:spPr>
          <a:xfrm>
            <a:off x="4976233" y="2803591"/>
            <a:ext cx="345359" cy="210816"/>
          </a:xfrm>
          <a:prstGeom prst="rect">
            <a:avLst/>
          </a:prstGeom>
          <a:noFill/>
          <a:ln>
            <a:noFill/>
          </a:ln>
        </p:spPr>
      </p:pic>
      <p:pic>
        <p:nvPicPr>
          <p:cNvPr descr="Editable stroke icons of car transport in flat design. (Provided by Getty Images)" id="129" name="Google Shape;129;p22"/>
          <p:cNvPicPr preferRelativeResize="0"/>
          <p:nvPr/>
        </p:nvPicPr>
        <p:blipFill rotWithShape="1">
          <a:blip r:embed="rId3">
            <a:alphaModFix/>
          </a:blip>
          <a:srcRect b="25473" l="13370" r="13648" t="24706"/>
          <a:stretch/>
        </p:blipFill>
        <p:spPr>
          <a:xfrm>
            <a:off x="5460989" y="2803591"/>
            <a:ext cx="345359" cy="210816"/>
          </a:xfrm>
          <a:prstGeom prst="rect">
            <a:avLst/>
          </a:prstGeom>
          <a:noFill/>
          <a:ln>
            <a:noFill/>
          </a:ln>
        </p:spPr>
      </p:pic>
      <p:sp>
        <p:nvSpPr>
          <p:cNvPr id="130" name="Google Shape;130;p22"/>
          <p:cNvSpPr txBox="1"/>
          <p:nvPr/>
        </p:nvSpPr>
        <p:spPr>
          <a:xfrm>
            <a:off x="2363131" y="3541182"/>
            <a:ext cx="30975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t/>
            </a:r>
            <a:endParaRPr sz="1219">
              <a:solidFill>
                <a:srgbClr val="595959"/>
              </a:solidFill>
            </a:endParaRPr>
          </a:p>
        </p:txBody>
      </p:sp>
      <p:sp>
        <p:nvSpPr>
          <p:cNvPr id="131" name="Google Shape;131;p22"/>
          <p:cNvSpPr txBox="1"/>
          <p:nvPr/>
        </p:nvSpPr>
        <p:spPr>
          <a:xfrm>
            <a:off x="4459718" y="2508864"/>
            <a:ext cx="3493800" cy="312600"/>
          </a:xfrm>
          <a:prstGeom prst="rect">
            <a:avLst/>
          </a:prstGeom>
          <a:noFill/>
          <a:ln>
            <a:noFill/>
          </a:ln>
        </p:spPr>
        <p:txBody>
          <a:bodyPr anchorCtr="0" anchor="t" bIns="61900" lIns="61900" spcFirstLastPara="1" rIns="61900" wrap="square" tIns="61900">
            <a:spAutoFit/>
          </a:bodyPr>
          <a:lstStyle/>
          <a:p>
            <a:pPr indent="0" lvl="0" marL="0" rtl="0" algn="l">
              <a:spcBef>
                <a:spcPts val="0"/>
              </a:spcBef>
              <a:spcAft>
                <a:spcPts val="0"/>
              </a:spcAft>
              <a:buNone/>
            </a:pPr>
            <a:r>
              <a:rPr lang="en" sz="1219">
                <a:solidFill>
                  <a:srgbClr val="595959"/>
                </a:solidFill>
              </a:rPr>
              <a:t>Car Stations</a:t>
            </a:r>
            <a:endParaRPr sz="1219">
              <a:solidFill>
                <a:srgbClr val="595959"/>
              </a:solidFill>
            </a:endParaRPr>
          </a:p>
        </p:txBody>
      </p:sp>
      <p:sp>
        <p:nvSpPr>
          <p:cNvPr id="132" name="Google Shape;132;p22"/>
          <p:cNvSpPr/>
          <p:nvPr/>
        </p:nvSpPr>
        <p:spPr>
          <a:xfrm>
            <a:off x="2652454" y="1449128"/>
            <a:ext cx="938400" cy="4485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Car Entrance Module</a:t>
            </a:r>
            <a:endParaRPr sz="948"/>
          </a:p>
        </p:txBody>
      </p:sp>
      <p:pic>
        <p:nvPicPr>
          <p:cNvPr id="133" name="Google Shape;133;p22"/>
          <p:cNvPicPr preferRelativeResize="0"/>
          <p:nvPr/>
        </p:nvPicPr>
        <p:blipFill>
          <a:blip r:embed="rId4">
            <a:alphaModFix/>
          </a:blip>
          <a:stretch>
            <a:fillRect/>
          </a:stretch>
        </p:blipFill>
        <p:spPr>
          <a:xfrm>
            <a:off x="1987201" y="3112025"/>
            <a:ext cx="3748599" cy="1400851"/>
          </a:xfrm>
          <a:prstGeom prst="rect">
            <a:avLst/>
          </a:prstGeom>
          <a:noFill/>
          <a:ln>
            <a:noFill/>
          </a:ln>
        </p:spPr>
      </p:pic>
      <p:sp>
        <p:nvSpPr>
          <p:cNvPr id="134" name="Google Shape;134;p22"/>
          <p:cNvSpPr/>
          <p:nvPr/>
        </p:nvSpPr>
        <p:spPr>
          <a:xfrm>
            <a:off x="4776800" y="4041500"/>
            <a:ext cx="998700" cy="4485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Main Server Module</a:t>
            </a:r>
            <a:endParaRPr sz="948"/>
          </a:p>
        </p:txBody>
      </p:sp>
      <p:pic>
        <p:nvPicPr>
          <p:cNvPr id="135" name="Google Shape;135;p22"/>
          <p:cNvPicPr preferRelativeResize="0"/>
          <p:nvPr/>
        </p:nvPicPr>
        <p:blipFill>
          <a:blip r:embed="rId5">
            <a:alphaModFix/>
          </a:blip>
          <a:stretch>
            <a:fillRect/>
          </a:stretch>
        </p:blipFill>
        <p:spPr>
          <a:xfrm>
            <a:off x="1877517" y="3597121"/>
            <a:ext cx="998547" cy="892887"/>
          </a:xfrm>
          <a:prstGeom prst="rect">
            <a:avLst/>
          </a:prstGeom>
          <a:noFill/>
          <a:ln>
            <a:noFill/>
          </a:ln>
        </p:spPr>
      </p:pic>
      <p:sp>
        <p:nvSpPr>
          <p:cNvPr id="136" name="Google Shape;136;p22"/>
          <p:cNvSpPr/>
          <p:nvPr/>
        </p:nvSpPr>
        <p:spPr>
          <a:xfrm>
            <a:off x="1817146" y="3112028"/>
            <a:ext cx="1119300" cy="4851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Kids Waiting Module</a:t>
            </a:r>
            <a:endParaRPr sz="948"/>
          </a:p>
        </p:txBody>
      </p:sp>
      <p:sp>
        <p:nvSpPr>
          <p:cNvPr id="137" name="Google Shape;137;p22"/>
          <p:cNvSpPr/>
          <p:nvPr/>
        </p:nvSpPr>
        <p:spPr>
          <a:xfrm>
            <a:off x="4933131" y="2008304"/>
            <a:ext cx="998700" cy="485100"/>
          </a:xfrm>
          <a:prstGeom prst="rect">
            <a:avLst/>
          </a:prstGeom>
          <a:solidFill>
            <a:srgbClr val="EEEEEE"/>
          </a:solidFill>
          <a:ln cap="flat" cmpd="sng" w="6450">
            <a:solidFill>
              <a:srgbClr val="595959"/>
            </a:solidFill>
            <a:prstDash val="solid"/>
            <a:round/>
            <a:headEnd len="sm" w="sm" type="none"/>
            <a:tailEnd len="sm" w="sm" type="none"/>
          </a:ln>
        </p:spPr>
        <p:txBody>
          <a:bodyPr anchorCtr="0" anchor="ctr" bIns="61900" lIns="61900" spcFirstLastPara="1" rIns="61900" wrap="square" tIns="61900">
            <a:noAutofit/>
          </a:bodyPr>
          <a:lstStyle/>
          <a:p>
            <a:pPr indent="0" lvl="0" marL="0" rtl="0" algn="ctr">
              <a:spcBef>
                <a:spcPts val="0"/>
              </a:spcBef>
              <a:spcAft>
                <a:spcPts val="0"/>
              </a:spcAft>
              <a:buNone/>
            </a:pPr>
            <a:r>
              <a:rPr lang="en" sz="948"/>
              <a:t>Zone Pickup Module</a:t>
            </a:r>
            <a:endParaRPr sz="948"/>
          </a:p>
        </p:txBody>
      </p:sp>
      <p:sp>
        <p:nvSpPr>
          <p:cNvPr id="138" name="Google Shape;138;p22"/>
          <p:cNvSpPr txBox="1"/>
          <p:nvPr/>
        </p:nvSpPr>
        <p:spPr>
          <a:xfrm>
            <a:off x="311700" y="1210625"/>
            <a:ext cx="2182500" cy="1400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lang="en" sz="1100">
                <a:solidFill>
                  <a:schemeClr val="dk2"/>
                </a:solidFill>
              </a:rPr>
              <a:t>Scan QR code from parents</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Send QR code data to server, </a:t>
            </a:r>
            <a:r>
              <a:rPr lang="en" sz="1100">
                <a:solidFill>
                  <a:schemeClr val="dk2"/>
                </a:solidFill>
              </a:rPr>
              <a:t>receive zone color</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Instruct parents wh</a:t>
            </a:r>
            <a:r>
              <a:rPr lang="en" sz="1100">
                <a:solidFill>
                  <a:schemeClr val="dk2"/>
                </a:solidFill>
              </a:rPr>
              <a:t>at</a:t>
            </a:r>
            <a:r>
              <a:rPr lang="en" sz="1100">
                <a:solidFill>
                  <a:schemeClr val="dk2"/>
                </a:solidFill>
              </a:rPr>
              <a:t> color zone to go to</a:t>
            </a:r>
            <a:endParaRPr sz="1100">
              <a:solidFill>
                <a:schemeClr val="dk2"/>
              </a:solidFill>
            </a:endParaRPr>
          </a:p>
        </p:txBody>
      </p:sp>
      <p:cxnSp>
        <p:nvCxnSpPr>
          <p:cNvPr id="139" name="Google Shape;139;p22"/>
          <p:cNvCxnSpPr/>
          <p:nvPr/>
        </p:nvCxnSpPr>
        <p:spPr>
          <a:xfrm rot="10800000">
            <a:off x="2494200" y="1672625"/>
            <a:ext cx="158700" cy="1500"/>
          </a:xfrm>
          <a:prstGeom prst="straightConnector1">
            <a:avLst/>
          </a:prstGeom>
          <a:noFill/>
          <a:ln cap="flat" cmpd="sng" w="9525">
            <a:solidFill>
              <a:schemeClr val="dk2"/>
            </a:solidFill>
            <a:prstDash val="solid"/>
            <a:round/>
            <a:headEnd len="med" w="med" type="none"/>
            <a:tailEnd len="med" w="med" type="none"/>
          </a:ln>
        </p:spPr>
      </p:cxnSp>
      <p:sp>
        <p:nvSpPr>
          <p:cNvPr id="140" name="Google Shape;140;p22"/>
          <p:cNvSpPr txBox="1"/>
          <p:nvPr/>
        </p:nvSpPr>
        <p:spPr>
          <a:xfrm>
            <a:off x="251225" y="3056525"/>
            <a:ext cx="1499100" cy="1281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lang="en" sz="1100">
                <a:solidFill>
                  <a:schemeClr val="dk2"/>
                </a:solidFill>
              </a:rPr>
              <a:t>Display website which contains instructions to send kid to car stations</a:t>
            </a:r>
            <a:endParaRPr sz="1100">
              <a:solidFill>
                <a:schemeClr val="dk2"/>
              </a:solidFill>
            </a:endParaRPr>
          </a:p>
        </p:txBody>
      </p:sp>
      <p:cxnSp>
        <p:nvCxnSpPr>
          <p:cNvPr id="141" name="Google Shape;141;p22"/>
          <p:cNvCxnSpPr>
            <a:stCxn id="136" idx="1"/>
          </p:cNvCxnSpPr>
          <p:nvPr/>
        </p:nvCxnSpPr>
        <p:spPr>
          <a:xfrm flipH="1">
            <a:off x="1749346" y="3354578"/>
            <a:ext cx="67800" cy="900"/>
          </a:xfrm>
          <a:prstGeom prst="straightConnector1">
            <a:avLst/>
          </a:prstGeom>
          <a:noFill/>
          <a:ln cap="flat" cmpd="sng" w="9525">
            <a:solidFill>
              <a:schemeClr val="dk2"/>
            </a:solidFill>
            <a:prstDash val="solid"/>
            <a:round/>
            <a:headEnd len="med" w="med" type="none"/>
            <a:tailEnd len="med" w="med" type="none"/>
          </a:ln>
        </p:spPr>
      </p:cxnSp>
      <p:sp>
        <p:nvSpPr>
          <p:cNvPr id="142" name="Google Shape;142;p22"/>
          <p:cNvSpPr txBox="1"/>
          <p:nvPr/>
        </p:nvSpPr>
        <p:spPr>
          <a:xfrm>
            <a:off x="6474375" y="1195676"/>
            <a:ext cx="2358000" cy="1488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lang="en" sz="1100">
                <a:solidFill>
                  <a:schemeClr val="dk2"/>
                </a:solidFill>
              </a:rPr>
              <a:t>Allow volunteers/adults to see kids in each zone from </a:t>
            </a:r>
            <a:r>
              <a:rPr lang="en" sz="1100">
                <a:solidFill>
                  <a:schemeClr val="dk2"/>
                </a:solidFill>
              </a:rPr>
              <a:t>update zones when a kid has been picked up</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Accessible through mobile device (volunteer’s phone)</a:t>
            </a:r>
            <a:endParaRPr sz="1100">
              <a:solidFill>
                <a:schemeClr val="dk2"/>
              </a:solidFill>
            </a:endParaRPr>
          </a:p>
        </p:txBody>
      </p:sp>
      <p:sp>
        <p:nvSpPr>
          <p:cNvPr id="143" name="Google Shape;143;p22"/>
          <p:cNvSpPr txBox="1"/>
          <p:nvPr/>
        </p:nvSpPr>
        <p:spPr>
          <a:xfrm>
            <a:off x="6073425" y="3174750"/>
            <a:ext cx="2635500" cy="1488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lang="en" sz="1100">
                <a:solidFill>
                  <a:schemeClr val="dk2"/>
                </a:solidFill>
              </a:rPr>
              <a:t>Host a </a:t>
            </a:r>
            <a:r>
              <a:rPr lang="en" sz="1100">
                <a:solidFill>
                  <a:schemeClr val="dk2"/>
                </a:solidFill>
              </a:rPr>
              <a:t>website that can be updated in real time</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Connect to a database that contains parent/kid info</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Handle information update requests from parents</a:t>
            </a:r>
            <a:endParaRPr sz="1100">
              <a:solidFill>
                <a:schemeClr val="dk2"/>
              </a:solidFill>
            </a:endParaRPr>
          </a:p>
          <a:p>
            <a:pPr indent="-298450" lvl="0" marL="457200" rtl="0" algn="l">
              <a:spcBef>
                <a:spcPts val="0"/>
              </a:spcBef>
              <a:spcAft>
                <a:spcPts val="0"/>
              </a:spcAft>
              <a:buClr>
                <a:schemeClr val="dk2"/>
              </a:buClr>
              <a:buSzPts val="1100"/>
              <a:buChar char="●"/>
            </a:pPr>
            <a:r>
              <a:rPr lang="en" sz="1100">
                <a:solidFill>
                  <a:schemeClr val="dk2"/>
                </a:solidFill>
              </a:rPr>
              <a:t>Send updates to car entrance module</a:t>
            </a:r>
            <a:endParaRPr sz="1100">
              <a:solidFill>
                <a:schemeClr val="dk2"/>
              </a:solidFill>
            </a:endParaRPr>
          </a:p>
        </p:txBody>
      </p:sp>
      <p:cxnSp>
        <p:nvCxnSpPr>
          <p:cNvPr id="144" name="Google Shape;144;p22"/>
          <p:cNvCxnSpPr>
            <a:stCxn id="137" idx="3"/>
          </p:cNvCxnSpPr>
          <p:nvPr/>
        </p:nvCxnSpPr>
        <p:spPr>
          <a:xfrm>
            <a:off x="5931831" y="2250854"/>
            <a:ext cx="544200" cy="6900"/>
          </a:xfrm>
          <a:prstGeom prst="straightConnector1">
            <a:avLst/>
          </a:prstGeom>
          <a:noFill/>
          <a:ln cap="flat" cmpd="sng" w="9525">
            <a:solidFill>
              <a:schemeClr val="dk2"/>
            </a:solidFill>
            <a:prstDash val="solid"/>
            <a:round/>
            <a:headEnd len="med" w="med" type="none"/>
            <a:tailEnd len="med" w="med" type="none"/>
          </a:ln>
        </p:spPr>
      </p:cxnSp>
      <p:cxnSp>
        <p:nvCxnSpPr>
          <p:cNvPr id="145" name="Google Shape;145;p22"/>
          <p:cNvCxnSpPr>
            <a:stCxn id="134" idx="3"/>
          </p:cNvCxnSpPr>
          <p:nvPr/>
        </p:nvCxnSpPr>
        <p:spPr>
          <a:xfrm>
            <a:off x="5775500" y="4265750"/>
            <a:ext cx="297000" cy="3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49" name="Shape 149"/>
        <p:cNvGrpSpPr/>
        <p:nvPr/>
      </p:nvGrpSpPr>
      <p:grpSpPr>
        <a:xfrm>
          <a:off x="0" y="0"/>
          <a:ext cx="0" cy="0"/>
          <a:chOff x="0" y="0"/>
          <a:chExt cx="0" cy="0"/>
        </a:xfrm>
      </p:grpSpPr>
      <p:sp>
        <p:nvSpPr>
          <p:cNvPr id="150" name="Google Shape;150;p23"/>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Component</a:t>
            </a:r>
            <a:r>
              <a:rPr b="1" lang="en" sz="2620">
                <a:solidFill>
                  <a:schemeClr val="lt1"/>
                </a:solidFill>
                <a:latin typeface="Atkinson Hyperlegible"/>
                <a:ea typeface="Atkinson Hyperlegible"/>
                <a:cs typeface="Atkinson Hyperlegible"/>
                <a:sym typeface="Atkinson Hyperlegible"/>
              </a:rPr>
              <a:t> - Car Entrance Module</a:t>
            </a:r>
            <a:endParaRPr b="1" sz="2620">
              <a:solidFill>
                <a:schemeClr val="lt1"/>
              </a:solidFill>
              <a:latin typeface="Atkinson Hyperlegible"/>
              <a:ea typeface="Atkinson Hyperlegible"/>
              <a:cs typeface="Atkinson Hyperlegible"/>
              <a:sym typeface="Atkinson Hyperlegible"/>
            </a:endParaRPr>
          </a:p>
        </p:txBody>
      </p:sp>
      <p:sp>
        <p:nvSpPr>
          <p:cNvPr id="152" name="Google Shape;152;p23"/>
          <p:cNvSpPr txBox="1"/>
          <p:nvPr>
            <p:ph idx="1" type="body"/>
          </p:nvPr>
        </p:nvSpPr>
        <p:spPr>
          <a:xfrm>
            <a:off x="311700" y="1096825"/>
            <a:ext cx="4177800" cy="3815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500">
                <a:solidFill>
                  <a:schemeClr val="dk1"/>
                </a:solidFill>
              </a:rPr>
              <a:t>Hardware:</a:t>
            </a:r>
            <a:endParaRPr sz="15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Microcontroller for processing and controlling devices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Camera for images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Display for instructing </a:t>
            </a:r>
            <a:r>
              <a:rPr lang="en" sz="1100">
                <a:solidFill>
                  <a:schemeClr val="dk1"/>
                </a:solidFill>
              </a:rPr>
              <a:t>parents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Rechargeable battery for power</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500">
                <a:solidFill>
                  <a:schemeClr val="dk1"/>
                </a:solidFill>
              </a:rPr>
              <a:t>Software:</a:t>
            </a:r>
            <a:endParaRPr sz="15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Image processing software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Display instructions on screen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Server communication software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500">
                <a:solidFill>
                  <a:schemeClr val="dk1"/>
                </a:solidFill>
              </a:rPr>
              <a:t>Interfaces:</a:t>
            </a:r>
            <a:endParaRPr sz="15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Inputs: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Images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Zone color from server</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Outputs: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Display information to instruct parents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QR code data to server</a:t>
            </a:r>
            <a:endParaRPr sz="1100">
              <a:solidFill>
                <a:schemeClr val="dk1"/>
              </a:solidFill>
            </a:endParaRPr>
          </a:p>
        </p:txBody>
      </p:sp>
      <p:pic>
        <p:nvPicPr>
          <p:cNvPr id="153" name="Google Shape;153;p23"/>
          <p:cNvPicPr preferRelativeResize="0"/>
          <p:nvPr/>
        </p:nvPicPr>
        <p:blipFill rotWithShape="1">
          <a:blip r:embed="rId3">
            <a:alphaModFix/>
          </a:blip>
          <a:srcRect b="8871" l="0" r="3800" t="12202"/>
          <a:stretch/>
        </p:blipFill>
        <p:spPr>
          <a:xfrm>
            <a:off x="4165725" y="1684600"/>
            <a:ext cx="4666574" cy="2863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57" name="Shape 157"/>
        <p:cNvGrpSpPr/>
        <p:nvPr/>
      </p:nvGrpSpPr>
      <p:grpSpPr>
        <a:xfrm>
          <a:off x="0" y="0"/>
          <a:ext cx="0" cy="0"/>
          <a:chOff x="0" y="0"/>
          <a:chExt cx="0" cy="0"/>
        </a:xfrm>
      </p:grpSpPr>
      <p:sp>
        <p:nvSpPr>
          <p:cNvPr id="158" name="Google Shape;158;p24"/>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Component - Car Entrance Module cont.</a:t>
            </a:r>
            <a:endParaRPr b="1" sz="2620">
              <a:solidFill>
                <a:schemeClr val="lt1"/>
              </a:solidFill>
              <a:latin typeface="Atkinson Hyperlegible"/>
              <a:ea typeface="Atkinson Hyperlegible"/>
              <a:cs typeface="Atkinson Hyperlegible"/>
              <a:sym typeface="Atkinson Hyperlegible"/>
            </a:endParaRPr>
          </a:p>
        </p:txBody>
      </p:sp>
      <p:sp>
        <p:nvSpPr>
          <p:cNvPr id="160" name="Google Shape;160;p24"/>
          <p:cNvSpPr txBox="1"/>
          <p:nvPr/>
        </p:nvSpPr>
        <p:spPr>
          <a:xfrm>
            <a:off x="508100" y="1195525"/>
            <a:ext cx="8216400" cy="63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Car Entrance Module Design Progression:</a:t>
            </a:r>
            <a:endParaRPr sz="1800">
              <a:solidFill>
                <a:schemeClr val="dk1"/>
              </a:solidFill>
            </a:endParaRPr>
          </a:p>
        </p:txBody>
      </p:sp>
      <p:pic>
        <p:nvPicPr>
          <p:cNvPr id="161" name="Google Shape;161;p24"/>
          <p:cNvPicPr preferRelativeResize="0"/>
          <p:nvPr/>
        </p:nvPicPr>
        <p:blipFill>
          <a:blip r:embed="rId3">
            <a:alphaModFix/>
          </a:blip>
          <a:stretch>
            <a:fillRect/>
          </a:stretch>
        </p:blipFill>
        <p:spPr>
          <a:xfrm>
            <a:off x="508100" y="1831225"/>
            <a:ext cx="2393525" cy="1862875"/>
          </a:xfrm>
          <a:prstGeom prst="rect">
            <a:avLst/>
          </a:prstGeom>
          <a:noFill/>
          <a:ln>
            <a:noFill/>
          </a:ln>
        </p:spPr>
      </p:pic>
      <p:pic>
        <p:nvPicPr>
          <p:cNvPr id="162" name="Google Shape;162;p24"/>
          <p:cNvPicPr preferRelativeResize="0"/>
          <p:nvPr/>
        </p:nvPicPr>
        <p:blipFill>
          <a:blip r:embed="rId4">
            <a:alphaModFix/>
          </a:blip>
          <a:stretch>
            <a:fillRect/>
          </a:stretch>
        </p:blipFill>
        <p:spPr>
          <a:xfrm>
            <a:off x="3462074" y="1739325"/>
            <a:ext cx="2219850" cy="2046674"/>
          </a:xfrm>
          <a:prstGeom prst="rect">
            <a:avLst/>
          </a:prstGeom>
          <a:noFill/>
          <a:ln>
            <a:noFill/>
          </a:ln>
        </p:spPr>
      </p:pic>
      <p:pic>
        <p:nvPicPr>
          <p:cNvPr id="163" name="Google Shape;163;p24"/>
          <p:cNvPicPr preferRelativeResize="0"/>
          <p:nvPr/>
        </p:nvPicPr>
        <p:blipFill>
          <a:blip r:embed="rId5">
            <a:alphaModFix/>
          </a:blip>
          <a:stretch>
            <a:fillRect/>
          </a:stretch>
        </p:blipFill>
        <p:spPr>
          <a:xfrm>
            <a:off x="6431909" y="1739313"/>
            <a:ext cx="2107117" cy="2046675"/>
          </a:xfrm>
          <a:prstGeom prst="rect">
            <a:avLst/>
          </a:prstGeom>
          <a:noFill/>
          <a:ln>
            <a:noFill/>
          </a:ln>
        </p:spPr>
      </p:pic>
      <p:sp>
        <p:nvSpPr>
          <p:cNvPr id="164" name="Google Shape;164;p24"/>
          <p:cNvSpPr txBox="1"/>
          <p:nvPr/>
        </p:nvSpPr>
        <p:spPr>
          <a:xfrm>
            <a:off x="905963" y="3786000"/>
            <a:ext cx="1597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Initial Design</a:t>
            </a:r>
            <a:endParaRPr>
              <a:solidFill>
                <a:schemeClr val="dk1"/>
              </a:solidFill>
            </a:endParaRPr>
          </a:p>
        </p:txBody>
      </p:sp>
      <p:sp>
        <p:nvSpPr>
          <p:cNvPr id="165" name="Google Shape;165;p24"/>
          <p:cNvSpPr txBox="1"/>
          <p:nvPr/>
        </p:nvSpPr>
        <p:spPr>
          <a:xfrm>
            <a:off x="3817388" y="3786000"/>
            <a:ext cx="1597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First Re-design</a:t>
            </a:r>
            <a:endParaRPr>
              <a:solidFill>
                <a:schemeClr val="dk1"/>
              </a:solidFill>
            </a:endParaRPr>
          </a:p>
        </p:txBody>
      </p:sp>
      <p:sp>
        <p:nvSpPr>
          <p:cNvPr id="166" name="Google Shape;166;p24"/>
          <p:cNvSpPr txBox="1"/>
          <p:nvPr/>
        </p:nvSpPr>
        <p:spPr>
          <a:xfrm>
            <a:off x="6640213" y="3786000"/>
            <a:ext cx="1597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Final Design</a:t>
            </a:r>
            <a:endParaRPr>
              <a:solidFill>
                <a:schemeClr val="dk1"/>
              </a:solidFill>
            </a:endParaRPr>
          </a:p>
        </p:txBody>
      </p:sp>
      <p:sp>
        <p:nvSpPr>
          <p:cNvPr id="167" name="Google Shape;167;p24"/>
          <p:cNvSpPr/>
          <p:nvPr/>
        </p:nvSpPr>
        <p:spPr>
          <a:xfrm>
            <a:off x="2920900" y="2752450"/>
            <a:ext cx="541200" cy="1875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4"/>
          <p:cNvSpPr/>
          <p:nvPr/>
        </p:nvSpPr>
        <p:spPr>
          <a:xfrm>
            <a:off x="5786300" y="2752450"/>
            <a:ext cx="541200" cy="1875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72" name="Shape 172"/>
        <p:cNvGrpSpPr/>
        <p:nvPr/>
      </p:nvGrpSpPr>
      <p:grpSpPr>
        <a:xfrm>
          <a:off x="0" y="0"/>
          <a:ext cx="0" cy="0"/>
          <a:chOff x="0" y="0"/>
          <a:chExt cx="0" cy="0"/>
        </a:xfrm>
      </p:grpSpPr>
      <p:sp>
        <p:nvSpPr>
          <p:cNvPr id="173" name="Google Shape;173;p25"/>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Component </a:t>
            </a:r>
            <a:r>
              <a:rPr b="1" lang="en" sz="2620">
                <a:solidFill>
                  <a:schemeClr val="lt1"/>
                </a:solidFill>
                <a:latin typeface="Atkinson Hyperlegible"/>
                <a:ea typeface="Atkinson Hyperlegible"/>
                <a:cs typeface="Atkinson Hyperlegible"/>
                <a:sym typeface="Atkinson Hyperlegible"/>
              </a:rPr>
              <a:t>- Zone Pickup Module</a:t>
            </a:r>
            <a:endParaRPr b="1" sz="2620">
              <a:solidFill>
                <a:schemeClr val="lt1"/>
              </a:solidFill>
              <a:latin typeface="Atkinson Hyperlegible"/>
              <a:ea typeface="Atkinson Hyperlegible"/>
              <a:cs typeface="Atkinson Hyperlegible"/>
              <a:sym typeface="Atkinson Hyperlegible"/>
            </a:endParaRPr>
          </a:p>
        </p:txBody>
      </p:sp>
      <p:sp>
        <p:nvSpPr>
          <p:cNvPr id="175" name="Google Shape;175;p25"/>
          <p:cNvSpPr txBox="1"/>
          <p:nvPr/>
        </p:nvSpPr>
        <p:spPr>
          <a:xfrm>
            <a:off x="441325" y="1225550"/>
            <a:ext cx="8343900" cy="12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76" name="Google Shape;176;p25"/>
          <p:cNvSpPr txBox="1"/>
          <p:nvPr>
            <p:ph idx="1" type="body"/>
          </p:nvPr>
        </p:nvSpPr>
        <p:spPr>
          <a:xfrm>
            <a:off x="311700" y="1183500"/>
            <a:ext cx="4260300" cy="396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Hardware: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Mobile devices to display zone information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500">
                <a:solidFill>
                  <a:schemeClr val="dk1"/>
                </a:solidFill>
              </a:rPr>
              <a:t>Software: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Website access on devices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500">
                <a:solidFill>
                  <a:schemeClr val="dk1"/>
                </a:solidFill>
              </a:rPr>
              <a:t>Interfaces:</a:t>
            </a:r>
            <a:endParaRPr sz="15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Inputs: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Button input on phones once a kid has been picked up</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O</a:t>
            </a:r>
            <a:r>
              <a:rPr lang="en" sz="1100">
                <a:solidFill>
                  <a:schemeClr val="dk1"/>
                </a:solidFill>
              </a:rPr>
              <a:t>utputs: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Website for volunteers to see</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pic>
        <p:nvPicPr>
          <p:cNvPr id="177" name="Google Shape;177;p25"/>
          <p:cNvPicPr preferRelativeResize="0"/>
          <p:nvPr/>
        </p:nvPicPr>
        <p:blipFill rotWithShape="1">
          <a:blip r:embed="rId3">
            <a:alphaModFix/>
          </a:blip>
          <a:srcRect b="30443" l="0" r="0" t="18374"/>
          <a:stretch/>
        </p:blipFill>
        <p:spPr>
          <a:xfrm>
            <a:off x="3518200" y="1697475"/>
            <a:ext cx="5943600" cy="2286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81" name="Shape 181"/>
        <p:cNvGrpSpPr/>
        <p:nvPr/>
      </p:nvGrpSpPr>
      <p:grpSpPr>
        <a:xfrm>
          <a:off x="0" y="0"/>
          <a:ext cx="0" cy="0"/>
          <a:chOff x="0" y="0"/>
          <a:chExt cx="0" cy="0"/>
        </a:xfrm>
      </p:grpSpPr>
      <p:sp>
        <p:nvSpPr>
          <p:cNvPr id="182" name="Google Shape;182;p26"/>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Component </a:t>
            </a:r>
            <a:r>
              <a:rPr b="1" lang="en" sz="2620">
                <a:solidFill>
                  <a:schemeClr val="lt1"/>
                </a:solidFill>
                <a:latin typeface="Atkinson Hyperlegible"/>
                <a:ea typeface="Atkinson Hyperlegible"/>
                <a:cs typeface="Atkinson Hyperlegible"/>
                <a:sym typeface="Atkinson Hyperlegible"/>
              </a:rPr>
              <a:t>- Main Server Module</a:t>
            </a:r>
            <a:endParaRPr b="1" sz="2620">
              <a:solidFill>
                <a:schemeClr val="lt1"/>
              </a:solidFill>
              <a:latin typeface="Atkinson Hyperlegible"/>
              <a:ea typeface="Atkinson Hyperlegible"/>
              <a:cs typeface="Atkinson Hyperlegible"/>
              <a:sym typeface="Atkinson Hyperlegible"/>
            </a:endParaRPr>
          </a:p>
        </p:txBody>
      </p:sp>
      <p:pic>
        <p:nvPicPr>
          <p:cNvPr id="184" name="Google Shape;184;p26"/>
          <p:cNvPicPr preferRelativeResize="0"/>
          <p:nvPr/>
        </p:nvPicPr>
        <p:blipFill rotWithShape="1">
          <a:blip r:embed="rId3">
            <a:alphaModFix/>
          </a:blip>
          <a:srcRect b="32905" l="0" r="0" t="28419"/>
          <a:stretch/>
        </p:blipFill>
        <p:spPr>
          <a:xfrm>
            <a:off x="4015125" y="2395400"/>
            <a:ext cx="5943600" cy="1724025"/>
          </a:xfrm>
          <a:prstGeom prst="rect">
            <a:avLst/>
          </a:prstGeom>
          <a:noFill/>
          <a:ln>
            <a:noFill/>
          </a:ln>
        </p:spPr>
      </p:pic>
      <p:sp>
        <p:nvSpPr>
          <p:cNvPr id="185" name="Google Shape;185;p26"/>
          <p:cNvSpPr txBox="1"/>
          <p:nvPr>
            <p:ph idx="1" type="body"/>
          </p:nvPr>
        </p:nvSpPr>
        <p:spPr>
          <a:xfrm>
            <a:off x="311700" y="1096825"/>
            <a:ext cx="4916100" cy="343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Hardware:</a:t>
            </a:r>
            <a:endParaRPr sz="16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Computer to run software</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600">
                <a:solidFill>
                  <a:schemeClr val="dk1"/>
                </a:solidFill>
              </a:rPr>
              <a:t>Software:</a:t>
            </a:r>
            <a:endParaRPr sz="16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Website hosting - needs real time updating</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Database connection to access and update parents/kids info</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Server - allow the website and microcontroller to communicate</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600">
                <a:solidFill>
                  <a:schemeClr val="dk1"/>
                </a:solidFill>
              </a:rPr>
              <a:t>Interfaces:</a:t>
            </a:r>
            <a:endParaRPr sz="16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Inputs:</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QR code data</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Parent requests (to update information)</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Outputs:</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Information to update car entrance module </a:t>
            </a:r>
            <a:r>
              <a:rPr lang="en" sz="1200">
                <a:solidFill>
                  <a:schemeClr val="dk1"/>
                </a:solidFill>
              </a:rPr>
              <a:t>display</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Website</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89" name="Shape 189"/>
        <p:cNvGrpSpPr/>
        <p:nvPr/>
      </p:nvGrpSpPr>
      <p:grpSpPr>
        <a:xfrm>
          <a:off x="0" y="0"/>
          <a:ext cx="0" cy="0"/>
          <a:chOff x="0" y="0"/>
          <a:chExt cx="0" cy="0"/>
        </a:xfrm>
      </p:grpSpPr>
      <p:sp>
        <p:nvSpPr>
          <p:cNvPr id="190" name="Google Shape;190;p27"/>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System Component </a:t>
            </a:r>
            <a:r>
              <a:rPr b="1" lang="en" sz="2620">
                <a:solidFill>
                  <a:schemeClr val="lt1"/>
                </a:solidFill>
                <a:latin typeface="Atkinson Hyperlegible"/>
                <a:ea typeface="Atkinson Hyperlegible"/>
                <a:cs typeface="Atkinson Hyperlegible"/>
                <a:sym typeface="Atkinson Hyperlegible"/>
              </a:rPr>
              <a:t>- Kids Waiting Module</a:t>
            </a:r>
            <a:endParaRPr b="1" sz="2620">
              <a:solidFill>
                <a:schemeClr val="lt1"/>
              </a:solidFill>
              <a:latin typeface="Atkinson Hyperlegible"/>
              <a:ea typeface="Atkinson Hyperlegible"/>
              <a:cs typeface="Atkinson Hyperlegible"/>
              <a:sym typeface="Atkinson Hyperlegible"/>
            </a:endParaRPr>
          </a:p>
        </p:txBody>
      </p:sp>
      <p:pic>
        <p:nvPicPr>
          <p:cNvPr id="192" name="Google Shape;192;p27"/>
          <p:cNvPicPr preferRelativeResize="0"/>
          <p:nvPr/>
        </p:nvPicPr>
        <p:blipFill rotWithShape="1">
          <a:blip r:embed="rId3">
            <a:alphaModFix/>
          </a:blip>
          <a:srcRect b="33929" l="0" r="0" t="26560"/>
          <a:stretch/>
        </p:blipFill>
        <p:spPr>
          <a:xfrm>
            <a:off x="3077700" y="1636338"/>
            <a:ext cx="5943600" cy="1762125"/>
          </a:xfrm>
          <a:prstGeom prst="rect">
            <a:avLst/>
          </a:prstGeom>
          <a:noFill/>
          <a:ln>
            <a:noFill/>
          </a:ln>
        </p:spPr>
      </p:pic>
      <p:sp>
        <p:nvSpPr>
          <p:cNvPr id="193" name="Google Shape;193;p27"/>
          <p:cNvSpPr txBox="1"/>
          <p:nvPr>
            <p:ph idx="1" type="body"/>
          </p:nvPr>
        </p:nvSpPr>
        <p:spPr>
          <a:xfrm>
            <a:off x="311700" y="1096825"/>
            <a:ext cx="4758900" cy="39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Hardware:</a:t>
            </a:r>
            <a:endParaRPr sz="17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Large display (projector or large TV)</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en" sz="1700">
                <a:solidFill>
                  <a:schemeClr val="dk1"/>
                </a:solidFill>
              </a:rPr>
              <a:t>Software:</a:t>
            </a:r>
            <a:endParaRPr sz="17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Website access on screen</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en" sz="1700">
                <a:solidFill>
                  <a:schemeClr val="dk1"/>
                </a:solidFill>
              </a:rPr>
              <a:t>Interfaces:</a:t>
            </a:r>
            <a:endParaRPr sz="17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Inputs: None</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Outputs:</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Website to instruct kids and staff when to</a:t>
            </a:r>
            <a:endParaRPr sz="1300">
              <a:solidFill>
                <a:schemeClr val="dk1"/>
              </a:solidFill>
            </a:endParaRPr>
          </a:p>
          <a:p>
            <a:pPr indent="0" lvl="0" marL="0" rtl="0" algn="l">
              <a:spcBef>
                <a:spcPts val="0"/>
              </a:spcBef>
              <a:spcAft>
                <a:spcPts val="0"/>
              </a:spcAft>
              <a:buNone/>
            </a:pPr>
            <a:r>
              <a:rPr lang="en" sz="1300">
                <a:solidFill>
                  <a:schemeClr val="dk1"/>
                </a:solidFill>
              </a:rPr>
              <a:t>		send kid to zones to be picked up (also which</a:t>
            </a:r>
            <a:endParaRPr sz="1300">
              <a:solidFill>
                <a:schemeClr val="dk1"/>
              </a:solidFill>
            </a:endParaRPr>
          </a:p>
          <a:p>
            <a:pPr indent="457200" lvl="0" marL="457200" rtl="0" algn="l">
              <a:spcBef>
                <a:spcPts val="0"/>
              </a:spcBef>
              <a:spcAft>
                <a:spcPts val="0"/>
              </a:spcAft>
              <a:buNone/>
            </a:pPr>
            <a:r>
              <a:rPr lang="en" sz="1300">
                <a:solidFill>
                  <a:schemeClr val="dk1"/>
                </a:solidFill>
              </a:rPr>
              <a:t>zone to go to)</a:t>
            </a:r>
            <a:endParaRPr sz="13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197" name="Shape 197"/>
        <p:cNvGrpSpPr/>
        <p:nvPr/>
      </p:nvGrpSpPr>
      <p:grpSpPr>
        <a:xfrm>
          <a:off x="0" y="0"/>
          <a:ext cx="0" cy="0"/>
          <a:chOff x="0" y="0"/>
          <a:chExt cx="0" cy="0"/>
        </a:xfrm>
      </p:grpSpPr>
      <p:sp>
        <p:nvSpPr>
          <p:cNvPr id="198" name="Google Shape;198;p28"/>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Budget Breakdown</a:t>
            </a:r>
            <a:endParaRPr b="1" sz="2620">
              <a:solidFill>
                <a:schemeClr val="lt1"/>
              </a:solidFill>
              <a:latin typeface="Atkinson Hyperlegible"/>
              <a:ea typeface="Atkinson Hyperlegible"/>
              <a:cs typeface="Atkinson Hyperlegible"/>
              <a:sym typeface="Atkinson Hyperlegible"/>
            </a:endParaRPr>
          </a:p>
        </p:txBody>
      </p:sp>
      <p:graphicFrame>
        <p:nvGraphicFramePr>
          <p:cNvPr id="200" name="Google Shape;200;p28"/>
          <p:cNvGraphicFramePr/>
          <p:nvPr/>
        </p:nvGraphicFramePr>
        <p:xfrm>
          <a:off x="275613" y="1218050"/>
          <a:ext cx="3000000" cy="3000000"/>
        </p:xfrm>
        <a:graphic>
          <a:graphicData uri="http://schemas.openxmlformats.org/drawingml/2006/table">
            <a:tbl>
              <a:tblPr>
                <a:noFill/>
                <a:tableStyleId>{45482B72-5F08-4D71-AEF8-FD45600ED337}</a:tableStyleId>
              </a:tblPr>
              <a:tblGrid>
                <a:gridCol w="1432125"/>
                <a:gridCol w="1377050"/>
                <a:gridCol w="2822975"/>
                <a:gridCol w="592125"/>
                <a:gridCol w="1156700"/>
                <a:gridCol w="1211800"/>
              </a:tblGrid>
              <a:tr h="237800">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Module</a:t>
                      </a:r>
                      <a:endParaRPr b="1" sz="8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Component</a:t>
                      </a:r>
                      <a:endParaRPr b="1" sz="8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Description</a:t>
                      </a:r>
                      <a:endParaRPr b="1" sz="8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Qty</a:t>
                      </a:r>
                      <a:endParaRPr b="1" sz="8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Unit Cost ($)</a:t>
                      </a:r>
                      <a:endParaRPr b="1" sz="8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Total Cost ($)</a:t>
                      </a:r>
                      <a:endParaRPr b="1" sz="800">
                        <a:latin typeface="Times New Roman"/>
                        <a:ea typeface="Times New Roman"/>
                        <a:cs typeface="Times New Roman"/>
                        <a:sym typeface="Times New Roman"/>
                      </a:endParaRPr>
                    </a:p>
                  </a:txBody>
                  <a:tcPr marT="63500" marB="63500" marR="63500" marL="63500">
                    <a:solidFill>
                      <a:srgbClr val="CCCCCC"/>
                    </a:solidFill>
                  </a:tcPr>
                </a:tc>
              </a:tr>
              <a:tr h="2606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Car Entrance</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Tripod</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Tripod to support car entrance module housing.</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$22</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$22</a:t>
                      </a:r>
                      <a:endParaRPr sz="800">
                        <a:latin typeface="Times New Roman"/>
                        <a:ea typeface="Times New Roman"/>
                        <a:cs typeface="Times New Roman"/>
                        <a:sym typeface="Times New Roman"/>
                      </a:endParaRPr>
                    </a:p>
                  </a:txBody>
                  <a:tcPr marT="63500" marB="63500" marR="63500" marL="63500"/>
                </a:tc>
              </a:tr>
              <a:tr h="3552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Car Entrance</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Raspberry Pi</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Microcontrollers to control car entrance and zone pickup modules.</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$75</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$75*</a:t>
                      </a:r>
                      <a:endParaRPr sz="800">
                        <a:latin typeface="Times New Roman"/>
                        <a:ea typeface="Times New Roman"/>
                        <a:cs typeface="Times New Roman"/>
                        <a:sym typeface="Times New Roman"/>
                      </a:endParaRPr>
                    </a:p>
                  </a:txBody>
                  <a:tcPr marT="63500" marB="63500" marR="63500" marL="63500"/>
                </a:tc>
              </a:tr>
              <a:tr h="2606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Car Entrance</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Raspberry Pi Camera</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Camera to use license plate recognition of cars.</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$55</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$55*</a:t>
                      </a:r>
                      <a:endParaRPr sz="800">
                        <a:latin typeface="Times New Roman"/>
                        <a:ea typeface="Times New Roman"/>
                        <a:cs typeface="Times New Roman"/>
                        <a:sym typeface="Times New Roman"/>
                      </a:endParaRPr>
                    </a:p>
                  </a:txBody>
                  <a:tcPr marT="63500" marB="63500" marR="63500" marL="63500"/>
                </a:tc>
              </a:tr>
              <a:tr h="3552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Car Entrance</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10000mAh Rechargeable Battery</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Batteries to give sufficient power to the car entrance and zone pickup module.</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$40</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$40</a:t>
                      </a:r>
                      <a:endParaRPr sz="800">
                        <a:latin typeface="Times New Roman"/>
                        <a:ea typeface="Times New Roman"/>
                        <a:cs typeface="Times New Roman"/>
                        <a:sym typeface="Times New Roman"/>
                      </a:endParaRPr>
                    </a:p>
                  </a:txBody>
                  <a:tcPr marT="63500" marB="63500" marR="63500" marL="63500"/>
                </a:tc>
              </a:tr>
              <a:tr h="3552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Car Entrance</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7-inch display</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Display to inform the parent of the car what zone to go to, and verify we have matched their car with their kid.</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$38</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$38*</a:t>
                      </a:r>
                      <a:endParaRPr sz="800">
                        <a:latin typeface="Times New Roman"/>
                        <a:ea typeface="Times New Roman"/>
                        <a:cs typeface="Times New Roman"/>
                        <a:sym typeface="Times New Roman"/>
                      </a:endParaRPr>
                    </a:p>
                  </a:txBody>
                  <a:tcPr marT="63500" marB="63500" marR="63500" marL="63500"/>
                </a:tc>
              </a:tr>
              <a:tr h="2606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Car Entrance</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HDMI Cord</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HDMI cord to connect the microcontroller to the display.</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a:t>
                      </a:r>
                      <a:endParaRPr sz="800">
                        <a:latin typeface="Times New Roman"/>
                        <a:ea typeface="Times New Roman"/>
                        <a:cs typeface="Times New Roman"/>
                        <a:sym typeface="Times New Roman"/>
                      </a:endParaRPr>
                    </a:p>
                  </a:txBody>
                  <a:tcPr marT="63500" marB="63500" marR="63500" marL="63500"/>
                </a:tc>
              </a:tr>
              <a:tr h="2606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Car Entrance</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3D printing</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3D printed housings for car entrance and zone pickup modules.</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$36.55**</a:t>
                      </a:r>
                      <a:endParaRPr sz="800">
                        <a:latin typeface="Times New Roman"/>
                        <a:ea typeface="Times New Roman"/>
                        <a:cs typeface="Times New Roman"/>
                        <a:sym typeface="Times New Roman"/>
                      </a:endParaRPr>
                    </a:p>
                  </a:txBody>
                  <a:tcPr marT="63500" marB="63500" marR="63500" marL="63500"/>
                </a:tc>
              </a:tr>
              <a:tr h="2606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Car Entrance</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Mounting Screws</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Screws to securely mount components to housings.</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~40</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$8 (600pcs)</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$8</a:t>
                      </a:r>
                      <a:endParaRPr sz="800">
                        <a:latin typeface="Times New Roman"/>
                        <a:ea typeface="Times New Roman"/>
                        <a:cs typeface="Times New Roman"/>
                        <a:sym typeface="Times New Roman"/>
                      </a:endParaRPr>
                    </a:p>
                  </a:txBody>
                  <a:tcPr marT="63500" marB="63500" marR="63500" marL="63500"/>
                </a:tc>
              </a:tr>
              <a:tr h="432850">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Total* (not including components provided)</a:t>
                      </a:r>
                      <a:endParaRPr b="1" sz="8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$74</a:t>
                      </a:r>
                      <a:endParaRPr b="1" sz="1100">
                        <a:latin typeface="Times New Roman"/>
                        <a:ea typeface="Times New Roman"/>
                        <a:cs typeface="Times New Roman"/>
                        <a:sym typeface="Times New Roman"/>
                      </a:endParaRPr>
                    </a:p>
                  </a:txBody>
                  <a:tcPr marT="63500" marB="63500" marR="63500" marL="63500">
                    <a:solidFill>
                      <a:srgbClr val="EFEFEF"/>
                    </a:solidFill>
                  </a:tcPr>
                </a:tc>
              </a:tr>
              <a:tr h="237800">
                <a:tc>
                  <a:txBody>
                    <a:bodyPr/>
                    <a:lstStyle/>
                    <a:p>
                      <a:pPr indent="0" lvl="0" marL="0" rtl="0" algn="l">
                        <a:spcBef>
                          <a:spcPts val="0"/>
                        </a:spcBef>
                        <a:spcAft>
                          <a:spcPts val="0"/>
                        </a:spcAft>
                        <a:buNone/>
                      </a:pPr>
                      <a:r>
                        <a:rPr b="1" lang="en" sz="800">
                          <a:latin typeface="Times New Roman"/>
                          <a:ea typeface="Times New Roman"/>
                          <a:cs typeface="Times New Roman"/>
                          <a:sym typeface="Times New Roman"/>
                        </a:rPr>
                        <a:t>Total</a:t>
                      </a:r>
                      <a:endParaRPr b="1" sz="8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$278.55</a:t>
                      </a:r>
                      <a:endParaRPr b="1" sz="1100">
                        <a:latin typeface="Times New Roman"/>
                        <a:ea typeface="Times New Roman"/>
                        <a:cs typeface="Times New Roman"/>
                        <a:sym typeface="Times New Roman"/>
                      </a:endParaRPr>
                    </a:p>
                  </a:txBody>
                  <a:tcPr marT="63500" marB="63500" marR="63500" marL="63500">
                    <a:solidFill>
                      <a:srgbClr val="EFEFE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04" name="Shape 204"/>
        <p:cNvGrpSpPr/>
        <p:nvPr/>
      </p:nvGrpSpPr>
      <p:grpSpPr>
        <a:xfrm>
          <a:off x="0" y="0"/>
          <a:ext cx="0" cy="0"/>
          <a:chOff x="0" y="0"/>
          <a:chExt cx="0" cy="0"/>
        </a:xfrm>
      </p:grpSpPr>
      <p:sp>
        <p:nvSpPr>
          <p:cNvPr id="205" name="Google Shape;205;p29"/>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Budget Breakdown - cont.</a:t>
            </a:r>
            <a:endParaRPr b="1" sz="2620">
              <a:solidFill>
                <a:schemeClr val="lt1"/>
              </a:solidFill>
              <a:latin typeface="Atkinson Hyperlegible"/>
              <a:ea typeface="Atkinson Hyperlegible"/>
              <a:cs typeface="Atkinson Hyperlegible"/>
              <a:sym typeface="Atkinson Hyperlegible"/>
            </a:endParaRPr>
          </a:p>
        </p:txBody>
      </p:sp>
      <p:graphicFrame>
        <p:nvGraphicFramePr>
          <p:cNvPr id="207" name="Google Shape;207;p29"/>
          <p:cNvGraphicFramePr/>
          <p:nvPr/>
        </p:nvGraphicFramePr>
        <p:xfrm>
          <a:off x="311700" y="1873250"/>
          <a:ext cx="3000000" cy="3000000"/>
        </p:xfrm>
        <a:graphic>
          <a:graphicData uri="http://schemas.openxmlformats.org/drawingml/2006/table">
            <a:tbl>
              <a:tblPr>
                <a:noFill/>
                <a:tableStyleId>{45482B72-5F08-4D71-AEF8-FD45600ED337}</a:tableStyleId>
              </a:tblPr>
              <a:tblGrid>
                <a:gridCol w="990600"/>
                <a:gridCol w="952500"/>
                <a:gridCol w="1952625"/>
                <a:gridCol w="409575"/>
                <a:gridCol w="800100"/>
                <a:gridCol w="838200"/>
              </a:tblGrid>
              <a:tr h="1270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Module</a:t>
                      </a:r>
                      <a:endParaRPr b="1" sz="11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Component</a:t>
                      </a:r>
                      <a:endParaRPr b="1" sz="11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Description</a:t>
                      </a:r>
                      <a:endParaRPr b="1" sz="11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Qty</a:t>
                      </a:r>
                      <a:endParaRPr b="1" sz="11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Unit Cost ($)</a:t>
                      </a:r>
                      <a:endParaRPr b="1" sz="11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Total Cost ($)</a:t>
                      </a:r>
                      <a:endParaRPr b="1" sz="1100">
                        <a:latin typeface="Times New Roman"/>
                        <a:ea typeface="Times New Roman"/>
                        <a:cs typeface="Times New Roman"/>
                        <a:sym typeface="Times New Roman"/>
                      </a:endParaRPr>
                    </a:p>
                  </a:txBody>
                  <a:tcPr marT="63500" marB="63500" marR="63500" marL="63500">
                    <a:solidFill>
                      <a:srgbClr val="CCCCCC"/>
                    </a:solidFill>
                  </a:tcPr>
                </a:tc>
              </a:tr>
              <a:tr h="12700">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Car Entrance</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Zigbee Antenna</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Antennas for wireless communication between car entrance and zone pickup module.</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2</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$27</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$54***</a:t>
                      </a:r>
                      <a:endParaRPr sz="11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Car Entrance</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Wires</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Wires to connect components.</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~20</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$10 (240pcs)</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100">
                          <a:latin typeface="Times New Roman"/>
                          <a:ea typeface="Times New Roman"/>
                          <a:cs typeface="Times New Roman"/>
                          <a:sym typeface="Times New Roman"/>
                        </a:rPr>
                        <a:t>$10***</a:t>
                      </a:r>
                      <a:endParaRPr sz="11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Total</a:t>
                      </a:r>
                      <a:endParaRPr b="1" sz="11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11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11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11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t/>
                      </a:r>
                      <a:endParaRPr sz="1100">
                        <a:latin typeface="Times New Roman"/>
                        <a:ea typeface="Times New Roman"/>
                        <a:cs typeface="Times New Roman"/>
                        <a:sym typeface="Times New Roman"/>
                      </a:endParaRPr>
                    </a:p>
                  </a:txBody>
                  <a:tcPr marT="63500" marB="63500" marR="63500" marL="63500">
                    <a:solidFill>
                      <a:srgbClr val="EFEFEF"/>
                    </a:solidFill>
                  </a:tcPr>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$64</a:t>
                      </a:r>
                      <a:endParaRPr b="1" sz="1100">
                        <a:latin typeface="Times New Roman"/>
                        <a:ea typeface="Times New Roman"/>
                        <a:cs typeface="Times New Roman"/>
                        <a:sym typeface="Times New Roman"/>
                      </a:endParaRPr>
                    </a:p>
                  </a:txBody>
                  <a:tcPr marT="63500" marB="63500" marR="63500" marL="63500">
                    <a:solidFill>
                      <a:srgbClr val="EFEFEF"/>
                    </a:solidFill>
                  </a:tcPr>
                </a:tc>
              </a:tr>
            </a:tbl>
          </a:graphicData>
        </a:graphic>
      </p:graphicFrame>
      <p:sp>
        <p:nvSpPr>
          <p:cNvPr id="208" name="Google Shape;208;p29"/>
          <p:cNvSpPr txBox="1"/>
          <p:nvPr/>
        </p:nvSpPr>
        <p:spPr>
          <a:xfrm>
            <a:off x="258750" y="1464525"/>
            <a:ext cx="3578400" cy="28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Parts Purchased but Not Used:</a:t>
            </a:r>
            <a:endParaRPr b="1" sz="1800">
              <a:solidFill>
                <a:schemeClr val="dk1"/>
              </a:solidFill>
            </a:endParaRPr>
          </a:p>
        </p:txBody>
      </p:sp>
      <p:sp>
        <p:nvSpPr>
          <p:cNvPr id="209" name="Google Shape;209;p29"/>
          <p:cNvSpPr txBox="1"/>
          <p:nvPr/>
        </p:nvSpPr>
        <p:spPr>
          <a:xfrm>
            <a:off x="6393375" y="1741675"/>
            <a:ext cx="2217000" cy="2182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Total Spent by us: $74 + $64 = </a:t>
            </a:r>
            <a:r>
              <a:rPr b="1" lang="en" sz="1800">
                <a:solidFill>
                  <a:schemeClr val="dk1"/>
                </a:solidFill>
              </a:rPr>
              <a:t>$138</a:t>
            </a:r>
            <a:endParaRPr b="1"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13" name="Shape 213"/>
        <p:cNvGrpSpPr/>
        <p:nvPr/>
      </p:nvGrpSpPr>
      <p:grpSpPr>
        <a:xfrm>
          <a:off x="0" y="0"/>
          <a:ext cx="0" cy="0"/>
          <a:chOff x="0" y="0"/>
          <a:chExt cx="0" cy="0"/>
        </a:xfrm>
      </p:grpSpPr>
      <p:sp>
        <p:nvSpPr>
          <p:cNvPr id="214" name="Google Shape;214;p30"/>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Evidence of Effective Teaming</a:t>
            </a:r>
            <a:endParaRPr b="1" sz="2620">
              <a:solidFill>
                <a:schemeClr val="lt1"/>
              </a:solidFill>
              <a:latin typeface="Atkinson Hyperlegible"/>
              <a:ea typeface="Atkinson Hyperlegible"/>
              <a:cs typeface="Atkinson Hyperlegible"/>
              <a:sym typeface="Atkinson Hyperlegible"/>
            </a:endParaRPr>
          </a:p>
        </p:txBody>
      </p:sp>
      <p:sp>
        <p:nvSpPr>
          <p:cNvPr id="216" name="Google Shape;21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4800">
                <a:solidFill>
                  <a:schemeClr val="dk1"/>
                </a:solidFill>
              </a:rPr>
              <a:t>Defined Roles and Responsibilities</a:t>
            </a:r>
            <a:endParaRPr b="1" sz="4800">
              <a:solidFill>
                <a:schemeClr val="dk1"/>
              </a:solidFill>
            </a:endParaRPr>
          </a:p>
          <a:p>
            <a:pPr indent="0" lvl="0" marL="0" rtl="0" algn="l">
              <a:spcBef>
                <a:spcPts val="1200"/>
              </a:spcBef>
              <a:spcAft>
                <a:spcPts val="0"/>
              </a:spcAft>
              <a:buNone/>
            </a:pPr>
            <a:r>
              <a:rPr lang="en" sz="4800">
                <a:solidFill>
                  <a:schemeClr val="dk1"/>
                </a:solidFill>
              </a:rPr>
              <a:t>Each team member is responsible for a specific subsystem:</a:t>
            </a:r>
            <a:endParaRPr sz="4800">
              <a:solidFill>
                <a:schemeClr val="dk1"/>
              </a:solidFill>
            </a:endParaRPr>
          </a:p>
          <a:p>
            <a:pPr indent="-304800" lvl="0" marL="457200" rtl="0" algn="l">
              <a:spcBef>
                <a:spcPts val="1200"/>
              </a:spcBef>
              <a:spcAft>
                <a:spcPts val="0"/>
              </a:spcAft>
              <a:buClr>
                <a:schemeClr val="dk1"/>
              </a:buClr>
              <a:buSzPct val="100000"/>
              <a:buChar char="●"/>
            </a:pPr>
            <a:r>
              <a:rPr b="1" lang="en" sz="4800">
                <a:solidFill>
                  <a:schemeClr val="dk1"/>
                </a:solidFill>
              </a:rPr>
              <a:t>Haya Abusada</a:t>
            </a:r>
            <a:r>
              <a:rPr lang="en" sz="4800">
                <a:solidFill>
                  <a:schemeClr val="dk1"/>
                </a:solidFill>
              </a:rPr>
              <a:t> – Frontend development and system integration</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Sara Vorhaben</a:t>
            </a:r>
            <a:r>
              <a:rPr lang="en" sz="4800">
                <a:solidFill>
                  <a:schemeClr val="dk1"/>
                </a:solidFill>
              </a:rPr>
              <a:t> – Backend development and authentication</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Jake Hewett</a:t>
            </a:r>
            <a:r>
              <a:rPr lang="en" sz="4800">
                <a:solidFill>
                  <a:schemeClr val="dk1"/>
                </a:solidFill>
              </a:rPr>
              <a:t> – Database architecture and administrative interface</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Jack Uehlinger</a:t>
            </a:r>
            <a:r>
              <a:rPr lang="en" sz="4800">
                <a:solidFill>
                  <a:schemeClr val="dk1"/>
                </a:solidFill>
              </a:rPr>
              <a:t> – Hardware and camera integration</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Jayden Pearson</a:t>
            </a:r>
            <a:r>
              <a:rPr lang="en" sz="4800">
                <a:solidFill>
                  <a:schemeClr val="dk1"/>
                </a:solidFill>
              </a:rPr>
              <a:t> – Mechanical design and enclosure development</a:t>
            </a:r>
            <a:endParaRPr sz="4800">
              <a:solidFill>
                <a:schemeClr val="dk1"/>
              </a:solidFill>
            </a:endParaRPr>
          </a:p>
          <a:p>
            <a:pPr indent="0" lvl="0" marL="0" rtl="0" algn="l">
              <a:spcBef>
                <a:spcPts val="1200"/>
              </a:spcBef>
              <a:spcAft>
                <a:spcPts val="0"/>
              </a:spcAft>
              <a:buNone/>
            </a:pPr>
            <a:r>
              <a:rPr lang="en" sz="4800">
                <a:solidFill>
                  <a:schemeClr val="dk1"/>
                </a:solidFill>
              </a:rPr>
              <a:t>This ensures </a:t>
            </a:r>
            <a:r>
              <a:rPr b="1" lang="en" sz="4800">
                <a:solidFill>
                  <a:schemeClr val="dk1"/>
                </a:solidFill>
              </a:rPr>
              <a:t>clear ownership of tasks and efficient development</a:t>
            </a:r>
            <a:r>
              <a:rPr lang="en" sz="4800">
                <a:solidFill>
                  <a:schemeClr val="dk1"/>
                </a:solidFill>
              </a:rPr>
              <a:t>.</a:t>
            </a:r>
            <a:endParaRPr sz="4800">
              <a:solidFill>
                <a:schemeClr val="dk1"/>
              </a:solidFill>
            </a:endParaRPr>
          </a:p>
          <a:p>
            <a:pPr indent="0" lvl="0" marL="0" rtl="0" algn="l">
              <a:spcBef>
                <a:spcPts val="1400"/>
              </a:spcBef>
              <a:spcAft>
                <a:spcPts val="0"/>
              </a:spcAft>
              <a:buNone/>
            </a:pPr>
            <a:r>
              <a:rPr b="1" lang="en" sz="4800">
                <a:solidFill>
                  <a:schemeClr val="dk1"/>
                </a:solidFill>
              </a:rPr>
              <a:t>Collaboration and Communication</a:t>
            </a:r>
            <a:endParaRPr b="1" sz="4800">
              <a:solidFill>
                <a:schemeClr val="dk1"/>
              </a:solidFill>
            </a:endParaRPr>
          </a:p>
          <a:p>
            <a:pPr indent="0" lvl="0" marL="0" rtl="0" algn="l">
              <a:spcBef>
                <a:spcPts val="1200"/>
              </a:spcBef>
              <a:spcAft>
                <a:spcPts val="0"/>
              </a:spcAft>
              <a:buNone/>
            </a:pPr>
            <a:r>
              <a:rPr lang="en" sz="4800">
                <a:solidFill>
                  <a:schemeClr val="dk1"/>
                </a:solidFill>
              </a:rPr>
              <a:t>The team maintains strong coordination through:</a:t>
            </a:r>
            <a:endParaRPr sz="4800">
              <a:solidFill>
                <a:schemeClr val="dk1"/>
              </a:solidFill>
            </a:endParaRPr>
          </a:p>
          <a:p>
            <a:pPr indent="-304800" lvl="0" marL="457200" rtl="0" algn="l">
              <a:spcBef>
                <a:spcPts val="1200"/>
              </a:spcBef>
              <a:spcAft>
                <a:spcPts val="0"/>
              </a:spcAft>
              <a:buClr>
                <a:schemeClr val="dk1"/>
              </a:buClr>
              <a:buSzPct val="100000"/>
              <a:buChar char="●"/>
            </a:pPr>
            <a:r>
              <a:rPr b="1" lang="en" sz="4800">
                <a:solidFill>
                  <a:schemeClr val="dk1"/>
                </a:solidFill>
              </a:rPr>
              <a:t>Weekly team meetings</a:t>
            </a:r>
            <a:r>
              <a:rPr lang="en" sz="4800">
                <a:solidFill>
                  <a:schemeClr val="dk1"/>
                </a:solidFill>
              </a:rPr>
              <a:t> to review progress and address issues</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GitHub</a:t>
            </a:r>
            <a:r>
              <a:rPr lang="en" sz="4800">
                <a:solidFill>
                  <a:schemeClr val="dk1"/>
                </a:solidFill>
              </a:rPr>
              <a:t> for version control and collaborative development</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Discord</a:t>
            </a:r>
            <a:r>
              <a:rPr lang="en" sz="4800">
                <a:solidFill>
                  <a:schemeClr val="dk1"/>
                </a:solidFill>
              </a:rPr>
              <a:t> </a:t>
            </a:r>
            <a:r>
              <a:rPr b="1" lang="en" sz="4800">
                <a:solidFill>
                  <a:schemeClr val="dk1"/>
                </a:solidFill>
              </a:rPr>
              <a:t>and Text </a:t>
            </a:r>
            <a:r>
              <a:rPr lang="en" sz="4800">
                <a:solidFill>
                  <a:schemeClr val="dk1"/>
                </a:solidFill>
              </a:rPr>
              <a:t>for daily communication and troubleshooting</a:t>
            </a:r>
            <a:endParaRPr sz="4800">
              <a:solidFill>
                <a:schemeClr val="dk1"/>
              </a:solidFill>
            </a:endParaRPr>
          </a:p>
          <a:p>
            <a:pPr indent="-304800" lvl="0" marL="457200" rtl="0" algn="l">
              <a:spcBef>
                <a:spcPts val="0"/>
              </a:spcBef>
              <a:spcAft>
                <a:spcPts val="0"/>
              </a:spcAft>
              <a:buClr>
                <a:schemeClr val="dk1"/>
              </a:buClr>
              <a:buSzPct val="100000"/>
              <a:buChar char="●"/>
            </a:pPr>
            <a:r>
              <a:rPr b="1" lang="en" sz="4800">
                <a:solidFill>
                  <a:schemeClr val="dk1"/>
                </a:solidFill>
              </a:rPr>
              <a:t>Google Drive</a:t>
            </a:r>
            <a:r>
              <a:rPr lang="en" sz="4800">
                <a:solidFill>
                  <a:schemeClr val="dk1"/>
                </a:solidFill>
              </a:rPr>
              <a:t> for shared documentation and reports</a:t>
            </a:r>
            <a:endParaRPr sz="4800">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217" name="Google Shape;217;p30" title="Screenshot 2026-03-10 at 6.14.31 PM.png"/>
          <p:cNvPicPr preferRelativeResize="0"/>
          <p:nvPr/>
        </p:nvPicPr>
        <p:blipFill rotWithShape="1">
          <a:blip r:embed="rId3">
            <a:alphaModFix/>
          </a:blip>
          <a:srcRect b="0" l="0" r="24602" t="0"/>
          <a:stretch/>
        </p:blipFill>
        <p:spPr>
          <a:xfrm>
            <a:off x="5543800" y="1916163"/>
            <a:ext cx="3288499" cy="1848625"/>
          </a:xfrm>
          <a:prstGeom prst="rect">
            <a:avLst/>
          </a:prstGeom>
          <a:noFill/>
          <a:ln>
            <a:noFill/>
          </a:ln>
        </p:spPr>
      </p:pic>
      <p:sp>
        <p:nvSpPr>
          <p:cNvPr id="218" name="Google Shape;218;p30"/>
          <p:cNvSpPr txBox="1"/>
          <p:nvPr/>
        </p:nvSpPr>
        <p:spPr>
          <a:xfrm>
            <a:off x="5688050" y="370810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800">
                <a:solidFill>
                  <a:schemeClr val="dk2"/>
                </a:solidFill>
              </a:rPr>
              <a:t>Screenshot of Github Repo</a:t>
            </a:r>
            <a:endParaRPr i="1" sz="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22" name="Shape 222"/>
        <p:cNvGrpSpPr/>
        <p:nvPr/>
      </p:nvGrpSpPr>
      <p:grpSpPr>
        <a:xfrm>
          <a:off x="0" y="0"/>
          <a:ext cx="0" cy="0"/>
          <a:chOff x="0" y="0"/>
          <a:chExt cx="0" cy="0"/>
        </a:xfrm>
      </p:grpSpPr>
      <p:sp>
        <p:nvSpPr>
          <p:cNvPr id="223" name="Google Shape;223;p31"/>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Evidence of Effective Teaming</a:t>
            </a:r>
            <a:r>
              <a:rPr b="1" lang="en" sz="2620">
                <a:solidFill>
                  <a:schemeClr val="lt1"/>
                </a:solidFill>
                <a:latin typeface="Atkinson Hyperlegible"/>
                <a:ea typeface="Atkinson Hyperlegible"/>
                <a:cs typeface="Atkinson Hyperlegible"/>
                <a:sym typeface="Atkinson Hyperlegible"/>
              </a:rPr>
              <a:t> - Gantt Chart</a:t>
            </a:r>
            <a:endParaRPr b="1" sz="2620">
              <a:solidFill>
                <a:schemeClr val="lt1"/>
              </a:solidFill>
              <a:latin typeface="Atkinson Hyperlegible"/>
              <a:ea typeface="Atkinson Hyperlegible"/>
              <a:cs typeface="Atkinson Hyperlegible"/>
              <a:sym typeface="Atkinson Hyperlegible"/>
            </a:endParaRPr>
          </a:p>
        </p:txBody>
      </p:sp>
      <p:sp>
        <p:nvSpPr>
          <p:cNvPr id="225" name="Google Shape;225;p31"/>
          <p:cNvSpPr txBox="1"/>
          <p:nvPr>
            <p:ph idx="1" type="body"/>
          </p:nvPr>
        </p:nvSpPr>
        <p:spPr>
          <a:xfrm>
            <a:off x="6392900" y="1096825"/>
            <a:ext cx="2439600" cy="34719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Gantt Chart Shows all tasks completed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Red line is today</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
        <p:nvSpPr>
          <p:cNvPr id="226" name="Google Shape;226;p31"/>
          <p:cNvSpPr txBox="1"/>
          <p:nvPr>
            <p:ph idx="12" type="sldNum"/>
          </p:nvPr>
        </p:nvSpPr>
        <p:spPr>
          <a:xfrm>
            <a:off x="7236078" y="4663225"/>
            <a:ext cx="17853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solidFill>
                  <a:schemeClr val="lt1"/>
                </a:solidFill>
              </a:rPr>
              <a:t>CDR</a:t>
            </a:r>
            <a:r>
              <a:rPr lang="en">
                <a:solidFill>
                  <a:schemeClr val="lt1"/>
                </a:solidFill>
              </a:rPr>
              <a:t> Presentation - </a:t>
            </a:r>
            <a:fld id="{00000000-1234-1234-1234-123412341234}" type="slidenum">
              <a:rPr lang="en">
                <a:solidFill>
                  <a:schemeClr val="lt1"/>
                </a:solidFill>
              </a:rPr>
              <a:t>‹#›</a:t>
            </a:fld>
            <a:endParaRPr>
              <a:solidFill>
                <a:schemeClr val="lt1"/>
              </a:solidFill>
            </a:endParaRPr>
          </a:p>
        </p:txBody>
      </p:sp>
      <p:pic>
        <p:nvPicPr>
          <p:cNvPr id="227" name="Google Shape;227;p31"/>
          <p:cNvPicPr preferRelativeResize="0"/>
          <p:nvPr/>
        </p:nvPicPr>
        <p:blipFill>
          <a:blip r:embed="rId3">
            <a:alphaModFix/>
          </a:blip>
          <a:stretch>
            <a:fillRect/>
          </a:stretch>
        </p:blipFill>
        <p:spPr>
          <a:xfrm>
            <a:off x="355675" y="1367949"/>
            <a:ext cx="6133777" cy="29012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31" name="Shape 231"/>
        <p:cNvGrpSpPr/>
        <p:nvPr/>
      </p:nvGrpSpPr>
      <p:grpSpPr>
        <a:xfrm>
          <a:off x="0" y="0"/>
          <a:ext cx="0" cy="0"/>
          <a:chOff x="0" y="0"/>
          <a:chExt cx="0" cy="0"/>
        </a:xfrm>
      </p:grpSpPr>
      <p:sp>
        <p:nvSpPr>
          <p:cNvPr id="232" name="Google Shape;232;p32"/>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Environmental, Health, and Safety Concerns</a:t>
            </a:r>
            <a:endParaRPr b="1" sz="2620">
              <a:solidFill>
                <a:schemeClr val="lt1"/>
              </a:solidFill>
              <a:latin typeface="Atkinson Hyperlegible"/>
              <a:ea typeface="Atkinson Hyperlegible"/>
              <a:cs typeface="Atkinson Hyperlegible"/>
              <a:sym typeface="Atkinson Hyperlegible"/>
            </a:endParaRPr>
          </a:p>
        </p:txBody>
      </p:sp>
      <p:sp>
        <p:nvSpPr>
          <p:cNvPr id="234" name="Google Shape;234;p32"/>
          <p:cNvSpPr txBox="1"/>
          <p:nvPr>
            <p:ph idx="1" type="body"/>
          </p:nvPr>
        </p:nvSpPr>
        <p:spPr>
          <a:xfrm>
            <a:off x="311700" y="1217100"/>
            <a:ext cx="8439600" cy="353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chemeClr val="dk1"/>
                </a:solidFill>
              </a:rPr>
              <a:t>Environmental Impact</a:t>
            </a:r>
            <a:endParaRPr b="1"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Minimal hardware footprint (primarily existing devices like monitors and Raspberry Pi)</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Reduced vehicle idling time → lowers emissions during pickup</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Digital system reduces paper usage (no printed pickup lists)</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Health Considerations</a:t>
            </a:r>
            <a:endParaRPr b="1"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Contactless QR code system reduces physical interaction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Minimizes crowding and improves traffic flow for safer pickup conditions</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Safety Considerations</a:t>
            </a:r>
            <a:endParaRPr b="1"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Clear, color-coded display reduces confusion for drivers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Organized station system prevents congestion and accidents</a:t>
            </a:r>
            <a:endParaRPr sz="1400">
              <a:solidFill>
                <a:schemeClr val="dk1"/>
              </a:solidFill>
            </a:endParaRPr>
          </a:p>
          <a:p>
            <a:pPr indent="0" lvl="0" marL="457200" rtl="0" algn="l">
              <a:spcBef>
                <a:spcPts val="1200"/>
              </a:spcBef>
              <a:spcAft>
                <a:spcPts val="1200"/>
              </a:spcAft>
              <a:buNone/>
            </a:pPr>
            <a:r>
              <a:t/>
            </a:r>
            <a:endParaRPr sz="12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38" name="Shape 238"/>
        <p:cNvGrpSpPr/>
        <p:nvPr/>
      </p:nvGrpSpPr>
      <p:grpSpPr>
        <a:xfrm>
          <a:off x="0" y="0"/>
          <a:ext cx="0" cy="0"/>
          <a:chOff x="0" y="0"/>
          <a:chExt cx="0" cy="0"/>
        </a:xfrm>
      </p:grpSpPr>
      <p:sp>
        <p:nvSpPr>
          <p:cNvPr id="239" name="Google Shape;239;p33"/>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Social, Political, and Ethical Concerns</a:t>
            </a:r>
            <a:endParaRPr b="1" sz="2620">
              <a:solidFill>
                <a:schemeClr val="lt1"/>
              </a:solidFill>
              <a:latin typeface="Atkinson Hyperlegible"/>
              <a:ea typeface="Atkinson Hyperlegible"/>
              <a:cs typeface="Atkinson Hyperlegible"/>
              <a:sym typeface="Atkinson Hyperlegible"/>
            </a:endParaRPr>
          </a:p>
        </p:txBody>
      </p:sp>
      <p:sp>
        <p:nvSpPr>
          <p:cNvPr id="241" name="Google Shape;241;p33"/>
          <p:cNvSpPr txBox="1"/>
          <p:nvPr>
            <p:ph idx="1" type="body"/>
          </p:nvPr>
        </p:nvSpPr>
        <p:spPr>
          <a:xfrm>
            <a:off x="457500" y="1183500"/>
            <a:ext cx="8374800" cy="39600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Clr>
                <a:schemeClr val="dk1"/>
              </a:buClr>
              <a:buSzPts val="1500"/>
              <a:buChar char="●"/>
            </a:pPr>
            <a:r>
              <a:rPr b="1" lang="en" sz="1500">
                <a:solidFill>
                  <a:schemeClr val="dk1"/>
                </a:solidFill>
              </a:rPr>
              <a:t>Social Impact</a:t>
            </a:r>
            <a:endParaRPr b="1"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Improves efficiency and reduces wait times for families</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Enhances safety for students during pickup</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Accessible interface designed for non-technical users</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Ethical Considerations</a:t>
            </a:r>
            <a:endParaRPr b="1"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Protection of personal data (student and parent information)</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Use of secure authentication (Google OAuth)</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Controlled access to staff-only features</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Political / Regulatory Considerations</a:t>
            </a:r>
            <a:endParaRPr b="1"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Must comply with school policies and student privacy regulations (e.g., FERPA)</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Requires proper authorization for data collection and usage</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Deployment depends on school/district approval and infrastructure</a:t>
            </a:r>
            <a:endParaRPr sz="1500">
              <a:solidFill>
                <a:schemeClr val="dk1"/>
              </a:solidFill>
            </a:endParaRPr>
          </a:p>
          <a:p>
            <a:pPr indent="0" lvl="0" marL="0" rtl="0" algn="l">
              <a:spcBef>
                <a:spcPts val="1200"/>
              </a:spcBef>
              <a:spcAft>
                <a:spcPts val="0"/>
              </a:spcAft>
              <a:buNone/>
            </a:pPr>
            <a:r>
              <a:t/>
            </a:r>
            <a:endParaRPr sz="12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45" name="Shape 245"/>
        <p:cNvGrpSpPr/>
        <p:nvPr/>
      </p:nvGrpSpPr>
      <p:grpSpPr>
        <a:xfrm>
          <a:off x="0" y="0"/>
          <a:ext cx="0" cy="0"/>
          <a:chOff x="0" y="0"/>
          <a:chExt cx="0" cy="0"/>
        </a:xfrm>
      </p:grpSpPr>
      <p:sp>
        <p:nvSpPr>
          <p:cNvPr id="246" name="Google Shape;246;p34"/>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Manufacturability, sustainability, and economics</a:t>
            </a:r>
            <a:endParaRPr b="1" sz="2620">
              <a:solidFill>
                <a:schemeClr val="lt1"/>
              </a:solidFill>
              <a:latin typeface="Atkinson Hyperlegible"/>
              <a:ea typeface="Atkinson Hyperlegible"/>
              <a:cs typeface="Atkinson Hyperlegible"/>
              <a:sym typeface="Atkinson Hyperlegible"/>
            </a:endParaRPr>
          </a:p>
        </p:txBody>
      </p:sp>
      <p:sp>
        <p:nvSpPr>
          <p:cNvPr id="248" name="Google Shape;248;p34"/>
          <p:cNvSpPr txBox="1"/>
          <p:nvPr>
            <p:ph idx="1" type="body"/>
          </p:nvPr>
        </p:nvSpPr>
        <p:spPr>
          <a:xfrm>
            <a:off x="311700" y="1096825"/>
            <a:ext cx="8328600" cy="39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chemeClr val="dk1"/>
                </a:solidFill>
              </a:rPr>
              <a:t>Manufacturability</a:t>
            </a:r>
            <a:endParaRPr b="1"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Software-based system → easily deployable and scalable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Uses widely available hardware (monitors, laptops, Raspberry Pi)</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No specialized manufacturing required</a:t>
            </a:r>
            <a:endParaRPr sz="1400">
              <a:solidFill>
                <a:schemeClr val="dk1"/>
              </a:solidFill>
            </a:endParaRPr>
          </a:p>
          <a:p>
            <a:pPr indent="0" lvl="0" marL="45720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b="1" lang="en" sz="1400">
                <a:solidFill>
                  <a:schemeClr val="dk1"/>
                </a:solidFill>
              </a:rPr>
              <a:t>Sustainability</a:t>
            </a:r>
            <a:endParaRPr b="1"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Reduces fuel consumption through optimized pickup flow</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Digital-first approach minimizes material waste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Scalable system reduces need for additional infrastructure</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b="1" lang="en" sz="1400">
                <a:solidFill>
                  <a:schemeClr val="dk1"/>
                </a:solidFill>
              </a:rPr>
              <a:t>Economic Considerations</a:t>
            </a:r>
            <a:endParaRPr b="1"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Low implementation cost (open-source tools, cloud services)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Minimal hardware investment</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Reduces labor inefficiencies and operational costs for schools</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52" name="Shape 252"/>
        <p:cNvGrpSpPr/>
        <p:nvPr/>
      </p:nvGrpSpPr>
      <p:grpSpPr>
        <a:xfrm>
          <a:off x="0" y="0"/>
          <a:ext cx="0" cy="0"/>
          <a:chOff x="0" y="0"/>
          <a:chExt cx="0" cy="0"/>
        </a:xfrm>
      </p:grpSpPr>
      <p:sp>
        <p:nvSpPr>
          <p:cNvPr id="253" name="Google Shape;253;p35"/>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Our Final Product Video</a:t>
            </a:r>
            <a:endParaRPr b="1" sz="2620">
              <a:solidFill>
                <a:schemeClr val="lt1"/>
              </a:solidFill>
              <a:latin typeface="Atkinson Hyperlegible"/>
              <a:ea typeface="Atkinson Hyperlegible"/>
              <a:cs typeface="Atkinson Hyperlegible"/>
              <a:sym typeface="Atkinson Hyperlegible"/>
            </a:endParaRPr>
          </a:p>
        </p:txBody>
      </p:sp>
      <p:sp>
        <p:nvSpPr>
          <p:cNvPr id="255" name="Google Shape;255;p35"/>
          <p:cNvSpPr txBox="1"/>
          <p:nvPr>
            <p:ph idx="1" type="body"/>
          </p:nvPr>
        </p:nvSpPr>
        <p:spPr>
          <a:xfrm>
            <a:off x="4933750" y="1504625"/>
            <a:ext cx="3827100" cy="3000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sz="1400">
                <a:solidFill>
                  <a:schemeClr val="dk1"/>
                </a:solidFill>
              </a:rPr>
              <a:t>Full System Test</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Parent Creates an account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School Approves the account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Parent pulls up to the camera and scans QR code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At same time, inside school announces the pickup of students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Student then goes to the correct station, volunteer can check them off and they get to go home</a:t>
            </a:r>
            <a:endParaRPr>
              <a:solidFill>
                <a:schemeClr val="dk1"/>
              </a:solidFill>
            </a:endParaRPr>
          </a:p>
        </p:txBody>
      </p:sp>
      <p:sp>
        <p:nvSpPr>
          <p:cNvPr id="256" name="Google Shape;256;p35"/>
          <p:cNvSpPr/>
          <p:nvPr/>
        </p:nvSpPr>
        <p:spPr>
          <a:xfrm>
            <a:off x="556300" y="1440900"/>
            <a:ext cx="3827100" cy="273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video</a:t>
            </a:r>
            <a:endParaRPr/>
          </a:p>
        </p:txBody>
      </p:sp>
      <p:pic>
        <p:nvPicPr>
          <p:cNvPr id="257" name="Google Shape;257;p35" title="Video Demo.mov">
            <a:hlinkClick r:id="rId3"/>
          </p:cNvPr>
          <p:cNvPicPr preferRelativeResize="0"/>
          <p:nvPr/>
        </p:nvPicPr>
        <p:blipFill>
          <a:blip r:embed="rId4">
            <a:alphaModFix/>
          </a:blip>
          <a:stretch>
            <a:fillRect/>
          </a:stretch>
        </p:blipFill>
        <p:spPr>
          <a:xfrm>
            <a:off x="450225" y="1398475"/>
            <a:ext cx="4617580" cy="30005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61" name="Shape 261"/>
        <p:cNvGrpSpPr/>
        <p:nvPr/>
      </p:nvGrpSpPr>
      <p:grpSpPr>
        <a:xfrm>
          <a:off x="0" y="0"/>
          <a:ext cx="0" cy="0"/>
          <a:chOff x="0" y="0"/>
          <a:chExt cx="0" cy="0"/>
        </a:xfrm>
      </p:grpSpPr>
      <p:sp>
        <p:nvSpPr>
          <p:cNvPr id="262" name="Google Shape;262;p36"/>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Testing and </a:t>
            </a:r>
            <a:r>
              <a:rPr b="1" lang="en" sz="2620">
                <a:solidFill>
                  <a:schemeClr val="lt1"/>
                </a:solidFill>
                <a:latin typeface="Atkinson Hyperlegible"/>
                <a:ea typeface="Atkinson Hyperlegible"/>
                <a:cs typeface="Atkinson Hyperlegible"/>
                <a:sym typeface="Atkinson Hyperlegible"/>
              </a:rPr>
              <a:t>Results</a:t>
            </a:r>
            <a:endParaRPr b="1" sz="2620">
              <a:solidFill>
                <a:schemeClr val="lt1"/>
              </a:solidFill>
              <a:latin typeface="Atkinson Hyperlegible"/>
              <a:ea typeface="Atkinson Hyperlegible"/>
              <a:cs typeface="Atkinson Hyperlegible"/>
              <a:sym typeface="Atkinson Hyperlegible"/>
            </a:endParaRPr>
          </a:p>
        </p:txBody>
      </p:sp>
      <p:sp>
        <p:nvSpPr>
          <p:cNvPr id="264" name="Google Shape;264;p36"/>
          <p:cNvSpPr txBox="1"/>
          <p:nvPr>
            <p:ph idx="1" type="body"/>
          </p:nvPr>
        </p:nvSpPr>
        <p:spPr>
          <a:xfrm>
            <a:off x="311700" y="1152475"/>
            <a:ext cx="4413900" cy="2019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700">
                <a:solidFill>
                  <a:schemeClr val="dk1"/>
                </a:solidFill>
              </a:rPr>
              <a:t>Small, foundational testing first</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Display text found by the camera directly to the screen it is connected to</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Ping router from the car entrance module to verify connectivity</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QUERY database to ensure proper initialization</a:t>
            </a:r>
            <a:endParaRPr sz="1500">
              <a:solidFill>
                <a:schemeClr val="dk1"/>
              </a:solidFill>
            </a:endParaRPr>
          </a:p>
        </p:txBody>
      </p:sp>
      <p:pic>
        <p:nvPicPr>
          <p:cNvPr id="265" name="Google Shape;265;p36" title="Car_Entrance_Module_Sucessful_Scan.PNG"/>
          <p:cNvPicPr preferRelativeResize="0"/>
          <p:nvPr/>
        </p:nvPicPr>
        <p:blipFill>
          <a:blip r:embed="rId3">
            <a:alphaModFix/>
          </a:blip>
          <a:stretch>
            <a:fillRect/>
          </a:stretch>
        </p:blipFill>
        <p:spPr>
          <a:xfrm>
            <a:off x="4810425" y="1361475"/>
            <a:ext cx="4021876" cy="1862925"/>
          </a:xfrm>
          <a:prstGeom prst="rect">
            <a:avLst/>
          </a:prstGeom>
          <a:noFill/>
          <a:ln>
            <a:noFill/>
          </a:ln>
        </p:spPr>
      </p:pic>
      <p:sp>
        <p:nvSpPr>
          <p:cNvPr id="266" name="Google Shape;266;p36"/>
          <p:cNvSpPr txBox="1"/>
          <p:nvPr/>
        </p:nvSpPr>
        <p:spPr>
          <a:xfrm>
            <a:off x="311700" y="3171475"/>
            <a:ext cx="8357700" cy="140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700">
                <a:solidFill>
                  <a:schemeClr val="dk1"/>
                </a:solidFill>
              </a:rPr>
              <a:t>System testing comes next</a:t>
            </a:r>
            <a:endParaRPr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Packets should be sent to the database, should return student names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Screens directing drivers and students should update in no more than 5 seconds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Web server flags incoming requests to alter database to admin page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70" name="Shape 270"/>
        <p:cNvGrpSpPr/>
        <p:nvPr/>
      </p:nvGrpSpPr>
      <p:grpSpPr>
        <a:xfrm>
          <a:off x="0" y="0"/>
          <a:ext cx="0" cy="0"/>
          <a:chOff x="0" y="0"/>
          <a:chExt cx="0" cy="0"/>
        </a:xfrm>
      </p:grpSpPr>
      <p:sp>
        <p:nvSpPr>
          <p:cNvPr id="271" name="Google Shape;271;p37"/>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Results</a:t>
            </a:r>
            <a:endParaRPr b="1" sz="2620">
              <a:solidFill>
                <a:schemeClr val="lt1"/>
              </a:solidFill>
              <a:latin typeface="Atkinson Hyperlegible"/>
              <a:ea typeface="Atkinson Hyperlegible"/>
              <a:cs typeface="Atkinson Hyperlegible"/>
              <a:sym typeface="Atkinson Hyperlegible"/>
            </a:endParaRPr>
          </a:p>
          <a:p>
            <a:pPr indent="0" lvl="0" marL="0" rtl="0" algn="l">
              <a:spcBef>
                <a:spcPts val="0"/>
              </a:spcBef>
              <a:spcAft>
                <a:spcPts val="0"/>
              </a:spcAft>
              <a:buSzPts val="990"/>
              <a:buNone/>
            </a:pPr>
            <a:r>
              <a:t/>
            </a:r>
            <a:endParaRPr b="1" sz="2620">
              <a:solidFill>
                <a:schemeClr val="lt1"/>
              </a:solidFill>
              <a:latin typeface="Atkinson Hyperlegible"/>
              <a:ea typeface="Atkinson Hyperlegible"/>
              <a:cs typeface="Atkinson Hyperlegible"/>
              <a:sym typeface="Atkinson Hyperlegible"/>
            </a:endParaRPr>
          </a:p>
        </p:txBody>
      </p:sp>
      <p:sp>
        <p:nvSpPr>
          <p:cNvPr id="273" name="Google Shape;273;p37"/>
          <p:cNvSpPr txBox="1"/>
          <p:nvPr>
            <p:ph idx="1" type="body"/>
          </p:nvPr>
        </p:nvSpPr>
        <p:spPr>
          <a:xfrm>
            <a:off x="311700" y="1017725"/>
            <a:ext cx="8520600" cy="3683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ts val="275"/>
              <a:buFont typeface="Arial"/>
              <a:buNone/>
            </a:pPr>
            <a:r>
              <a:rPr b="1" lang="en" sz="4800">
                <a:solidFill>
                  <a:schemeClr val="dk1"/>
                </a:solidFill>
              </a:rPr>
              <a:t>Database Implementation</a:t>
            </a:r>
            <a:endParaRPr b="1" sz="4800">
              <a:solidFill>
                <a:schemeClr val="dk1"/>
              </a:solidFill>
            </a:endParaRPr>
          </a:p>
          <a:p>
            <a:pPr indent="-304800" lvl="0" marL="457200" rtl="0" algn="l">
              <a:spcBef>
                <a:spcPts val="1000"/>
              </a:spcBef>
              <a:spcAft>
                <a:spcPts val="0"/>
              </a:spcAft>
              <a:buClr>
                <a:schemeClr val="dk1"/>
              </a:buClr>
              <a:buSzPct val="100000"/>
              <a:buChar char="●"/>
            </a:pPr>
            <a:r>
              <a:rPr lang="en" sz="4800">
                <a:solidFill>
                  <a:schemeClr val="dk1"/>
                </a:solidFill>
              </a:rPr>
              <a:t>PostgreSQL database created using </a:t>
            </a:r>
            <a:r>
              <a:rPr b="1" lang="en" sz="4800">
                <a:solidFill>
                  <a:schemeClr val="dk1"/>
                </a:solidFill>
              </a:rPr>
              <a:t>Supabase</a:t>
            </a:r>
            <a:endParaRPr b="1"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Tables implemented for:</a:t>
            </a:r>
            <a:endParaRPr sz="4800">
              <a:solidFill>
                <a:schemeClr val="dk1"/>
              </a:solidFill>
            </a:endParaRPr>
          </a:p>
          <a:p>
            <a:pPr indent="-304800" lvl="1" marL="914400" rtl="0" algn="l">
              <a:spcBef>
                <a:spcPts val="0"/>
              </a:spcBef>
              <a:spcAft>
                <a:spcPts val="0"/>
              </a:spcAft>
              <a:buClr>
                <a:schemeClr val="dk1"/>
              </a:buClr>
              <a:buSzPct val="100000"/>
              <a:buChar char="○"/>
            </a:pPr>
            <a:r>
              <a:rPr lang="en" sz="4800">
                <a:solidFill>
                  <a:schemeClr val="dk1"/>
                </a:solidFill>
              </a:rPr>
              <a:t>Parent accounts</a:t>
            </a:r>
            <a:endParaRPr sz="4800">
              <a:solidFill>
                <a:schemeClr val="dk1"/>
              </a:solidFill>
            </a:endParaRPr>
          </a:p>
          <a:p>
            <a:pPr indent="-304800" lvl="1" marL="914400" rtl="0" algn="l">
              <a:spcBef>
                <a:spcPts val="0"/>
              </a:spcBef>
              <a:spcAft>
                <a:spcPts val="0"/>
              </a:spcAft>
              <a:buClr>
                <a:schemeClr val="dk1"/>
              </a:buClr>
              <a:buSzPct val="100000"/>
              <a:buChar char="○"/>
            </a:pPr>
            <a:r>
              <a:rPr lang="en" sz="4800">
                <a:solidFill>
                  <a:schemeClr val="dk1"/>
                </a:solidFill>
              </a:rPr>
              <a:t>Student records</a:t>
            </a:r>
            <a:endParaRPr sz="4800">
              <a:solidFill>
                <a:schemeClr val="dk1"/>
              </a:solidFill>
            </a:endParaRPr>
          </a:p>
          <a:p>
            <a:pPr indent="-304800" lvl="1" marL="914400" rtl="0" algn="l">
              <a:spcBef>
                <a:spcPts val="0"/>
              </a:spcBef>
              <a:spcAft>
                <a:spcPts val="0"/>
              </a:spcAft>
              <a:buClr>
                <a:schemeClr val="dk1"/>
              </a:buClr>
              <a:buSzPct val="100000"/>
              <a:buChar char="○"/>
            </a:pPr>
            <a:r>
              <a:rPr lang="en" sz="4800">
                <a:solidFill>
                  <a:schemeClr val="dk1"/>
                </a:solidFill>
              </a:rPr>
              <a:t>Parent–student relationships</a:t>
            </a:r>
            <a:endParaRPr sz="4800">
              <a:solidFill>
                <a:schemeClr val="dk1"/>
              </a:solidFill>
            </a:endParaRPr>
          </a:p>
          <a:p>
            <a:pPr indent="-304800" lvl="1" marL="914400" rtl="0" algn="l">
              <a:spcBef>
                <a:spcPts val="0"/>
              </a:spcBef>
              <a:spcAft>
                <a:spcPts val="0"/>
              </a:spcAft>
              <a:buClr>
                <a:schemeClr val="dk1"/>
              </a:buClr>
              <a:buSzPct val="100000"/>
              <a:buChar char="○"/>
            </a:pPr>
            <a:r>
              <a:rPr lang="en" sz="4800">
                <a:solidFill>
                  <a:schemeClr val="dk1"/>
                </a:solidFill>
              </a:rPr>
              <a:t>Pickup status tracking</a:t>
            </a:r>
            <a:endParaRPr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System successfully </a:t>
            </a:r>
            <a:r>
              <a:rPr b="1" lang="en" sz="4800">
                <a:solidFill>
                  <a:schemeClr val="dk1"/>
                </a:solidFill>
              </a:rPr>
              <a:t>inserts, retrieves, and updates records</a:t>
            </a:r>
            <a:endParaRPr b="1" sz="4800">
              <a:solidFill>
                <a:schemeClr val="dk1"/>
              </a:solidFill>
            </a:endParaRPr>
          </a:p>
          <a:p>
            <a:pPr indent="0" lvl="0" marL="0" rtl="0" algn="l">
              <a:spcBef>
                <a:spcPts val="1400"/>
              </a:spcBef>
              <a:spcAft>
                <a:spcPts val="0"/>
              </a:spcAft>
              <a:buNone/>
            </a:pPr>
            <a:r>
              <a:rPr b="1" lang="en" sz="4800">
                <a:solidFill>
                  <a:schemeClr val="dk1"/>
                </a:solidFill>
              </a:rPr>
              <a:t>Hardware </a:t>
            </a:r>
            <a:endParaRPr b="1" sz="4800">
              <a:solidFill>
                <a:schemeClr val="dk1"/>
              </a:solidFill>
            </a:endParaRPr>
          </a:p>
          <a:p>
            <a:pPr indent="-304800" lvl="0" marL="457200" rtl="0" algn="l">
              <a:spcBef>
                <a:spcPts val="1000"/>
              </a:spcBef>
              <a:spcAft>
                <a:spcPts val="0"/>
              </a:spcAft>
              <a:buClr>
                <a:schemeClr val="dk1"/>
              </a:buClr>
              <a:buSzPct val="100000"/>
              <a:buChar char="●"/>
            </a:pPr>
            <a:r>
              <a:rPr b="1" lang="en" sz="4800">
                <a:solidFill>
                  <a:schemeClr val="dk1"/>
                </a:solidFill>
              </a:rPr>
              <a:t>Raspberry Pi uses services to run program on startup</a:t>
            </a:r>
            <a:endParaRPr b="1"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Display is connected to web server output</a:t>
            </a:r>
            <a:endParaRPr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System can </a:t>
            </a:r>
            <a:r>
              <a:rPr b="1" lang="en" sz="4800">
                <a:solidFill>
                  <a:schemeClr val="dk1"/>
                </a:solidFill>
              </a:rPr>
              <a:t>process images and detect QR codes</a:t>
            </a:r>
            <a:endParaRPr b="1" sz="4800">
              <a:solidFill>
                <a:schemeClr val="dk1"/>
              </a:solidFill>
            </a:endParaRPr>
          </a:p>
          <a:p>
            <a:pPr indent="0" lvl="0" marL="0" rtl="0" algn="l">
              <a:spcBef>
                <a:spcPts val="1400"/>
              </a:spcBef>
              <a:spcAft>
                <a:spcPts val="0"/>
              </a:spcAft>
              <a:buNone/>
            </a:pPr>
            <a:r>
              <a:rPr b="1" lang="en" sz="4800">
                <a:solidFill>
                  <a:schemeClr val="dk1"/>
                </a:solidFill>
              </a:rPr>
              <a:t>Mechanical Development</a:t>
            </a:r>
            <a:endParaRPr b="1" sz="4800">
              <a:solidFill>
                <a:schemeClr val="dk1"/>
              </a:solidFill>
            </a:endParaRPr>
          </a:p>
          <a:p>
            <a:pPr indent="-304800" lvl="0" marL="457200" rtl="0" algn="l">
              <a:spcBef>
                <a:spcPts val="1200"/>
              </a:spcBef>
              <a:spcAft>
                <a:spcPts val="0"/>
              </a:spcAft>
              <a:buClr>
                <a:schemeClr val="dk1"/>
              </a:buClr>
              <a:buSzPct val="100000"/>
              <a:buChar char="●"/>
            </a:pPr>
            <a:r>
              <a:rPr lang="en" sz="4800">
                <a:solidFill>
                  <a:schemeClr val="dk1"/>
                </a:solidFill>
              </a:rPr>
              <a:t>3D printed housing encloses all hardware components</a:t>
            </a:r>
            <a:endParaRPr sz="4800">
              <a:solidFill>
                <a:schemeClr val="dk1"/>
              </a:solidFill>
            </a:endParaRPr>
          </a:p>
          <a:p>
            <a:pPr indent="-304800" lvl="0" marL="457200" rtl="0" algn="l">
              <a:spcBef>
                <a:spcPts val="0"/>
              </a:spcBef>
              <a:spcAft>
                <a:spcPts val="0"/>
              </a:spcAft>
              <a:buClr>
                <a:schemeClr val="dk1"/>
              </a:buClr>
              <a:buSzPct val="100000"/>
              <a:buChar char="●"/>
            </a:pPr>
            <a:r>
              <a:rPr lang="en" sz="4800">
                <a:solidFill>
                  <a:schemeClr val="dk1"/>
                </a:solidFill>
              </a:rPr>
              <a:t>Housing also mounts directly to tripod</a:t>
            </a:r>
            <a:endParaRPr sz="4800">
              <a:solidFill>
                <a:schemeClr val="dk1"/>
              </a:solidFill>
            </a:endParaRPr>
          </a:p>
          <a:p>
            <a:pPr indent="0" lvl="0" marL="457200" rtl="0" algn="l">
              <a:spcBef>
                <a:spcPts val="1200"/>
              </a:spcBef>
              <a:spcAft>
                <a:spcPts val="0"/>
              </a:spcAft>
              <a:buNone/>
            </a:pPr>
            <a:r>
              <a:t/>
            </a:r>
            <a:endParaRPr b="1" sz="4900">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274" name="Google Shape;274;p37"/>
          <p:cNvPicPr preferRelativeResize="0"/>
          <p:nvPr/>
        </p:nvPicPr>
        <p:blipFill>
          <a:blip r:embed="rId3">
            <a:alphaModFix/>
          </a:blip>
          <a:stretch>
            <a:fillRect/>
          </a:stretch>
        </p:blipFill>
        <p:spPr>
          <a:xfrm>
            <a:off x="5192875" y="1116025"/>
            <a:ext cx="2389975" cy="2434350"/>
          </a:xfrm>
          <a:prstGeom prst="rect">
            <a:avLst/>
          </a:prstGeom>
          <a:noFill/>
          <a:ln>
            <a:noFill/>
          </a:ln>
        </p:spPr>
      </p:pic>
      <p:pic>
        <p:nvPicPr>
          <p:cNvPr id="275" name="Google Shape;275;p37"/>
          <p:cNvPicPr preferRelativeResize="0"/>
          <p:nvPr/>
        </p:nvPicPr>
        <p:blipFill>
          <a:blip r:embed="rId4">
            <a:alphaModFix/>
          </a:blip>
          <a:stretch>
            <a:fillRect/>
          </a:stretch>
        </p:blipFill>
        <p:spPr>
          <a:xfrm>
            <a:off x="4846250" y="3648675"/>
            <a:ext cx="1326218" cy="1052049"/>
          </a:xfrm>
          <a:prstGeom prst="rect">
            <a:avLst/>
          </a:prstGeom>
          <a:noFill/>
          <a:ln>
            <a:noFill/>
          </a:ln>
        </p:spPr>
      </p:pic>
      <p:pic>
        <p:nvPicPr>
          <p:cNvPr id="276" name="Google Shape;276;p37"/>
          <p:cNvPicPr preferRelativeResize="0"/>
          <p:nvPr/>
        </p:nvPicPr>
        <p:blipFill>
          <a:blip r:embed="rId5">
            <a:alphaModFix/>
          </a:blip>
          <a:stretch>
            <a:fillRect/>
          </a:stretch>
        </p:blipFill>
        <p:spPr>
          <a:xfrm>
            <a:off x="7059552" y="3006873"/>
            <a:ext cx="1693500" cy="1644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80" name="Shape 280"/>
        <p:cNvGrpSpPr/>
        <p:nvPr/>
      </p:nvGrpSpPr>
      <p:grpSpPr>
        <a:xfrm>
          <a:off x="0" y="0"/>
          <a:ext cx="0" cy="0"/>
          <a:chOff x="0" y="0"/>
          <a:chExt cx="0" cy="0"/>
        </a:xfrm>
      </p:grpSpPr>
      <p:sp>
        <p:nvSpPr>
          <p:cNvPr id="281" name="Google Shape;281;p38"/>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Results</a:t>
            </a:r>
            <a:endParaRPr b="1" sz="2620">
              <a:solidFill>
                <a:schemeClr val="lt1"/>
              </a:solidFill>
              <a:latin typeface="Atkinson Hyperlegible"/>
              <a:ea typeface="Atkinson Hyperlegible"/>
              <a:cs typeface="Atkinson Hyperlegible"/>
              <a:sym typeface="Atkinson Hyperlegible"/>
            </a:endParaRPr>
          </a:p>
          <a:p>
            <a:pPr indent="0" lvl="0" marL="0" rtl="0" algn="l">
              <a:spcBef>
                <a:spcPts val="0"/>
              </a:spcBef>
              <a:spcAft>
                <a:spcPts val="0"/>
              </a:spcAft>
              <a:buSzPts val="990"/>
              <a:buNone/>
            </a:pPr>
            <a:r>
              <a:t/>
            </a:r>
            <a:endParaRPr b="1" sz="2620">
              <a:solidFill>
                <a:schemeClr val="lt1"/>
              </a:solidFill>
              <a:latin typeface="Atkinson Hyperlegible"/>
              <a:ea typeface="Atkinson Hyperlegible"/>
              <a:cs typeface="Atkinson Hyperlegible"/>
              <a:sym typeface="Atkinson Hyperlegible"/>
            </a:endParaRPr>
          </a:p>
        </p:txBody>
      </p:sp>
      <p:sp>
        <p:nvSpPr>
          <p:cNvPr id="283" name="Google Shape;283;p38"/>
          <p:cNvSpPr txBox="1"/>
          <p:nvPr>
            <p:ph idx="1" type="body"/>
          </p:nvPr>
        </p:nvSpPr>
        <p:spPr>
          <a:xfrm>
            <a:off x="311700" y="1163200"/>
            <a:ext cx="8520600" cy="353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200">
                <a:solidFill>
                  <a:schemeClr val="dk1"/>
                </a:solidFill>
              </a:rPr>
              <a:t>Some of the Results for Testing Can be seen below:</a:t>
            </a:r>
            <a:endParaRPr b="1" sz="1200">
              <a:solidFill>
                <a:schemeClr val="dk1"/>
              </a:solidFill>
            </a:endParaRPr>
          </a:p>
          <a:p>
            <a:pPr indent="0" lvl="0" marL="0" rtl="0" algn="l">
              <a:spcBef>
                <a:spcPts val="1200"/>
              </a:spcBef>
              <a:spcAft>
                <a:spcPts val="1200"/>
              </a:spcAft>
              <a:buNone/>
            </a:pPr>
            <a:r>
              <a:t/>
            </a:r>
            <a:endParaRPr b="1" sz="1200">
              <a:solidFill>
                <a:schemeClr val="dk1"/>
              </a:solidFill>
            </a:endParaRPr>
          </a:p>
        </p:txBody>
      </p:sp>
      <p:graphicFrame>
        <p:nvGraphicFramePr>
          <p:cNvPr id="284" name="Google Shape;284;p38"/>
          <p:cNvGraphicFramePr/>
          <p:nvPr/>
        </p:nvGraphicFramePr>
        <p:xfrm>
          <a:off x="398150" y="1500625"/>
          <a:ext cx="3000000" cy="3000000"/>
        </p:xfrm>
        <a:graphic>
          <a:graphicData uri="http://schemas.openxmlformats.org/drawingml/2006/table">
            <a:tbl>
              <a:tblPr>
                <a:noFill/>
                <a:tableStyleId>{1EEEB366-D9E5-4FE7-BC47-A99282684B44}</a:tableStyleId>
              </a:tblPr>
              <a:tblGrid>
                <a:gridCol w="4491900"/>
                <a:gridCol w="3855800"/>
              </a:tblGrid>
              <a:tr h="381000">
                <a:tc>
                  <a:txBody>
                    <a:bodyPr/>
                    <a:lstStyle/>
                    <a:p>
                      <a:pPr indent="0" lvl="0" marL="0" rtl="0" algn="l">
                        <a:spcBef>
                          <a:spcPts val="0"/>
                        </a:spcBef>
                        <a:spcAft>
                          <a:spcPts val="0"/>
                        </a:spcAft>
                        <a:buNone/>
                      </a:pPr>
                      <a:r>
                        <a:rPr lang="en"/>
                        <a:t>Test</a:t>
                      </a:r>
                      <a:endParaRPr/>
                    </a:p>
                  </a:txBody>
                  <a:tcPr marT="91425" marB="91425" marR="91425" marL="91425"/>
                </a:tc>
                <a:tc>
                  <a:txBody>
                    <a:bodyPr/>
                    <a:lstStyle/>
                    <a:p>
                      <a:pPr indent="0" lvl="0" marL="0" rtl="0" algn="l">
                        <a:spcBef>
                          <a:spcPts val="0"/>
                        </a:spcBef>
                        <a:spcAft>
                          <a:spcPts val="0"/>
                        </a:spcAft>
                        <a:buNone/>
                      </a:pPr>
                      <a:r>
                        <a:rPr lang="en"/>
                        <a:t>Time To complete</a:t>
                      </a:r>
                      <a:endParaRPr/>
                    </a:p>
                  </a:txBody>
                  <a:tcPr marT="91425" marB="91425" marR="91425" marL="91425"/>
                </a:tc>
              </a:tr>
              <a:tr h="381000">
                <a:tc>
                  <a:txBody>
                    <a:bodyPr/>
                    <a:lstStyle/>
                    <a:p>
                      <a:pPr indent="0" lvl="0" marL="0" rtl="0" algn="l">
                        <a:spcBef>
                          <a:spcPts val="0"/>
                        </a:spcBef>
                        <a:spcAft>
                          <a:spcPts val="0"/>
                        </a:spcAft>
                        <a:buNone/>
                      </a:pPr>
                      <a:r>
                        <a:rPr lang="en"/>
                        <a:t>Time for Someone with no experience to create and account and add a child</a:t>
                      </a:r>
                      <a:endParaRPr/>
                    </a:p>
                  </a:txBody>
                  <a:tcPr marT="91425" marB="91425" marR="91425" marL="91425"/>
                </a:tc>
                <a:tc>
                  <a:txBody>
                    <a:bodyPr/>
                    <a:lstStyle/>
                    <a:p>
                      <a:pPr indent="0" lvl="0" marL="0" rtl="0" algn="l">
                        <a:spcBef>
                          <a:spcPts val="0"/>
                        </a:spcBef>
                        <a:spcAft>
                          <a:spcPts val="0"/>
                        </a:spcAft>
                        <a:buNone/>
                      </a:pPr>
                      <a:r>
                        <a:rPr lang="en"/>
                        <a:t>44 Seconds</a:t>
                      </a:r>
                      <a:endParaRPr/>
                    </a:p>
                  </a:txBody>
                  <a:tcPr marT="91425" marB="91425" marR="91425" marL="91425"/>
                </a:tc>
              </a:tr>
              <a:tr h="381000">
                <a:tc>
                  <a:txBody>
                    <a:bodyPr/>
                    <a:lstStyle/>
                    <a:p>
                      <a:pPr indent="0" lvl="0" marL="0" rtl="0" algn="l">
                        <a:spcBef>
                          <a:spcPts val="0"/>
                        </a:spcBef>
                        <a:spcAft>
                          <a:spcPts val="0"/>
                        </a:spcAft>
                        <a:buNone/>
                      </a:pPr>
                      <a:r>
                        <a:rPr lang="en"/>
                        <a:t>Time for Full system pickup (drive up, scan QR Code, Pull Forward)</a:t>
                      </a:r>
                      <a:endParaRPr/>
                    </a:p>
                  </a:txBody>
                  <a:tcPr marT="91425" marB="91425" marR="91425" marL="91425"/>
                </a:tc>
                <a:tc>
                  <a:txBody>
                    <a:bodyPr/>
                    <a:lstStyle/>
                    <a:p>
                      <a:pPr indent="0" lvl="0" marL="0" rtl="0" algn="l">
                        <a:spcBef>
                          <a:spcPts val="0"/>
                        </a:spcBef>
                        <a:spcAft>
                          <a:spcPts val="0"/>
                        </a:spcAft>
                        <a:buNone/>
                      </a:pPr>
                      <a:r>
                        <a:rPr lang="en"/>
                        <a:t>1 minute and 3 seconds for 2 cars</a:t>
                      </a:r>
                      <a:endParaRPr/>
                    </a:p>
                  </a:txBody>
                  <a:tcPr marT="91425" marB="91425" marR="91425" marL="91425"/>
                </a:tc>
              </a:tr>
              <a:tr h="381000">
                <a:tc>
                  <a:txBody>
                    <a:bodyPr/>
                    <a:lstStyle/>
                    <a:p>
                      <a:pPr indent="0" lvl="0" marL="0" rtl="0" algn="l">
                        <a:spcBef>
                          <a:spcPts val="0"/>
                        </a:spcBef>
                        <a:spcAft>
                          <a:spcPts val="0"/>
                        </a:spcAft>
                        <a:buNone/>
                      </a:pPr>
                      <a:r>
                        <a:rPr lang="en"/>
                        <a:t>Time to approve student</a:t>
                      </a:r>
                      <a:endParaRPr/>
                    </a:p>
                  </a:txBody>
                  <a:tcPr marT="91425" marB="91425" marR="91425" marL="91425"/>
                </a:tc>
                <a:tc>
                  <a:txBody>
                    <a:bodyPr/>
                    <a:lstStyle/>
                    <a:p>
                      <a:pPr indent="0" lvl="0" marL="0" rtl="0" algn="l">
                        <a:spcBef>
                          <a:spcPts val="0"/>
                        </a:spcBef>
                        <a:spcAft>
                          <a:spcPts val="0"/>
                        </a:spcAft>
                        <a:buNone/>
                      </a:pPr>
                      <a:r>
                        <a:rPr lang="en"/>
                        <a:t>~2 seconds</a:t>
                      </a:r>
                      <a:endParaRPr/>
                    </a:p>
                  </a:txBody>
                  <a:tcPr marT="91425" marB="91425" marR="91425" marL="91425"/>
                </a:tc>
              </a:tr>
              <a:tr h="381000">
                <a:tc>
                  <a:txBody>
                    <a:bodyPr/>
                    <a:lstStyle/>
                    <a:p>
                      <a:pPr indent="0" lvl="0" marL="0" rtl="0" algn="l">
                        <a:spcBef>
                          <a:spcPts val="0"/>
                        </a:spcBef>
                        <a:spcAft>
                          <a:spcPts val="0"/>
                        </a:spcAft>
                        <a:buNone/>
                      </a:pPr>
                      <a:r>
                        <a:rPr lang="en"/>
                        <a:t>Time to Generate Approved QR Code</a:t>
                      </a:r>
                      <a:endParaRPr/>
                    </a:p>
                  </a:txBody>
                  <a:tcPr marT="91425" marB="91425" marR="91425" marL="91425"/>
                </a:tc>
                <a:tc>
                  <a:txBody>
                    <a:bodyPr/>
                    <a:lstStyle/>
                    <a:p>
                      <a:pPr indent="0" lvl="0" marL="0" rtl="0" algn="l">
                        <a:spcBef>
                          <a:spcPts val="0"/>
                        </a:spcBef>
                        <a:spcAft>
                          <a:spcPts val="0"/>
                        </a:spcAft>
                        <a:buNone/>
                      </a:pPr>
                      <a:r>
                        <a:rPr lang="en"/>
                        <a:t>Less than 1 second</a:t>
                      </a:r>
                      <a:endParaRPr/>
                    </a:p>
                  </a:txBody>
                  <a:tcPr marT="91425" marB="91425" marR="91425" marL="91425"/>
                </a:tc>
              </a:tr>
              <a:tr h="381000">
                <a:tc>
                  <a:txBody>
                    <a:bodyPr/>
                    <a:lstStyle/>
                    <a:p>
                      <a:pPr indent="0" lvl="0" marL="0" rtl="0" algn="l">
                        <a:spcBef>
                          <a:spcPts val="0"/>
                        </a:spcBef>
                        <a:spcAft>
                          <a:spcPts val="0"/>
                        </a:spcAft>
                        <a:buNone/>
                      </a:pPr>
                      <a:r>
                        <a:rPr lang="en"/>
                        <a:t>Battery life of the Car Entrance Module</a:t>
                      </a:r>
                      <a:endParaRPr/>
                    </a:p>
                  </a:txBody>
                  <a:tcPr marT="91425" marB="91425" marR="91425" marL="91425"/>
                </a:tc>
                <a:tc>
                  <a:txBody>
                    <a:bodyPr/>
                    <a:lstStyle/>
                    <a:p>
                      <a:pPr indent="0" lvl="0" marL="0" rtl="0" algn="l">
                        <a:spcBef>
                          <a:spcPts val="0"/>
                        </a:spcBef>
                        <a:spcAft>
                          <a:spcPts val="0"/>
                        </a:spcAft>
                        <a:buNone/>
                      </a:pPr>
                      <a:r>
                        <a:rPr lang="en"/>
                        <a:t>Greater</a:t>
                      </a:r>
                      <a:r>
                        <a:rPr lang="en"/>
                        <a:t> than 2.5 hours</a:t>
                      </a:r>
                      <a:endParaRPr/>
                    </a:p>
                  </a:txBody>
                  <a:tcPr marT="91425" marB="91425" marR="91425" marL="91425"/>
                </a:tc>
              </a:tr>
              <a:tr h="381000">
                <a:tc>
                  <a:txBody>
                    <a:bodyPr/>
                    <a:lstStyle/>
                    <a:p>
                      <a:pPr indent="0" lvl="0" marL="0" rtl="0" algn="l">
                        <a:spcBef>
                          <a:spcPts val="0"/>
                        </a:spcBef>
                        <a:spcAft>
                          <a:spcPts val="0"/>
                        </a:spcAft>
                        <a:buNone/>
                      </a:pPr>
                      <a:r>
                        <a:rPr lang="en"/>
                        <a:t>Time To Display Successful Result after QR Scan</a:t>
                      </a:r>
                      <a:endParaRPr/>
                    </a:p>
                  </a:txBody>
                  <a:tcPr marT="91425" marB="91425" marR="91425" marL="91425"/>
                </a:tc>
                <a:tc>
                  <a:txBody>
                    <a:bodyPr/>
                    <a:lstStyle/>
                    <a:p>
                      <a:pPr indent="0" lvl="0" marL="0" rtl="0" algn="l">
                        <a:spcBef>
                          <a:spcPts val="0"/>
                        </a:spcBef>
                        <a:spcAft>
                          <a:spcPts val="0"/>
                        </a:spcAft>
                        <a:buNone/>
                      </a:pPr>
                      <a:r>
                        <a:rPr lang="en"/>
                        <a:t>~1 second</a:t>
                      </a:r>
                      <a:endParaRPr/>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88" name="Shape 288"/>
        <p:cNvGrpSpPr/>
        <p:nvPr/>
      </p:nvGrpSpPr>
      <p:grpSpPr>
        <a:xfrm>
          <a:off x="0" y="0"/>
          <a:ext cx="0" cy="0"/>
          <a:chOff x="0" y="0"/>
          <a:chExt cx="0" cy="0"/>
        </a:xfrm>
      </p:grpSpPr>
      <p:sp>
        <p:nvSpPr>
          <p:cNvPr id="289" name="Google Shape;289;p39"/>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Limitations</a:t>
            </a:r>
            <a:endParaRPr b="1" sz="2620">
              <a:solidFill>
                <a:schemeClr val="lt1"/>
              </a:solidFill>
              <a:latin typeface="Atkinson Hyperlegible"/>
              <a:ea typeface="Atkinson Hyperlegible"/>
              <a:cs typeface="Atkinson Hyperlegible"/>
              <a:sym typeface="Atkinson Hyperlegible"/>
            </a:endParaRPr>
          </a:p>
          <a:p>
            <a:pPr indent="0" lvl="0" marL="0" rtl="0" algn="l">
              <a:spcBef>
                <a:spcPts val="0"/>
              </a:spcBef>
              <a:spcAft>
                <a:spcPts val="0"/>
              </a:spcAft>
              <a:buSzPts val="990"/>
              <a:buNone/>
            </a:pPr>
            <a:r>
              <a:t/>
            </a:r>
            <a:endParaRPr b="1" sz="2620">
              <a:solidFill>
                <a:schemeClr val="lt1"/>
              </a:solidFill>
              <a:latin typeface="Atkinson Hyperlegible"/>
              <a:ea typeface="Atkinson Hyperlegible"/>
              <a:cs typeface="Atkinson Hyperlegible"/>
              <a:sym typeface="Atkinson Hyperlegible"/>
            </a:endParaRPr>
          </a:p>
        </p:txBody>
      </p:sp>
      <p:sp>
        <p:nvSpPr>
          <p:cNvPr id="291" name="Google Shape;291;p39"/>
          <p:cNvSpPr txBox="1"/>
          <p:nvPr>
            <p:ph idx="1" type="body"/>
          </p:nvPr>
        </p:nvSpPr>
        <p:spPr>
          <a:xfrm>
            <a:off x="311700" y="109682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ts val="275"/>
              <a:buFont typeface="Arial"/>
              <a:buNone/>
            </a:pPr>
            <a:r>
              <a:rPr b="1" lang="en" sz="6338">
                <a:solidFill>
                  <a:schemeClr val="dk1"/>
                </a:solidFill>
              </a:rPr>
              <a:t>Zigbee Antenna Integration Removed</a:t>
            </a:r>
            <a:endParaRPr b="1" sz="6338">
              <a:solidFill>
                <a:schemeClr val="dk1"/>
              </a:solidFill>
            </a:endParaRPr>
          </a:p>
          <a:p>
            <a:pPr indent="-329220" lvl="0" marL="457200" rtl="0" algn="l">
              <a:spcBef>
                <a:spcPts val="1200"/>
              </a:spcBef>
              <a:spcAft>
                <a:spcPts val="0"/>
              </a:spcAft>
              <a:buClr>
                <a:schemeClr val="dk1"/>
              </a:buClr>
              <a:buSzPct val="100000"/>
              <a:buChar char="●"/>
            </a:pPr>
            <a:r>
              <a:rPr lang="en" sz="6338">
                <a:solidFill>
                  <a:schemeClr val="dk1"/>
                </a:solidFill>
              </a:rPr>
              <a:t>Initial plan included Zigbee communication between modules</a:t>
            </a:r>
            <a:endParaRPr sz="6338">
              <a:solidFill>
                <a:schemeClr val="dk1"/>
              </a:solidFill>
            </a:endParaRPr>
          </a:p>
          <a:p>
            <a:pPr indent="-329220" lvl="0" marL="457200" rtl="0" algn="l">
              <a:spcBef>
                <a:spcPts val="0"/>
              </a:spcBef>
              <a:spcAft>
                <a:spcPts val="0"/>
              </a:spcAft>
              <a:buClr>
                <a:schemeClr val="dk1"/>
              </a:buClr>
              <a:buSzPct val="100000"/>
              <a:buChar char="●"/>
            </a:pPr>
            <a:r>
              <a:rPr lang="en" sz="6338">
                <a:solidFill>
                  <a:schemeClr val="dk1"/>
                </a:solidFill>
              </a:rPr>
              <a:t>Incorrect hardware was ordered and could not be programmed in time</a:t>
            </a:r>
            <a:endParaRPr sz="6338">
              <a:solidFill>
                <a:schemeClr val="dk1"/>
              </a:solidFill>
            </a:endParaRPr>
          </a:p>
          <a:p>
            <a:pPr indent="-329220" lvl="0" marL="457200" rtl="0" algn="l">
              <a:spcBef>
                <a:spcPts val="0"/>
              </a:spcBef>
              <a:spcAft>
                <a:spcPts val="0"/>
              </a:spcAft>
              <a:buClr>
                <a:schemeClr val="dk1"/>
              </a:buClr>
              <a:buSzPct val="100000"/>
              <a:buChar char="●"/>
            </a:pPr>
            <a:r>
              <a:rPr lang="en" sz="6338">
                <a:solidFill>
                  <a:schemeClr val="dk1"/>
                </a:solidFill>
              </a:rPr>
              <a:t>System was redesigned to operate without Zigbee</a:t>
            </a:r>
            <a:endParaRPr sz="6338">
              <a:solidFill>
                <a:schemeClr val="dk1"/>
              </a:solidFill>
            </a:endParaRPr>
          </a:p>
          <a:p>
            <a:pPr indent="0" lvl="0" marL="0" rtl="0" algn="l">
              <a:spcBef>
                <a:spcPts val="1200"/>
              </a:spcBef>
              <a:spcAft>
                <a:spcPts val="0"/>
              </a:spcAft>
              <a:buClr>
                <a:schemeClr val="dk1"/>
              </a:buClr>
              <a:buSzPts val="275"/>
              <a:buFont typeface="Arial"/>
              <a:buNone/>
            </a:pPr>
            <a:r>
              <a:rPr b="1" lang="en" sz="6338">
                <a:solidFill>
                  <a:schemeClr val="dk1"/>
                </a:solidFill>
              </a:rPr>
              <a:t>License Plate Recognition Not Implemented</a:t>
            </a:r>
            <a:endParaRPr b="1" sz="6338">
              <a:solidFill>
                <a:schemeClr val="dk1"/>
              </a:solidFill>
            </a:endParaRPr>
          </a:p>
          <a:p>
            <a:pPr indent="-329220" lvl="0" marL="457200" rtl="0" algn="l">
              <a:spcBef>
                <a:spcPts val="1200"/>
              </a:spcBef>
              <a:spcAft>
                <a:spcPts val="0"/>
              </a:spcAft>
              <a:buClr>
                <a:schemeClr val="dk1"/>
              </a:buClr>
              <a:buSzPct val="100000"/>
              <a:buChar char="●"/>
            </a:pPr>
            <a:r>
              <a:rPr lang="en" sz="6338">
                <a:solidFill>
                  <a:schemeClr val="dk1"/>
                </a:solidFill>
              </a:rPr>
              <a:t>Tested but found to be unreliable</a:t>
            </a:r>
            <a:endParaRPr sz="6338">
              <a:solidFill>
                <a:schemeClr val="dk1"/>
              </a:solidFill>
            </a:endParaRPr>
          </a:p>
          <a:p>
            <a:pPr indent="-329220" lvl="0" marL="457200" rtl="0" algn="l">
              <a:spcBef>
                <a:spcPts val="0"/>
              </a:spcBef>
              <a:spcAft>
                <a:spcPts val="0"/>
              </a:spcAft>
              <a:buClr>
                <a:schemeClr val="dk1"/>
              </a:buClr>
              <a:buSzPct val="100000"/>
              <a:buChar char="●"/>
            </a:pPr>
            <a:r>
              <a:rPr lang="en" sz="6338">
                <a:solidFill>
                  <a:schemeClr val="dk1"/>
                </a:solidFill>
              </a:rPr>
              <a:t>Performance varied significantly with lighting conditions, camera angle, and distance</a:t>
            </a:r>
            <a:endParaRPr sz="6338">
              <a:solidFill>
                <a:schemeClr val="dk1"/>
              </a:solidFill>
            </a:endParaRPr>
          </a:p>
          <a:p>
            <a:pPr indent="-329220" lvl="0" marL="457200" rtl="0" algn="l">
              <a:spcBef>
                <a:spcPts val="0"/>
              </a:spcBef>
              <a:spcAft>
                <a:spcPts val="0"/>
              </a:spcAft>
              <a:buClr>
                <a:schemeClr val="dk1"/>
              </a:buClr>
              <a:buSzPct val="100000"/>
              <a:buChar char="●"/>
            </a:pPr>
            <a:r>
              <a:rPr lang="en" sz="6338">
                <a:solidFill>
                  <a:schemeClr val="dk1"/>
                </a:solidFill>
              </a:rPr>
              <a:t>Risk of incorrect identification was too high for real-world use</a:t>
            </a:r>
            <a:endParaRPr sz="6338">
              <a:solidFill>
                <a:schemeClr val="dk1"/>
              </a:solidFill>
            </a:endParaRPr>
          </a:p>
          <a:p>
            <a:pPr indent="0" lvl="0" marL="0" rtl="0" algn="l">
              <a:spcBef>
                <a:spcPts val="1200"/>
              </a:spcBef>
              <a:spcAft>
                <a:spcPts val="0"/>
              </a:spcAft>
              <a:buClr>
                <a:schemeClr val="dk1"/>
              </a:buClr>
              <a:buSzPts val="275"/>
              <a:buFont typeface="Arial"/>
              <a:buNone/>
            </a:pPr>
            <a:r>
              <a:rPr b="1" lang="en" sz="6338">
                <a:solidFill>
                  <a:schemeClr val="dk1"/>
                </a:solidFill>
              </a:rPr>
              <a:t>Dependence on Network Connectivity</a:t>
            </a:r>
            <a:endParaRPr b="1" sz="6338">
              <a:solidFill>
                <a:schemeClr val="dk1"/>
              </a:solidFill>
            </a:endParaRPr>
          </a:p>
          <a:p>
            <a:pPr indent="-329220" lvl="0" marL="457200" rtl="0" algn="l">
              <a:spcBef>
                <a:spcPts val="1200"/>
              </a:spcBef>
              <a:spcAft>
                <a:spcPts val="0"/>
              </a:spcAft>
              <a:buClr>
                <a:schemeClr val="dk1"/>
              </a:buClr>
              <a:buSzPct val="100000"/>
              <a:buChar char="●"/>
            </a:pPr>
            <a:r>
              <a:rPr lang="en" sz="6338">
                <a:solidFill>
                  <a:schemeClr val="dk1"/>
                </a:solidFill>
              </a:rPr>
              <a:t>System requires stable internet connection for real-time updates</a:t>
            </a:r>
            <a:endParaRPr sz="6338">
              <a:solidFill>
                <a:schemeClr val="dk1"/>
              </a:solidFill>
            </a:endParaRPr>
          </a:p>
          <a:p>
            <a:pPr indent="-329220" lvl="0" marL="457200" rtl="0" algn="l">
              <a:spcBef>
                <a:spcPts val="0"/>
              </a:spcBef>
              <a:spcAft>
                <a:spcPts val="0"/>
              </a:spcAft>
              <a:buClr>
                <a:schemeClr val="dk1"/>
              </a:buClr>
              <a:buSzPct val="100000"/>
              <a:buChar char="●"/>
            </a:pPr>
            <a:r>
              <a:rPr lang="en" sz="6338">
                <a:solidFill>
                  <a:schemeClr val="dk1"/>
                </a:solidFill>
              </a:rPr>
              <a:t>Performance may degrade with poor connectivity</a:t>
            </a:r>
            <a:endParaRPr sz="6338">
              <a:solidFill>
                <a:schemeClr val="dk1"/>
              </a:solidFill>
            </a:endParaRPr>
          </a:p>
          <a:p>
            <a:pPr indent="0" lvl="0" marL="0" rtl="0" algn="l">
              <a:spcBef>
                <a:spcPts val="1200"/>
              </a:spcBef>
              <a:spcAft>
                <a:spcPts val="0"/>
              </a:spcAft>
              <a:buNone/>
            </a:pPr>
            <a:r>
              <a:t/>
            </a:r>
            <a:endParaRPr sz="1700">
              <a:solidFill>
                <a:schemeClr val="dk1"/>
              </a:solidFill>
            </a:endParaRPr>
          </a:p>
          <a:p>
            <a:pPr indent="0" lvl="0" marL="457200" rtl="0" algn="l">
              <a:spcBef>
                <a:spcPts val="1200"/>
              </a:spcBef>
              <a:spcAft>
                <a:spcPts val="0"/>
              </a:spcAft>
              <a:buNone/>
            </a:pPr>
            <a:r>
              <a:t/>
            </a:r>
            <a:endParaRPr b="1" sz="4900">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95" name="Shape 295"/>
        <p:cNvGrpSpPr/>
        <p:nvPr/>
      </p:nvGrpSpPr>
      <p:grpSpPr>
        <a:xfrm>
          <a:off x="0" y="0"/>
          <a:ext cx="0" cy="0"/>
          <a:chOff x="0" y="0"/>
          <a:chExt cx="0" cy="0"/>
        </a:xfrm>
      </p:grpSpPr>
      <p:sp>
        <p:nvSpPr>
          <p:cNvPr id="296" name="Google Shape;296;p40"/>
          <p:cNvSpPr/>
          <p:nvPr/>
        </p:nvSpPr>
        <p:spPr>
          <a:xfrm>
            <a:off x="209850" y="1096825"/>
            <a:ext cx="8724300" cy="3603900"/>
          </a:xfrm>
          <a:prstGeom prst="roundRect">
            <a:avLst>
              <a:gd fmla="val 845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solidFill>
                  <a:schemeClr val="lt1"/>
                </a:solidFill>
                <a:latin typeface="Atkinson Hyperlegible"/>
                <a:ea typeface="Atkinson Hyperlegible"/>
                <a:cs typeface="Atkinson Hyperlegible"/>
                <a:sym typeface="Atkinson Hyperlegible"/>
              </a:rPr>
              <a:t>Future Improvements</a:t>
            </a:r>
            <a:endParaRPr b="1" sz="2620">
              <a:solidFill>
                <a:schemeClr val="lt1"/>
              </a:solidFill>
              <a:latin typeface="Atkinson Hyperlegible"/>
              <a:ea typeface="Atkinson Hyperlegible"/>
              <a:cs typeface="Atkinson Hyperlegible"/>
              <a:sym typeface="Atkinson Hyperlegible"/>
            </a:endParaRPr>
          </a:p>
          <a:p>
            <a:pPr indent="0" lvl="0" marL="0" rtl="0" algn="l">
              <a:spcBef>
                <a:spcPts val="0"/>
              </a:spcBef>
              <a:spcAft>
                <a:spcPts val="0"/>
              </a:spcAft>
              <a:buSzPts val="990"/>
              <a:buNone/>
            </a:pPr>
            <a:r>
              <a:t/>
            </a:r>
            <a:endParaRPr b="1" sz="2620">
              <a:solidFill>
                <a:schemeClr val="lt1"/>
              </a:solidFill>
              <a:latin typeface="Atkinson Hyperlegible"/>
              <a:ea typeface="Atkinson Hyperlegible"/>
              <a:cs typeface="Atkinson Hyperlegible"/>
              <a:sym typeface="Atkinson Hyperlegible"/>
            </a:endParaRPr>
          </a:p>
        </p:txBody>
      </p:sp>
      <p:sp>
        <p:nvSpPr>
          <p:cNvPr id="298" name="Google Shape;298;p40"/>
          <p:cNvSpPr txBox="1"/>
          <p:nvPr>
            <p:ph idx="1" type="body"/>
          </p:nvPr>
        </p:nvSpPr>
        <p:spPr>
          <a:xfrm>
            <a:off x="311700" y="11905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275"/>
              <a:buFont typeface="Arial"/>
              <a:buNone/>
            </a:pPr>
            <a:r>
              <a:rPr b="1" lang="en" sz="1101">
                <a:solidFill>
                  <a:schemeClr val="dk1"/>
                </a:solidFill>
              </a:rPr>
              <a:t>Improved Identification Methods</a:t>
            </a:r>
            <a:endParaRPr b="1" sz="1101">
              <a:solidFill>
                <a:schemeClr val="dk1"/>
              </a:solidFill>
            </a:endParaRPr>
          </a:p>
          <a:p>
            <a:pPr indent="-298505" lvl="0" marL="457200" rtl="0" algn="l">
              <a:lnSpc>
                <a:spcPct val="95000"/>
              </a:lnSpc>
              <a:spcBef>
                <a:spcPts val="1200"/>
              </a:spcBef>
              <a:spcAft>
                <a:spcPts val="0"/>
              </a:spcAft>
              <a:buClr>
                <a:schemeClr val="dk1"/>
              </a:buClr>
              <a:buSzPts val="1101"/>
              <a:buChar char="●"/>
            </a:pPr>
            <a:r>
              <a:rPr lang="en" sz="1101">
                <a:solidFill>
                  <a:schemeClr val="dk1"/>
                </a:solidFill>
              </a:rPr>
              <a:t>Integrate more reliable computer vision models for license plate recognition</a:t>
            </a:r>
            <a:endParaRPr sz="1101">
              <a:solidFill>
                <a:schemeClr val="dk1"/>
              </a:solidFill>
            </a:endParaRPr>
          </a:p>
          <a:p>
            <a:pPr indent="-298505" lvl="0" marL="457200" rtl="0" algn="l">
              <a:lnSpc>
                <a:spcPct val="95000"/>
              </a:lnSpc>
              <a:spcBef>
                <a:spcPts val="0"/>
              </a:spcBef>
              <a:spcAft>
                <a:spcPts val="0"/>
              </a:spcAft>
              <a:buClr>
                <a:schemeClr val="dk1"/>
              </a:buClr>
              <a:buSzPts val="1101"/>
              <a:buChar char="●"/>
            </a:pPr>
            <a:r>
              <a:rPr lang="en" sz="1101">
                <a:solidFill>
                  <a:schemeClr val="dk1"/>
                </a:solidFill>
              </a:rPr>
              <a:t>Combine QR codes with automated recognition for redundancy</a:t>
            </a:r>
            <a:endParaRPr sz="1101">
              <a:solidFill>
                <a:schemeClr val="dk1"/>
              </a:solidFill>
            </a:endParaRPr>
          </a:p>
          <a:p>
            <a:pPr indent="0" lvl="0" marL="0" rtl="0" algn="l">
              <a:lnSpc>
                <a:spcPct val="95000"/>
              </a:lnSpc>
              <a:spcBef>
                <a:spcPts val="1200"/>
              </a:spcBef>
              <a:spcAft>
                <a:spcPts val="0"/>
              </a:spcAft>
              <a:buSzPts val="275"/>
              <a:buNone/>
            </a:pPr>
            <a:r>
              <a:rPr b="1" lang="en" sz="1101">
                <a:solidFill>
                  <a:schemeClr val="dk1"/>
                </a:solidFill>
              </a:rPr>
              <a:t>Real-Time Communication</a:t>
            </a:r>
            <a:endParaRPr b="1" sz="1101">
              <a:solidFill>
                <a:schemeClr val="dk1"/>
              </a:solidFill>
            </a:endParaRPr>
          </a:p>
          <a:p>
            <a:pPr indent="-298505" lvl="0" marL="457200" rtl="0" algn="l">
              <a:lnSpc>
                <a:spcPct val="95000"/>
              </a:lnSpc>
              <a:spcBef>
                <a:spcPts val="1200"/>
              </a:spcBef>
              <a:spcAft>
                <a:spcPts val="0"/>
              </a:spcAft>
              <a:buClr>
                <a:schemeClr val="dk1"/>
              </a:buClr>
              <a:buSzPts val="1101"/>
              <a:buChar char="●"/>
            </a:pPr>
            <a:r>
              <a:rPr lang="en" sz="1101">
                <a:solidFill>
                  <a:schemeClr val="dk1"/>
                </a:solidFill>
              </a:rPr>
              <a:t>Replace polling with WebSockets or MQTT for instant updates</a:t>
            </a:r>
            <a:endParaRPr sz="1101">
              <a:solidFill>
                <a:schemeClr val="dk1"/>
              </a:solidFill>
            </a:endParaRPr>
          </a:p>
          <a:p>
            <a:pPr indent="-298505" lvl="0" marL="457200" rtl="0" algn="l">
              <a:lnSpc>
                <a:spcPct val="95000"/>
              </a:lnSpc>
              <a:spcBef>
                <a:spcPts val="0"/>
              </a:spcBef>
              <a:spcAft>
                <a:spcPts val="0"/>
              </a:spcAft>
              <a:buClr>
                <a:schemeClr val="dk1"/>
              </a:buClr>
              <a:buSzPts val="1101"/>
              <a:buChar char="●"/>
            </a:pPr>
            <a:r>
              <a:rPr lang="en" sz="1101">
                <a:solidFill>
                  <a:schemeClr val="dk1"/>
                </a:solidFill>
              </a:rPr>
              <a:t>Improve system responsiveness and scalability</a:t>
            </a:r>
            <a:endParaRPr sz="1101">
              <a:solidFill>
                <a:schemeClr val="dk1"/>
              </a:solidFill>
            </a:endParaRPr>
          </a:p>
          <a:p>
            <a:pPr indent="0" lvl="0" marL="0" rtl="0" algn="l">
              <a:lnSpc>
                <a:spcPct val="95000"/>
              </a:lnSpc>
              <a:spcBef>
                <a:spcPts val="1200"/>
              </a:spcBef>
              <a:spcAft>
                <a:spcPts val="0"/>
              </a:spcAft>
              <a:buSzPts val="275"/>
              <a:buNone/>
            </a:pPr>
            <a:r>
              <a:rPr b="1" lang="en" sz="1101">
                <a:solidFill>
                  <a:schemeClr val="dk1"/>
                </a:solidFill>
              </a:rPr>
              <a:t>Scalability and Deployment</a:t>
            </a:r>
            <a:endParaRPr b="1" sz="1101">
              <a:solidFill>
                <a:schemeClr val="dk1"/>
              </a:solidFill>
            </a:endParaRPr>
          </a:p>
          <a:p>
            <a:pPr indent="-298505" lvl="0" marL="457200" rtl="0" algn="l">
              <a:lnSpc>
                <a:spcPct val="95000"/>
              </a:lnSpc>
              <a:spcBef>
                <a:spcPts val="1200"/>
              </a:spcBef>
              <a:spcAft>
                <a:spcPts val="0"/>
              </a:spcAft>
              <a:buClr>
                <a:schemeClr val="dk1"/>
              </a:buClr>
              <a:buSzPts val="1101"/>
              <a:buChar char="●"/>
            </a:pPr>
            <a:r>
              <a:rPr lang="en" sz="1101">
                <a:solidFill>
                  <a:schemeClr val="dk1"/>
                </a:solidFill>
              </a:rPr>
              <a:t>Support multiple schools or larger campuses</a:t>
            </a:r>
            <a:endParaRPr sz="1101">
              <a:solidFill>
                <a:schemeClr val="dk1"/>
              </a:solidFill>
            </a:endParaRPr>
          </a:p>
          <a:p>
            <a:pPr indent="-298505" lvl="0" marL="457200" rtl="0" algn="l">
              <a:lnSpc>
                <a:spcPct val="95000"/>
              </a:lnSpc>
              <a:spcBef>
                <a:spcPts val="0"/>
              </a:spcBef>
              <a:spcAft>
                <a:spcPts val="0"/>
              </a:spcAft>
              <a:buClr>
                <a:schemeClr val="dk1"/>
              </a:buClr>
              <a:buSzPts val="1101"/>
              <a:buChar char="●"/>
            </a:pPr>
            <a:r>
              <a:rPr lang="en" sz="1101">
                <a:solidFill>
                  <a:schemeClr val="dk1"/>
                </a:solidFill>
              </a:rPr>
              <a:t>Add admin tools for managing stations and users dynamically</a:t>
            </a:r>
            <a:endParaRPr sz="1101">
              <a:solidFill>
                <a:schemeClr val="dk1"/>
              </a:solidFill>
            </a:endParaRPr>
          </a:p>
          <a:p>
            <a:pPr indent="0" lvl="0" marL="0" rtl="0" algn="l">
              <a:lnSpc>
                <a:spcPct val="95000"/>
              </a:lnSpc>
              <a:spcBef>
                <a:spcPts val="1200"/>
              </a:spcBef>
              <a:spcAft>
                <a:spcPts val="0"/>
              </a:spcAft>
              <a:buSzPts val="275"/>
              <a:buNone/>
            </a:pPr>
            <a:r>
              <a:rPr b="1" lang="en" sz="1101">
                <a:solidFill>
                  <a:schemeClr val="dk1"/>
                </a:solidFill>
              </a:rPr>
              <a:t>External Power Button</a:t>
            </a:r>
            <a:endParaRPr b="1" sz="1101">
              <a:solidFill>
                <a:schemeClr val="dk1"/>
              </a:solidFill>
            </a:endParaRPr>
          </a:p>
          <a:p>
            <a:pPr indent="-298505" lvl="0" marL="457200" rtl="0" algn="l">
              <a:lnSpc>
                <a:spcPct val="95000"/>
              </a:lnSpc>
              <a:spcBef>
                <a:spcPts val="1200"/>
              </a:spcBef>
              <a:spcAft>
                <a:spcPts val="0"/>
              </a:spcAft>
              <a:buClr>
                <a:schemeClr val="dk1"/>
              </a:buClr>
              <a:buSzPts val="1101"/>
              <a:buChar char="●"/>
            </a:pPr>
            <a:r>
              <a:rPr lang="en" sz="1101">
                <a:solidFill>
                  <a:schemeClr val="dk1"/>
                </a:solidFill>
              </a:rPr>
              <a:t>Current setup requires staff to lift lid and plug in battery</a:t>
            </a:r>
            <a:endParaRPr sz="1101">
              <a:solidFill>
                <a:schemeClr val="dk1"/>
              </a:solidFill>
            </a:endParaRPr>
          </a:p>
          <a:p>
            <a:pPr indent="-298505" lvl="0" marL="457200" rtl="0" algn="l">
              <a:lnSpc>
                <a:spcPct val="95000"/>
              </a:lnSpc>
              <a:spcBef>
                <a:spcPts val="0"/>
              </a:spcBef>
              <a:spcAft>
                <a:spcPts val="0"/>
              </a:spcAft>
              <a:buClr>
                <a:schemeClr val="dk1"/>
              </a:buClr>
              <a:buSzPts val="1101"/>
              <a:buChar char="●"/>
            </a:pPr>
            <a:r>
              <a:rPr lang="en" sz="1101">
                <a:solidFill>
                  <a:schemeClr val="dk1"/>
                </a:solidFill>
              </a:rPr>
              <a:t>An external power switch would improve usability</a:t>
            </a:r>
            <a:endParaRPr sz="1101">
              <a:solidFill>
                <a:schemeClr val="dk1"/>
              </a:solidFill>
            </a:endParaRPr>
          </a:p>
          <a:p>
            <a:pPr indent="0" lvl="0" marL="0" rtl="0" algn="l">
              <a:lnSpc>
                <a:spcPct val="95000"/>
              </a:lnSpc>
              <a:spcBef>
                <a:spcPts val="1200"/>
              </a:spcBef>
              <a:spcAft>
                <a:spcPts val="0"/>
              </a:spcAft>
              <a:buSzPts val="275"/>
              <a:buNone/>
            </a:pPr>
            <a:r>
              <a:t/>
            </a:r>
            <a:endParaRPr sz="100">
              <a:solidFill>
                <a:schemeClr val="dk1"/>
              </a:solidFill>
            </a:endParaRPr>
          </a:p>
          <a:p>
            <a:pPr indent="0" lvl="0" marL="457200" rtl="0" algn="l">
              <a:lnSpc>
                <a:spcPct val="95000"/>
              </a:lnSpc>
              <a:spcBef>
                <a:spcPts val="1200"/>
              </a:spcBef>
              <a:spcAft>
                <a:spcPts val="0"/>
              </a:spcAft>
              <a:buSzPts val="275"/>
              <a:buNone/>
            </a:pPr>
            <a:r>
              <a:t/>
            </a:r>
            <a:endParaRPr b="1" sz="625">
              <a:solidFill>
                <a:schemeClr val="dk1"/>
              </a:solidFill>
            </a:endParaRPr>
          </a:p>
          <a:p>
            <a:pPr indent="0" lvl="0" marL="0" rtl="0" algn="l">
              <a:lnSpc>
                <a:spcPct val="95000"/>
              </a:lnSpc>
              <a:spcBef>
                <a:spcPts val="1200"/>
              </a:spcBef>
              <a:spcAft>
                <a:spcPts val="1200"/>
              </a:spcAft>
              <a:buSzPts val="275"/>
              <a:buNone/>
            </a:pPr>
            <a:r>
              <a:t/>
            </a:r>
            <a:endParaRPr sz="1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302" name="Shape 302"/>
        <p:cNvGrpSpPr/>
        <p:nvPr/>
      </p:nvGrpSpPr>
      <p:grpSpPr>
        <a:xfrm>
          <a:off x="0" y="0"/>
          <a:ext cx="0" cy="0"/>
          <a:chOff x="0" y="0"/>
          <a:chExt cx="0" cy="0"/>
        </a:xfrm>
      </p:grpSpPr>
      <p:sp>
        <p:nvSpPr>
          <p:cNvPr id="303" name="Google Shape;303;p41"/>
          <p:cNvSpPr/>
          <p:nvPr/>
        </p:nvSpPr>
        <p:spPr>
          <a:xfrm>
            <a:off x="380400" y="345250"/>
            <a:ext cx="8383200" cy="3898800"/>
          </a:xfrm>
          <a:prstGeom prst="flowChartAlternateProcess">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Atkinson Hyperlegible"/>
                <a:ea typeface="Atkinson Hyperlegible"/>
                <a:cs typeface="Atkinson Hyperlegible"/>
                <a:sym typeface="Atkinson Hyperlegible"/>
              </a:rPr>
              <a:t>Questions?</a:t>
            </a:r>
            <a:endParaRPr>
              <a:latin typeface="Atkinson Hyperlegible"/>
              <a:ea typeface="Atkinson Hyperlegible"/>
              <a:cs typeface="Atkinson Hyperlegible"/>
              <a:sym typeface="Atkinson Hyperlegible"/>
            </a:endParaRPr>
          </a:p>
        </p:txBody>
      </p:sp>
      <p:sp>
        <p:nvSpPr>
          <p:cNvPr id="305" name="Google Shape;305;p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Atkinson Hyperlegible"/>
                <a:ea typeface="Atkinson Hyperlegible"/>
                <a:cs typeface="Atkinson Hyperlegible"/>
                <a:sym typeface="Atkinson Hyperlegible"/>
              </a:rPr>
              <a:t>Thanks for listening!</a:t>
            </a:r>
            <a:endParaRPr>
              <a:latin typeface="Atkinson Hyperlegible"/>
              <a:ea typeface="Atkinson Hyperlegible"/>
              <a:cs typeface="Atkinson Hyperlegible"/>
              <a:sym typeface="Atkinson Hyperlegible"/>
            </a:endParaRPr>
          </a:p>
        </p:txBody>
      </p:sp>
      <p:sp>
        <p:nvSpPr>
          <p:cNvPr id="306" name="Google Shape;306;p41"/>
          <p:cNvSpPr/>
          <p:nvPr/>
        </p:nvSpPr>
        <p:spPr>
          <a:xfrm flipH="1" rot="10800000">
            <a:off x="7206300" y="3430950"/>
            <a:ext cx="1937700" cy="1714500"/>
          </a:xfrm>
          <a:prstGeom prst="teardrop">
            <a:avLst>
              <a:gd fmla="val 100000" name="adj"/>
            </a:avLst>
          </a:prstGeom>
          <a:solidFill>
            <a:srgbClr val="500000"/>
          </a:solidFill>
          <a:ln cap="flat" cmpd="sng" w="9525">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The Wranglers Logo" id="307" name="Google Shape;307;p41" title="Untitled-4.png"/>
          <p:cNvPicPr preferRelativeResize="0"/>
          <p:nvPr/>
        </p:nvPicPr>
        <p:blipFill>
          <a:blip r:embed="rId3">
            <a:alphaModFix/>
          </a:blip>
          <a:stretch>
            <a:fillRect/>
          </a:stretch>
        </p:blipFill>
        <p:spPr>
          <a:xfrm>
            <a:off x="7510588" y="3687575"/>
            <a:ext cx="1329125" cy="13291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