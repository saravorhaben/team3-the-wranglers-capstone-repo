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embeddedFontLst>
    <p:embeddedFont>
      <p:font typeface="Atkinson Hyperlegible"/>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0AADB37-6560-4D0E-86F4-E0B69033094E}">
  <a:tblStyle styleId="{70AADB37-6560-4D0E-86F4-E0B69033094E}"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BC9B4EA-1BC6-4B85-9D08-08C158A5834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44CEC5E-61DC-4C3A-8721-04CED5D1D344}"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tkinsonHyperlegible-bold.fntdata"/><Relationship Id="rId20" Type="http://schemas.openxmlformats.org/officeDocument/2006/relationships/slide" Target="slides/slide14.xml"/><Relationship Id="rId42" Type="http://schemas.openxmlformats.org/officeDocument/2006/relationships/font" Target="fonts/AtkinsonHyperlegible-boldItalic.fntdata"/><Relationship Id="rId41" Type="http://schemas.openxmlformats.org/officeDocument/2006/relationships/font" Target="fonts/AtkinsonHyperlegible-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AtkinsonHyperlegible-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d0c225375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bd0c225375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d0c225375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d0c225375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d0c225375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d0c225375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872fb3e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c872fb3e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e54590e7d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e54590e7d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e54590e7d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e54590e7d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d0c225375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d0c225375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d0c225375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d0c225375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d0c225375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d0c225375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d0c225375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d0c225375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range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e54590e7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e54590e7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range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725868a9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725868a9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725868a96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725868a96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725868a96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c725868a96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725868a96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725868a96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d0c225375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bd0c225375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Improve specs with respect to requirements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c725868a9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c725868a9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725868a9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725868a9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c725868a9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c725868a9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725868a96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c725868a96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725868a96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c725868a96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725868a96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725868a96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c725868a96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c725868a96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d0c225375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bd0c225375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c725868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c725868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725868a9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725868a9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c725868a9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c725868a9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c725868a9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c725868a9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d0c225375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bd0c225375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d0c225375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bd0c225375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d0c225375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d0c225375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hyperlink" Target="http://monday.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53" name="Shape 53"/>
        <p:cNvGrpSpPr/>
        <p:nvPr/>
      </p:nvGrpSpPr>
      <p:grpSpPr>
        <a:xfrm>
          <a:off x="0" y="0"/>
          <a:ext cx="0" cy="0"/>
          <a:chOff x="0" y="0"/>
          <a:chExt cx="0" cy="0"/>
        </a:xfrm>
      </p:grpSpPr>
      <p:sp>
        <p:nvSpPr>
          <p:cNvPr id="54" name="Google Shape;54;p13"/>
          <p:cNvSpPr/>
          <p:nvPr/>
        </p:nvSpPr>
        <p:spPr>
          <a:xfrm>
            <a:off x="380400" y="345250"/>
            <a:ext cx="8383200" cy="3898800"/>
          </a:xfrm>
          <a:prstGeom prst="flowChartAlternateProcess">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type="ctrTitle"/>
          </p:nvPr>
        </p:nvSpPr>
        <p:spPr>
          <a:xfrm>
            <a:off x="311708" y="82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Car Rider Pickup System for Schools</a:t>
            </a:r>
            <a:endParaRPr>
              <a:latin typeface="Atkinson Hyperlegible"/>
              <a:ea typeface="Atkinson Hyperlegible"/>
              <a:cs typeface="Atkinson Hyperlegible"/>
              <a:sym typeface="Atkinson Hyperlegible"/>
            </a:endParaRPr>
          </a:p>
        </p:txBody>
      </p:sp>
      <p:sp>
        <p:nvSpPr>
          <p:cNvPr id="56" name="Google Shape;56;p13"/>
          <p:cNvSpPr txBox="1"/>
          <p:nvPr>
            <p:ph idx="1" type="subTitle"/>
          </p:nvPr>
        </p:nvSpPr>
        <p:spPr>
          <a:xfrm>
            <a:off x="311700" y="29564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sz="2000">
                <a:latin typeface="Atkinson Hyperlegible"/>
                <a:ea typeface="Atkinson Hyperlegible"/>
                <a:cs typeface="Atkinson Hyperlegible"/>
                <a:sym typeface="Atkinson Hyperlegible"/>
              </a:rPr>
              <a:t>Haya Abusada, Jake Hewett, Jayden Pearson, Jack Uehlinger, Sara Vorhaben</a:t>
            </a:r>
            <a:endParaRPr sz="2000">
              <a:latin typeface="Atkinson Hyperlegible"/>
              <a:ea typeface="Atkinson Hyperlegible"/>
              <a:cs typeface="Atkinson Hyperlegible"/>
              <a:sym typeface="Atkinson Hyperlegible"/>
            </a:endParaRPr>
          </a:p>
          <a:p>
            <a:pPr indent="0" lvl="0" marL="0" rtl="0" algn="ctr">
              <a:spcBef>
                <a:spcPts val="0"/>
              </a:spcBef>
              <a:spcAft>
                <a:spcPts val="0"/>
              </a:spcAft>
              <a:buNone/>
            </a:pPr>
            <a:r>
              <a:t/>
            </a:r>
            <a:endParaRPr sz="2000">
              <a:latin typeface="Atkinson Hyperlegible"/>
              <a:ea typeface="Atkinson Hyperlegible"/>
              <a:cs typeface="Atkinson Hyperlegible"/>
              <a:sym typeface="Atkinson Hyperlegible"/>
            </a:endParaRPr>
          </a:p>
        </p:txBody>
      </p:sp>
      <p:sp>
        <p:nvSpPr>
          <p:cNvPr id="57" name="Google Shape;57;p13"/>
          <p:cNvSpPr/>
          <p:nvPr/>
        </p:nvSpPr>
        <p:spPr>
          <a:xfrm flipH="1" rot="10800000">
            <a:off x="7206300" y="3430950"/>
            <a:ext cx="1937700" cy="1714500"/>
          </a:xfrm>
          <a:prstGeom prst="teardrop">
            <a:avLst>
              <a:gd fmla="val 100000" name="adj"/>
            </a:avLst>
          </a:prstGeom>
          <a:solidFill>
            <a:srgbClr val="500000"/>
          </a:solidFill>
          <a:ln cap="flat" cmpd="sng" w="9525">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The Wranglers Logo" id="58" name="Google Shape;58;p13" title="Untitled-4.png"/>
          <p:cNvPicPr preferRelativeResize="0"/>
          <p:nvPr/>
        </p:nvPicPr>
        <p:blipFill>
          <a:blip r:embed="rId3">
            <a:alphaModFix/>
          </a:blip>
          <a:stretch>
            <a:fillRect/>
          </a:stretch>
        </p:blipFill>
        <p:spPr>
          <a:xfrm>
            <a:off x="7510588" y="3687575"/>
            <a:ext cx="1329125" cy="1329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62" name="Shape 62"/>
        <p:cNvGrpSpPr/>
        <p:nvPr/>
      </p:nvGrpSpPr>
      <p:grpSpPr>
        <a:xfrm>
          <a:off x="0" y="0"/>
          <a:ext cx="0" cy="0"/>
          <a:chOff x="0" y="0"/>
          <a:chExt cx="0" cy="0"/>
        </a:xfrm>
      </p:grpSpPr>
      <p:sp>
        <p:nvSpPr>
          <p:cNvPr id="63" name="Google Shape;63;p1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Problem Background</a:t>
            </a:r>
            <a:endParaRPr b="1" sz="2620">
              <a:solidFill>
                <a:schemeClr val="lt1"/>
              </a:solidFill>
              <a:latin typeface="Atkinson Hyperlegible"/>
              <a:ea typeface="Atkinson Hyperlegible"/>
              <a:cs typeface="Atkinson Hyperlegible"/>
              <a:sym typeface="Atkinson Hyperlegible"/>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Char char="●"/>
            </a:pPr>
            <a:r>
              <a:rPr lang="en" sz="1600">
                <a:solidFill>
                  <a:schemeClr val="dk1"/>
                </a:solidFill>
              </a:rPr>
              <a:t>Over 70% of students are now picked up via car, creating massive congestion.</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Parents wait up to 1 hour, with lines often forming 1</a:t>
            </a:r>
            <a:r>
              <a:rPr lang="en" sz="1600">
                <a:solidFill>
                  <a:schemeClr val="dk1"/>
                </a:solidFill>
              </a:rPr>
              <a:t>-</a:t>
            </a:r>
            <a:r>
              <a:rPr lang="en" sz="1600">
                <a:solidFill>
                  <a:schemeClr val="dk1"/>
                </a:solidFill>
              </a:rPr>
              <a:t>2 hours before dismissal.</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Queues spill onto local highways, causing traffic backups and increasing accident risks.</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Inclement weather increases delays as bus and bike riders often switch to the car line.</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The manual process requires 5-10 staff members daily, diverting them from educational duties.</a:t>
            </a:r>
            <a:endParaRPr sz="2300">
              <a:solidFill>
                <a:schemeClr val="dk1"/>
              </a:solidFill>
            </a:endParaRPr>
          </a:p>
        </p:txBody>
      </p:sp>
      <p:sp>
        <p:nvSpPr>
          <p:cNvPr id="66" name="Google Shape;66;p14"/>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70" name="Shape 70"/>
        <p:cNvGrpSpPr/>
        <p:nvPr/>
      </p:nvGrpSpPr>
      <p:grpSpPr>
        <a:xfrm>
          <a:off x="0" y="0"/>
          <a:ext cx="0" cy="0"/>
          <a:chOff x="0" y="0"/>
          <a:chExt cx="0" cy="0"/>
        </a:xfrm>
      </p:grpSpPr>
      <p:sp>
        <p:nvSpPr>
          <p:cNvPr id="71" name="Google Shape;71;p1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Needs Statement</a:t>
            </a:r>
            <a:endParaRPr b="1" sz="2620">
              <a:solidFill>
                <a:schemeClr val="lt1"/>
              </a:solidFill>
              <a:latin typeface="Atkinson Hyperlegible"/>
              <a:ea typeface="Atkinson Hyperlegible"/>
              <a:cs typeface="Atkinson Hyperlegible"/>
              <a:sym typeface="Atkinson Hyperlegible"/>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School pickup via the car rider line has been increasing in the US over the years leading to an increase in line length and pickup time. Now, over 70% of students are picked up from school via the car rider line. Car rider lines have become congested, posing a safety issue for both the students and other drivers. With more students attending school, car rider lines have become too slow and cause parents to wait up to over an hour in line leading to frustration. Some studies show that the car rider pick-up line starts to form 1-2 hours before school actually gets out, which leads to traffic backing up local highways and streets, and even frequent accidents. Inclement weather further slows the line, as students who ride the bus or bike to school will often be picked up by their parents in the car rider line to avoid the weather. Additionally, 5-10 staff members are required to set up and run the pickup process, diverting their time away from the education of students. An automated system is needed to streamline the pick-up process to decrease delays and safety issues.</a:t>
            </a:r>
            <a:endParaRPr sz="3500">
              <a:solidFill>
                <a:schemeClr val="dk1"/>
              </a:solidFill>
            </a:endParaRPr>
          </a:p>
        </p:txBody>
      </p:sp>
      <p:sp>
        <p:nvSpPr>
          <p:cNvPr id="74" name="Google Shape;74;p15"/>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78" name="Shape 78"/>
        <p:cNvGrpSpPr/>
        <p:nvPr/>
      </p:nvGrpSpPr>
      <p:grpSpPr>
        <a:xfrm>
          <a:off x="0" y="0"/>
          <a:ext cx="0" cy="0"/>
          <a:chOff x="0" y="0"/>
          <a:chExt cx="0" cy="0"/>
        </a:xfrm>
      </p:grpSpPr>
      <p:sp>
        <p:nvSpPr>
          <p:cNvPr id="79" name="Google Shape;79;p1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a:t>
            </a:r>
            <a:endParaRPr b="1" sz="2620">
              <a:solidFill>
                <a:schemeClr val="lt1"/>
              </a:solidFill>
              <a:latin typeface="Atkinson Hyperlegible"/>
              <a:ea typeface="Atkinson Hyperlegible"/>
              <a:cs typeface="Atkinson Hyperlegible"/>
              <a:sym typeface="Atkinson Hyperlegible"/>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b="1" lang="en" sz="1500">
                <a:solidFill>
                  <a:schemeClr val="dk1"/>
                </a:solidFill>
              </a:rPr>
              <a:t>Goal</a:t>
            </a:r>
            <a:endParaRPr b="1" sz="15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500">
                <a:solidFill>
                  <a:schemeClr val="dk1"/>
                </a:solidFill>
              </a:rPr>
              <a:t>The goal of this project is to design and prototype a system that will help automate the car rider pick up process at schools. The system is built to reduce the amount of time necessary to pick up students from school.</a:t>
            </a:r>
            <a:endParaRPr sz="1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500">
                <a:solidFill>
                  <a:schemeClr val="dk1"/>
                </a:solidFill>
              </a:rPr>
              <a:t>Objectives</a:t>
            </a:r>
            <a:endParaRPr b="1"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system will allow parents to update their information (license plate numbers, approved adults for pickup, car rider schedules) via a website with approval from a staff member of the school.</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system will read the marker on the car (license plate, QR code, nametag) as it enters the pickup line and send the information to a server.</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server will identify the parent and child associated with the car marker, and update a display at the entrance of the pickup line to direct the car to the proper station.</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laptop at the front of the school is updated to inform the students and staff which child is being picked up, and which zone to go to. </a:t>
            </a:r>
            <a:endParaRPr sz="1500">
              <a:solidFill>
                <a:schemeClr val="dk1"/>
              </a:solidFill>
            </a:endParaRPr>
          </a:p>
        </p:txBody>
      </p:sp>
      <p:sp>
        <p:nvSpPr>
          <p:cNvPr id="82" name="Google Shape;82;p16"/>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86" name="Shape 86"/>
        <p:cNvGrpSpPr/>
        <p:nvPr/>
      </p:nvGrpSpPr>
      <p:grpSpPr>
        <a:xfrm>
          <a:off x="0" y="0"/>
          <a:ext cx="0" cy="0"/>
          <a:chOff x="0" y="0"/>
          <a:chExt cx="0" cy="0"/>
        </a:xfrm>
      </p:grpSpPr>
      <p:sp>
        <p:nvSpPr>
          <p:cNvPr id="87" name="Google Shape;87;p1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sp>
        <p:nvSpPr>
          <p:cNvPr id="89" name="Google Shape;8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2000"/>
              </a:spcBef>
              <a:spcAft>
                <a:spcPts val="0"/>
              </a:spcAft>
              <a:buNone/>
            </a:pPr>
            <a:r>
              <a:rPr b="1" lang="en" sz="2600">
                <a:solidFill>
                  <a:schemeClr val="dk1"/>
                </a:solidFill>
              </a:rPr>
              <a:t>Marketing Requirements</a:t>
            </a:r>
            <a:endParaRPr b="1" sz="2600">
              <a:solidFill>
                <a:schemeClr val="dk1"/>
              </a:solidFill>
            </a:endParaRPr>
          </a:p>
          <a:p>
            <a:pPr indent="-336550" lvl="0" marL="457200" rtl="0" algn="l">
              <a:spcBef>
                <a:spcPts val="600"/>
              </a:spcBef>
              <a:spcAft>
                <a:spcPts val="0"/>
              </a:spcAft>
              <a:buClr>
                <a:schemeClr val="dk1"/>
              </a:buClr>
              <a:buSzPts val="1700"/>
              <a:buAutoNum type="arabicPeriod"/>
            </a:pPr>
            <a:r>
              <a:rPr lang="en" sz="1700">
                <a:solidFill>
                  <a:schemeClr val="dk1"/>
                </a:solidFill>
              </a:rPr>
              <a:t>Make the pickup process faster for parents</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easily updated</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low cost</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easy to use/install</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Information must be validated if updated or inserted</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Student safety should be ensured (information, physical, etc.)</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reliable</a:t>
            </a:r>
            <a:endParaRPr b="1" sz="2100">
              <a:solidFill>
                <a:schemeClr val="dk1"/>
              </a:solidFill>
            </a:endParaRPr>
          </a:p>
        </p:txBody>
      </p:sp>
      <p:sp>
        <p:nvSpPr>
          <p:cNvPr id="90" name="Google Shape;90;p17"/>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94" name="Shape 94"/>
        <p:cNvGrpSpPr/>
        <p:nvPr/>
      </p:nvGrpSpPr>
      <p:grpSpPr>
        <a:xfrm>
          <a:off x="0" y="0"/>
          <a:ext cx="0" cy="0"/>
          <a:chOff x="0" y="0"/>
          <a:chExt cx="0" cy="0"/>
        </a:xfrm>
      </p:grpSpPr>
      <p:sp>
        <p:nvSpPr>
          <p:cNvPr id="95" name="Google Shape;95;p1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sp>
        <p:nvSpPr>
          <p:cNvPr id="97" name="Google Shape;97;p18"/>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98" name="Google Shape;98;p18"/>
          <p:cNvGraphicFramePr/>
          <p:nvPr/>
        </p:nvGraphicFramePr>
        <p:xfrm>
          <a:off x="369150" y="1241050"/>
          <a:ext cx="3000000" cy="3000000"/>
        </p:xfrm>
        <a:graphic>
          <a:graphicData uri="http://schemas.openxmlformats.org/drawingml/2006/table">
            <a:tbl>
              <a:tblPr>
                <a:noFill/>
                <a:tableStyleId>{70AADB37-6560-4D0E-86F4-E0B69033094E}</a:tableStyleId>
              </a:tblPr>
              <a:tblGrid>
                <a:gridCol w="2738325"/>
                <a:gridCol w="5826675"/>
              </a:tblGrid>
              <a:tr h="12700">
                <a:tc>
                  <a:txBody>
                    <a:bodyPr/>
                    <a:lstStyle/>
                    <a:p>
                      <a:pPr indent="0" lvl="0" marL="0" rtl="0" algn="l">
                        <a:spcBef>
                          <a:spcPts val="0"/>
                        </a:spcBef>
                        <a:spcAft>
                          <a:spcPts val="0"/>
                        </a:spcAft>
                        <a:buNone/>
                      </a:pPr>
                      <a:r>
                        <a:rPr lang="en" sz="1100"/>
                        <a:t>Marketing Requirements</a:t>
                      </a:r>
                      <a:endParaRPr sz="1100"/>
                    </a:p>
                  </a:txBody>
                  <a:tcPr marT="63500" marB="63500" marR="63500" marL="63500"/>
                </a:tc>
                <a:tc>
                  <a:txBody>
                    <a:bodyPr/>
                    <a:lstStyle/>
                    <a:p>
                      <a:pPr indent="0" lvl="0" marL="0" rtl="0" algn="l">
                        <a:spcBef>
                          <a:spcPts val="0"/>
                        </a:spcBef>
                        <a:spcAft>
                          <a:spcPts val="0"/>
                        </a:spcAft>
                        <a:buNone/>
                      </a:pPr>
                      <a:r>
                        <a:rPr lang="en" sz="1100"/>
                        <a:t>Engineering Requirements</a:t>
                      </a:r>
                      <a:endParaRPr sz="1100"/>
                    </a:p>
                  </a:txBody>
                  <a:tcPr marT="63500" marB="63500" marR="63500" marL="63500"/>
                </a:tc>
              </a:tr>
              <a:tr h="12700">
                <a:tc>
                  <a:txBody>
                    <a:bodyPr/>
                    <a:lstStyle/>
                    <a:p>
                      <a:pPr indent="0" lvl="0" marL="0" rtl="0" algn="l">
                        <a:spcBef>
                          <a:spcPts val="0"/>
                        </a:spcBef>
                        <a:spcAft>
                          <a:spcPts val="0"/>
                        </a:spcAft>
                        <a:buNone/>
                      </a:pPr>
                      <a:r>
                        <a:rPr lang="en" sz="1100"/>
                        <a:t>1</a:t>
                      </a:r>
                      <a:endParaRPr sz="1100"/>
                    </a:p>
                  </a:txBody>
                  <a:tcPr marT="63500" marB="63500" marR="63500" marL="63500"/>
                </a:tc>
                <a:tc>
                  <a:txBody>
                    <a:bodyPr/>
                    <a:lstStyle/>
                    <a:p>
                      <a:pPr indent="0" lvl="0" marL="0" rtl="0" algn="l">
                        <a:spcBef>
                          <a:spcPts val="0"/>
                        </a:spcBef>
                        <a:spcAft>
                          <a:spcPts val="0"/>
                        </a:spcAft>
                        <a:buNone/>
                      </a:pPr>
                      <a:r>
                        <a:rPr lang="en" sz="1100"/>
                        <a:t>Pickup time should be reduced by 30% per 100 kids. The time from the car entering the view of the camera to information being displayed should be no more than 5 seconds. </a:t>
                      </a:r>
                      <a:endParaRPr sz="1100"/>
                    </a:p>
                  </a:txBody>
                  <a:tcPr marT="63500" marB="63500" marR="63500" marL="63500"/>
                </a:tc>
              </a:tr>
              <a:tr h="12700">
                <a:tc>
                  <a:txBody>
                    <a:bodyPr/>
                    <a:lstStyle/>
                    <a:p>
                      <a:pPr indent="0" lvl="0" marL="0" rtl="0" algn="l">
                        <a:spcBef>
                          <a:spcPts val="0"/>
                        </a:spcBef>
                        <a:spcAft>
                          <a:spcPts val="0"/>
                        </a:spcAft>
                        <a:buNone/>
                      </a:pPr>
                      <a:r>
                        <a:rPr lang="en" sz="1100"/>
                        <a:t>4</a:t>
                      </a:r>
                      <a:endParaRPr sz="1100"/>
                    </a:p>
                  </a:txBody>
                  <a:tcPr marT="63500" marB="63500" marR="63500" marL="63500"/>
                </a:tc>
                <a:tc>
                  <a:txBody>
                    <a:bodyPr/>
                    <a:lstStyle/>
                    <a:p>
                      <a:pPr indent="0" lvl="0" marL="0" rtl="0" algn="l">
                        <a:spcBef>
                          <a:spcPts val="0"/>
                        </a:spcBef>
                        <a:spcAft>
                          <a:spcPts val="0"/>
                        </a:spcAft>
                        <a:buNone/>
                      </a:pPr>
                      <a:r>
                        <a:rPr lang="en" sz="1100"/>
                        <a:t>7 inch (diagonal) display screen to give station and process instructions clearly.</a:t>
                      </a:r>
                      <a:endParaRPr sz="1100"/>
                    </a:p>
                  </a:txBody>
                  <a:tcPr marT="63500" marB="63500" marR="63500" marL="63500"/>
                </a:tc>
              </a:tr>
              <a:tr h="12700">
                <a:tc>
                  <a:txBody>
                    <a:bodyPr/>
                    <a:lstStyle/>
                    <a:p>
                      <a:pPr indent="0" lvl="0" marL="0" rtl="0" algn="l">
                        <a:spcBef>
                          <a:spcPts val="0"/>
                        </a:spcBef>
                        <a:spcAft>
                          <a:spcPts val="0"/>
                        </a:spcAft>
                        <a:buNone/>
                      </a:pPr>
                      <a:r>
                        <a:rPr lang="en" sz="1100"/>
                        <a:t>1, 6</a:t>
                      </a:r>
                      <a:endParaRPr sz="1100"/>
                    </a:p>
                  </a:txBody>
                  <a:tcPr marT="63500" marB="63500" marR="63500" marL="63500"/>
                </a:tc>
                <a:tc>
                  <a:txBody>
                    <a:bodyPr/>
                    <a:lstStyle/>
                    <a:p>
                      <a:pPr indent="0" lvl="0" marL="0" rtl="0" algn="l">
                        <a:spcBef>
                          <a:spcPts val="0"/>
                        </a:spcBef>
                        <a:spcAft>
                          <a:spcPts val="0"/>
                        </a:spcAft>
                        <a:buNone/>
                      </a:pPr>
                      <a:r>
                        <a:rPr lang="en" sz="1100"/>
                        <a:t>Per Texas Family Code, ensure that students are referred to authorized parents 100% of the time.</a:t>
                      </a:r>
                      <a:endParaRPr sz="1100"/>
                    </a:p>
                  </a:txBody>
                  <a:tcPr marT="63500" marB="63500" marR="63500" marL="63500"/>
                </a:tc>
              </a:tr>
              <a:tr h="12700">
                <a:tc>
                  <a:txBody>
                    <a:bodyPr/>
                    <a:lstStyle/>
                    <a:p>
                      <a:pPr indent="0" lvl="0" marL="0" rtl="0" algn="l">
                        <a:spcBef>
                          <a:spcPts val="0"/>
                        </a:spcBef>
                        <a:spcAft>
                          <a:spcPts val="0"/>
                        </a:spcAft>
                        <a:buNone/>
                      </a:pPr>
                      <a:r>
                        <a:rPr lang="en" sz="1100"/>
                        <a:t>6</a:t>
                      </a:r>
                      <a:endParaRPr sz="1100"/>
                    </a:p>
                  </a:txBody>
                  <a:tcPr marT="63500" marB="63500" marR="63500" marL="63500"/>
                </a:tc>
                <a:tc>
                  <a:txBody>
                    <a:bodyPr/>
                    <a:lstStyle/>
                    <a:p>
                      <a:pPr indent="0" lvl="0" marL="0" rtl="0" algn="l">
                        <a:spcBef>
                          <a:spcPts val="0"/>
                        </a:spcBef>
                        <a:spcAft>
                          <a:spcPts val="0"/>
                        </a:spcAft>
                        <a:buNone/>
                      </a:pPr>
                      <a:r>
                        <a:rPr lang="en" sz="1100"/>
                        <a:t>Private Information stored in the database should be encrypted using 128 bit encryption.</a:t>
                      </a:r>
                      <a:endParaRPr sz="1100"/>
                    </a:p>
                  </a:txBody>
                  <a:tcPr marT="63500" marB="63500" marR="63500" marL="63500"/>
                </a:tc>
              </a:tr>
              <a:tr h="12700">
                <a:tc>
                  <a:txBody>
                    <a:bodyPr/>
                    <a:lstStyle/>
                    <a:p>
                      <a:pPr indent="0" lvl="0" marL="0" rtl="0" algn="l">
                        <a:spcBef>
                          <a:spcPts val="0"/>
                        </a:spcBef>
                        <a:spcAft>
                          <a:spcPts val="0"/>
                        </a:spcAft>
                        <a:buNone/>
                      </a:pPr>
                      <a:r>
                        <a:rPr lang="en" sz="1100"/>
                        <a:t>7</a:t>
                      </a:r>
                      <a:endParaRPr sz="1100"/>
                    </a:p>
                  </a:txBody>
                  <a:tcPr marT="63500" marB="63500" marR="63500" marL="63500"/>
                </a:tc>
                <a:tc>
                  <a:txBody>
                    <a:bodyPr/>
                    <a:lstStyle/>
                    <a:p>
                      <a:pPr indent="0" lvl="0" marL="0" rtl="0" algn="l">
                        <a:spcBef>
                          <a:spcPts val="0"/>
                        </a:spcBef>
                        <a:spcAft>
                          <a:spcPts val="0"/>
                        </a:spcAft>
                        <a:buNone/>
                      </a:pPr>
                      <a:r>
                        <a:rPr lang="en" sz="1100"/>
                        <a:t>Should have a stable connection from within 1 kilometer, stable power to all components.</a:t>
                      </a:r>
                      <a:endParaRPr sz="1100"/>
                    </a:p>
                  </a:txBody>
                  <a:tcPr marT="63500" marB="63500" marR="63500" marL="63500"/>
                </a:tc>
              </a:tr>
              <a:tr h="12700">
                <a:tc>
                  <a:txBody>
                    <a:bodyPr/>
                    <a:lstStyle/>
                    <a:p>
                      <a:pPr indent="0" lvl="0" marL="0" rtl="0" algn="l">
                        <a:spcBef>
                          <a:spcPts val="0"/>
                        </a:spcBef>
                        <a:spcAft>
                          <a:spcPts val="0"/>
                        </a:spcAft>
                        <a:buNone/>
                      </a:pPr>
                      <a:r>
                        <a:rPr lang="en" sz="1100"/>
                        <a:t>1,6,7</a:t>
                      </a:r>
                      <a:endParaRPr sz="1100"/>
                    </a:p>
                  </a:txBody>
                  <a:tcPr marT="63500" marB="63500" marR="63500" marL="63500"/>
                </a:tc>
                <a:tc>
                  <a:txBody>
                    <a:bodyPr/>
                    <a:lstStyle/>
                    <a:p>
                      <a:pPr indent="0" lvl="0" marL="0" rtl="0" algn="l">
                        <a:spcBef>
                          <a:spcPts val="0"/>
                        </a:spcBef>
                        <a:spcAft>
                          <a:spcPts val="0"/>
                        </a:spcAft>
                        <a:buNone/>
                      </a:pPr>
                      <a:r>
                        <a:rPr lang="en" sz="1100"/>
                        <a:t>Should correctly identify/assign parents to kids 100% of the time.</a:t>
                      </a:r>
                      <a:endParaRPr sz="1100"/>
                    </a:p>
                  </a:txBody>
                  <a:tcPr marT="63500" marB="63500" marR="63500" marL="63500"/>
                </a:tc>
              </a:tr>
              <a:tr h="12700">
                <a:tc>
                  <a:txBody>
                    <a:bodyPr/>
                    <a:lstStyle/>
                    <a:p>
                      <a:pPr indent="0" lvl="0" marL="0" rtl="0" algn="l">
                        <a:spcBef>
                          <a:spcPts val="0"/>
                        </a:spcBef>
                        <a:spcAft>
                          <a:spcPts val="0"/>
                        </a:spcAft>
                        <a:buNone/>
                      </a:pPr>
                      <a:r>
                        <a:rPr lang="en" sz="1100"/>
                        <a:t>3</a:t>
                      </a:r>
                      <a:endParaRPr sz="1100"/>
                    </a:p>
                  </a:txBody>
                  <a:tcPr marT="63500" marB="63500" marR="63500" marL="63500"/>
                </a:tc>
                <a:tc>
                  <a:txBody>
                    <a:bodyPr/>
                    <a:lstStyle/>
                    <a:p>
                      <a:pPr indent="0" lvl="0" marL="0" rtl="0" algn="l">
                        <a:spcBef>
                          <a:spcPts val="0"/>
                        </a:spcBef>
                        <a:spcAft>
                          <a:spcPts val="0"/>
                        </a:spcAft>
                        <a:buNone/>
                      </a:pPr>
                      <a:r>
                        <a:rPr lang="en" sz="1100"/>
                        <a:t>The costs for developing the system should not exceed $300.</a:t>
                      </a:r>
                      <a:endParaRPr sz="1100"/>
                    </a:p>
                  </a:txBody>
                  <a:tcPr marT="63500" marB="63500" marR="63500" marL="63500"/>
                </a:tc>
              </a:tr>
              <a:tr h="12700">
                <a:tc>
                  <a:txBody>
                    <a:bodyPr/>
                    <a:lstStyle/>
                    <a:p>
                      <a:pPr indent="0" lvl="0" marL="0" rtl="0" algn="l">
                        <a:spcBef>
                          <a:spcPts val="0"/>
                        </a:spcBef>
                        <a:spcAft>
                          <a:spcPts val="0"/>
                        </a:spcAft>
                        <a:buNone/>
                      </a:pPr>
                      <a:r>
                        <a:rPr lang="en" sz="1100"/>
                        <a:t>2,4,5</a:t>
                      </a:r>
                      <a:endParaRPr sz="1100"/>
                    </a:p>
                  </a:txBody>
                  <a:tcPr marT="63500" marB="63500" marR="63500" marL="63500"/>
                </a:tc>
                <a:tc>
                  <a:txBody>
                    <a:bodyPr/>
                    <a:lstStyle/>
                    <a:p>
                      <a:pPr indent="0" lvl="0" marL="0" rtl="0" algn="l">
                        <a:spcBef>
                          <a:spcPts val="0"/>
                        </a:spcBef>
                        <a:spcAft>
                          <a:spcPts val="0"/>
                        </a:spcAft>
                        <a:buNone/>
                      </a:pPr>
                      <a:r>
                        <a:rPr lang="en" sz="1100"/>
                        <a:t>The system should allow parents to submit a request to the school to update information and the school should receive the request all within 1 minute.</a:t>
                      </a:r>
                      <a:endParaRPr sz="1100"/>
                    </a:p>
                  </a:txBody>
                  <a:tcPr marT="63500" marB="63500" marR="63500" marL="6350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02" name="Shape 102"/>
        <p:cNvGrpSpPr/>
        <p:nvPr/>
      </p:nvGrpSpPr>
      <p:grpSpPr>
        <a:xfrm>
          <a:off x="0" y="0"/>
          <a:ext cx="0" cy="0"/>
          <a:chOff x="0" y="0"/>
          <a:chExt cx="0" cy="0"/>
        </a:xfrm>
      </p:grpSpPr>
      <p:sp>
        <p:nvSpPr>
          <p:cNvPr id="103" name="Google Shape;103;p19"/>
          <p:cNvSpPr/>
          <p:nvPr/>
        </p:nvSpPr>
        <p:spPr>
          <a:xfrm>
            <a:off x="209850" y="1096825"/>
            <a:ext cx="8724300" cy="37146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sp>
        <p:nvSpPr>
          <p:cNvPr id="105" name="Google Shape;105;p19"/>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106" name="Google Shape;106;p19"/>
          <p:cNvGraphicFramePr/>
          <p:nvPr/>
        </p:nvGraphicFramePr>
        <p:xfrm>
          <a:off x="311700" y="1096825"/>
          <a:ext cx="3000000" cy="3000000"/>
        </p:xfrm>
        <a:graphic>
          <a:graphicData uri="http://schemas.openxmlformats.org/drawingml/2006/table">
            <a:tbl>
              <a:tblPr>
                <a:noFill/>
                <a:tableStyleId>{70AADB37-6560-4D0E-86F4-E0B69033094E}</a:tableStyleId>
              </a:tblPr>
              <a:tblGrid>
                <a:gridCol w="2738325"/>
                <a:gridCol w="5826675"/>
              </a:tblGrid>
              <a:tr h="12700">
                <a:tc>
                  <a:txBody>
                    <a:bodyPr/>
                    <a:lstStyle/>
                    <a:p>
                      <a:pPr indent="0" lvl="0" marL="0" rtl="0" algn="l">
                        <a:spcBef>
                          <a:spcPts val="0"/>
                        </a:spcBef>
                        <a:spcAft>
                          <a:spcPts val="0"/>
                        </a:spcAft>
                        <a:buNone/>
                      </a:pPr>
                      <a:r>
                        <a:rPr lang="en" sz="1100"/>
                        <a:t>Marketing Requirements</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Engineering Requirements</a:t>
                      </a:r>
                      <a:endParaRPr sz="1100"/>
                    </a:p>
                  </a:txBody>
                  <a:tcPr marT="63500" marB="63500" marR="63500" marL="63500">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system should have a modular design such that failed components</a:t>
                      </a:r>
                      <a:endParaRPr sz="1100"/>
                    </a:p>
                    <a:p>
                      <a:pPr indent="0" lvl="0" marL="0" rtl="0" algn="l">
                        <a:spcBef>
                          <a:spcPts val="0"/>
                        </a:spcBef>
                        <a:spcAft>
                          <a:spcPts val="0"/>
                        </a:spcAft>
                        <a:buNone/>
                      </a:pPr>
                      <a:r>
                        <a:rPr lang="en" sz="1100"/>
                        <a:t>can be replaced by a technician in under 15 minutes.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4,7</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system should be mounted correctly on a tripod to ensure stability and prevent hazards. Sandbag/Weights of at least 1 pound to keep it grounded.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7</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software will comply with the Digital Millennium Copyright Act.</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2,4,5,6</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Staff should be able to access databases with provided credentials and view all parent to children links.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4,7</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system should be able to withstand 20mph wind.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1</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Minimum 40inch (diagonal) display screen to give station and process instructions clearly inside in the pickup .</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a:t>
                      </a:r>
                      <a:endParaRPr sz="1100"/>
                    </a:p>
                  </a:txBody>
                  <a:tcPr marT="63500" marB="63500" marR="63500" marL="63500">
                    <a:lnT cap="flat" cmpd="sng" w="127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 sz="1100"/>
                        <a:t>The system should have a modular design such that failed components</a:t>
                      </a:r>
                      <a:endParaRPr sz="1100"/>
                    </a:p>
                    <a:p>
                      <a:pPr indent="0" lvl="0" marL="0" rtl="0" algn="l">
                        <a:spcBef>
                          <a:spcPts val="0"/>
                        </a:spcBef>
                        <a:spcAft>
                          <a:spcPts val="0"/>
                        </a:spcAft>
                        <a:buNone/>
                      </a:pPr>
                      <a:r>
                        <a:rPr lang="en" sz="1100"/>
                        <a:t>can be replaced by a technician in under 15 minutes.</a:t>
                      </a:r>
                      <a:endParaRPr sz="1100"/>
                    </a:p>
                  </a:txBody>
                  <a:tcPr marT="63500" marB="63500" marR="63500" marL="63500">
                    <a:lnT cap="flat" cmpd="sng" w="12700">
                      <a:solidFill>
                        <a:srgbClr val="000000"/>
                      </a:solidFill>
                      <a:prstDash val="solid"/>
                      <a:round/>
                      <a:headEnd len="sm" w="sm" type="none"/>
                      <a:tailEnd len="sm" w="sm" type="none"/>
                    </a:lnT>
                  </a:tcPr>
                </a:tc>
              </a:tr>
              <a:tr h="12700">
                <a:tc>
                  <a:txBody>
                    <a:bodyPr/>
                    <a:lstStyle/>
                    <a:p>
                      <a:pPr indent="0" lvl="0" marL="0" rtl="0" algn="l">
                        <a:spcBef>
                          <a:spcPts val="0"/>
                        </a:spcBef>
                        <a:spcAft>
                          <a:spcPts val="0"/>
                        </a:spcAft>
                        <a:buNone/>
                      </a:pPr>
                      <a:r>
                        <a:rPr lang="en" sz="1100"/>
                        <a:t>4,7</a:t>
                      </a:r>
                      <a:endParaRPr sz="1100"/>
                    </a:p>
                  </a:txBody>
                  <a:tcPr marT="63500" marB="63500" marR="63500" marL="63500"/>
                </a:tc>
                <a:tc>
                  <a:txBody>
                    <a:bodyPr/>
                    <a:lstStyle/>
                    <a:p>
                      <a:pPr indent="0" lvl="0" marL="0" rtl="0" algn="l">
                        <a:spcBef>
                          <a:spcPts val="0"/>
                        </a:spcBef>
                        <a:spcAft>
                          <a:spcPts val="0"/>
                        </a:spcAft>
                        <a:buNone/>
                      </a:pPr>
                      <a:r>
                        <a:rPr lang="en" sz="1100"/>
                        <a:t>The system should be mounted correctly on a tripod to ensure stability and prevent hazards. Sandbag/Weights of at least 1 pound to keep it grounded.</a:t>
                      </a:r>
                      <a:endParaRPr sz="1100"/>
                    </a:p>
                  </a:txBody>
                  <a:tcPr marT="63500" marB="63500" marR="63500" marL="6350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10" name="Shape 110"/>
        <p:cNvGrpSpPr/>
        <p:nvPr/>
      </p:nvGrpSpPr>
      <p:grpSpPr>
        <a:xfrm>
          <a:off x="0" y="0"/>
          <a:ext cx="0" cy="0"/>
          <a:chOff x="0" y="0"/>
          <a:chExt cx="0" cy="0"/>
        </a:xfrm>
      </p:grpSpPr>
      <p:sp>
        <p:nvSpPr>
          <p:cNvPr id="111" name="Google Shape;111;p20"/>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Literature Review - </a:t>
            </a:r>
            <a:endParaRPr b="1" sz="2620">
              <a:solidFill>
                <a:schemeClr val="lt1"/>
              </a:solidFill>
              <a:highlight>
                <a:schemeClr val="accent6"/>
              </a:highlight>
              <a:latin typeface="Atkinson Hyperlegible"/>
              <a:ea typeface="Atkinson Hyperlegible"/>
              <a:cs typeface="Atkinson Hyperlegible"/>
              <a:sym typeface="Atkinson Hyperlegible"/>
            </a:endParaRPr>
          </a:p>
        </p:txBody>
      </p:sp>
      <p:sp>
        <p:nvSpPr>
          <p:cNvPr id="113" name="Google Shape;11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b="1" lang="en" sz="6134">
                <a:solidFill>
                  <a:schemeClr val="dk1"/>
                </a:solidFill>
              </a:rPr>
              <a:t>Overview</a:t>
            </a:r>
            <a:endParaRPr b="1" sz="6134">
              <a:solidFill>
                <a:schemeClr val="dk1"/>
              </a:solidFill>
            </a:endParaRPr>
          </a:p>
          <a:p>
            <a:pPr indent="-313271" lvl="0" marL="457200" rtl="0" algn="l">
              <a:spcBef>
                <a:spcPts val="1200"/>
              </a:spcBef>
              <a:spcAft>
                <a:spcPts val="0"/>
              </a:spcAft>
              <a:buClr>
                <a:schemeClr val="dk1"/>
              </a:buClr>
              <a:buSzPct val="100000"/>
              <a:buChar char="●"/>
            </a:pPr>
            <a:r>
              <a:rPr lang="en" sz="5334">
                <a:solidFill>
                  <a:schemeClr val="dk1"/>
                </a:solidFill>
              </a:rPr>
              <a:t>Schools use technology to reduce pickup congestion, improve safety, and streamline communication</a:t>
            </a:r>
            <a:endParaRPr sz="5334">
              <a:solidFill>
                <a:schemeClr val="dk1"/>
              </a:solidFill>
            </a:endParaRPr>
          </a:p>
          <a:p>
            <a:pPr indent="-313271" lvl="0" marL="457200" rtl="0" algn="l">
              <a:spcBef>
                <a:spcPts val="0"/>
              </a:spcBef>
              <a:spcAft>
                <a:spcPts val="0"/>
              </a:spcAft>
              <a:buClr>
                <a:schemeClr val="dk1"/>
              </a:buClr>
              <a:buSzPct val="100000"/>
              <a:buChar char="●"/>
            </a:pPr>
            <a:r>
              <a:rPr lang="en" sz="5334">
                <a:solidFill>
                  <a:schemeClr val="dk1"/>
                </a:solidFill>
              </a:rPr>
              <a:t>These systems inform our design, though none use our proposed method</a:t>
            </a:r>
            <a:endParaRPr sz="5334">
              <a:solidFill>
                <a:schemeClr val="dk1"/>
              </a:solidFill>
            </a:endParaRPr>
          </a:p>
          <a:p>
            <a:pPr indent="0" lvl="0" marL="0" rtl="0" algn="l">
              <a:spcBef>
                <a:spcPts val="1200"/>
              </a:spcBef>
              <a:spcAft>
                <a:spcPts val="0"/>
              </a:spcAft>
              <a:buNone/>
            </a:pPr>
            <a:r>
              <a:rPr b="1" lang="en" sz="6134">
                <a:solidFill>
                  <a:schemeClr val="dk1"/>
                </a:solidFill>
              </a:rPr>
              <a:t>Existing Systems</a:t>
            </a:r>
            <a:endParaRPr b="1" sz="6134">
              <a:solidFill>
                <a:schemeClr val="dk1"/>
              </a:solidFill>
            </a:endParaRPr>
          </a:p>
          <a:p>
            <a:pPr indent="-313271" lvl="0" marL="457200" rtl="0" algn="l">
              <a:spcBef>
                <a:spcPts val="1200"/>
              </a:spcBef>
              <a:spcAft>
                <a:spcPts val="0"/>
              </a:spcAft>
              <a:buClr>
                <a:schemeClr val="dk1"/>
              </a:buClr>
              <a:buSzPct val="100000"/>
              <a:buChar char="●"/>
            </a:pPr>
            <a:r>
              <a:rPr b="1" lang="en" sz="5334">
                <a:solidFill>
                  <a:schemeClr val="dk1"/>
                </a:solidFill>
              </a:rPr>
              <a:t>PikMyKid</a:t>
            </a:r>
            <a:r>
              <a:rPr lang="en" sz="5334">
                <a:solidFill>
                  <a:schemeClr val="dk1"/>
                </a:solidFill>
              </a:rPr>
              <a:t> – App-based digital car line; parents announce arrival, staff release students via dashboard</a:t>
            </a:r>
            <a:endParaRPr sz="5334">
              <a:solidFill>
                <a:schemeClr val="dk1"/>
              </a:solidFill>
            </a:endParaRPr>
          </a:p>
          <a:p>
            <a:pPr indent="-313271" lvl="0" marL="457200" rtl="0" algn="l">
              <a:spcBef>
                <a:spcPts val="0"/>
              </a:spcBef>
              <a:spcAft>
                <a:spcPts val="0"/>
              </a:spcAft>
              <a:buClr>
                <a:schemeClr val="dk1"/>
              </a:buClr>
              <a:buSzPct val="100000"/>
              <a:buChar char="●"/>
            </a:pPr>
            <a:r>
              <a:rPr b="1" lang="en" sz="5334">
                <a:solidFill>
                  <a:schemeClr val="dk1"/>
                </a:solidFill>
              </a:rPr>
              <a:t>Beeline</a:t>
            </a:r>
            <a:r>
              <a:rPr lang="en" sz="5334">
                <a:solidFill>
                  <a:schemeClr val="dk1"/>
                </a:solidFill>
              </a:rPr>
              <a:t> – Uses geofencing to detect vehicles and alert staff automatically</a:t>
            </a:r>
            <a:endParaRPr sz="5334">
              <a:solidFill>
                <a:schemeClr val="dk1"/>
              </a:solidFill>
            </a:endParaRPr>
          </a:p>
          <a:p>
            <a:pPr indent="-313271" lvl="0" marL="457200" rtl="0" algn="l">
              <a:spcBef>
                <a:spcPts val="0"/>
              </a:spcBef>
              <a:spcAft>
                <a:spcPts val="0"/>
              </a:spcAft>
              <a:buClr>
                <a:schemeClr val="dk1"/>
              </a:buClr>
              <a:buSzPct val="100000"/>
              <a:buChar char="●"/>
            </a:pPr>
            <a:r>
              <a:rPr b="1" lang="en" sz="5334">
                <a:solidFill>
                  <a:schemeClr val="dk1"/>
                </a:solidFill>
              </a:rPr>
              <a:t>Car-Pool App</a:t>
            </a:r>
            <a:r>
              <a:rPr lang="en" sz="5334">
                <a:solidFill>
                  <a:schemeClr val="dk1"/>
                </a:solidFill>
              </a:rPr>
              <a:t> – Geofencing and ETA alerts to stage students before arrival</a:t>
            </a:r>
            <a:endParaRPr sz="5334">
              <a:solidFill>
                <a:schemeClr val="dk1"/>
              </a:solidFill>
            </a:endParaRPr>
          </a:p>
          <a:p>
            <a:pPr indent="-313271" lvl="0" marL="457200" rtl="0" algn="l">
              <a:spcBef>
                <a:spcPts val="0"/>
              </a:spcBef>
              <a:spcAft>
                <a:spcPts val="0"/>
              </a:spcAft>
              <a:buClr>
                <a:schemeClr val="dk1"/>
              </a:buClr>
              <a:buSzPct val="100000"/>
              <a:buChar char="●"/>
            </a:pPr>
            <a:r>
              <a:rPr b="1" lang="en" sz="5334">
                <a:solidFill>
                  <a:schemeClr val="dk1"/>
                </a:solidFill>
              </a:rPr>
              <a:t>iSchoolRide</a:t>
            </a:r>
            <a:r>
              <a:rPr lang="en" sz="5334">
                <a:solidFill>
                  <a:schemeClr val="dk1"/>
                </a:solidFill>
              </a:rPr>
              <a:t> – GPS-based parent check-in for just-in-time student release</a:t>
            </a:r>
            <a:endParaRPr sz="5334">
              <a:solidFill>
                <a:schemeClr val="dk1"/>
              </a:solidFill>
            </a:endParaRPr>
          </a:p>
          <a:p>
            <a:pPr indent="-313271" lvl="0" marL="457200" rtl="0" algn="l">
              <a:spcBef>
                <a:spcPts val="0"/>
              </a:spcBef>
              <a:spcAft>
                <a:spcPts val="0"/>
              </a:spcAft>
              <a:buClr>
                <a:schemeClr val="dk1"/>
              </a:buClr>
              <a:buSzPct val="100000"/>
              <a:buChar char="●"/>
            </a:pPr>
            <a:r>
              <a:rPr b="1" lang="en" sz="5334">
                <a:solidFill>
                  <a:schemeClr val="dk1"/>
                </a:solidFill>
              </a:rPr>
              <a:t>Kids Pick Up App</a:t>
            </a:r>
            <a:r>
              <a:rPr lang="en" sz="5334">
                <a:solidFill>
                  <a:schemeClr val="dk1"/>
                </a:solidFill>
              </a:rPr>
              <a:t> – QR code scanning to verify authorized pickups</a:t>
            </a:r>
            <a:endParaRPr sz="5334">
              <a:solidFill>
                <a:schemeClr val="dk1"/>
              </a:solidFill>
            </a:endParaRPr>
          </a:p>
          <a:p>
            <a:pPr indent="0" lvl="0" marL="0" rtl="0" algn="l">
              <a:spcBef>
                <a:spcPts val="1200"/>
              </a:spcBef>
              <a:spcAft>
                <a:spcPts val="0"/>
              </a:spcAft>
              <a:buNone/>
            </a:pPr>
            <a:r>
              <a:rPr b="1" lang="en" sz="6134">
                <a:solidFill>
                  <a:schemeClr val="dk1"/>
                </a:solidFill>
              </a:rPr>
              <a:t>Key Takeaway</a:t>
            </a:r>
            <a:endParaRPr b="1" sz="6134">
              <a:solidFill>
                <a:schemeClr val="dk1"/>
              </a:solidFill>
            </a:endParaRPr>
          </a:p>
          <a:p>
            <a:pPr indent="-313271" lvl="0" marL="457200" rtl="0" algn="l">
              <a:spcBef>
                <a:spcPts val="1200"/>
              </a:spcBef>
              <a:spcAft>
                <a:spcPts val="0"/>
              </a:spcAft>
              <a:buClr>
                <a:schemeClr val="dk1"/>
              </a:buClr>
              <a:buSzPct val="100000"/>
              <a:buChar char="●"/>
            </a:pPr>
            <a:r>
              <a:rPr lang="en" sz="5334">
                <a:solidFill>
                  <a:schemeClr val="dk1"/>
                </a:solidFill>
              </a:rPr>
              <a:t>Current solutions reduce manual effort and congestion</a:t>
            </a:r>
            <a:endParaRPr sz="5334">
              <a:solidFill>
                <a:schemeClr val="dk1"/>
              </a:solidFill>
            </a:endParaRPr>
          </a:p>
          <a:p>
            <a:pPr indent="-313271" lvl="0" marL="457200" rtl="0" algn="l">
              <a:spcBef>
                <a:spcPts val="0"/>
              </a:spcBef>
              <a:spcAft>
                <a:spcPts val="0"/>
              </a:spcAft>
              <a:buClr>
                <a:schemeClr val="dk1"/>
              </a:buClr>
              <a:buSzPct val="100000"/>
              <a:buChar char="●"/>
            </a:pPr>
            <a:r>
              <a:rPr lang="en" sz="5334">
                <a:solidFill>
                  <a:schemeClr val="dk1"/>
                </a:solidFill>
              </a:rPr>
              <a:t>Most still rely on parent apps, GPS, or staff scanning and verification</a:t>
            </a:r>
            <a:endParaRPr sz="5334">
              <a:solidFill>
                <a:schemeClr val="dk1"/>
              </a:solidFill>
            </a:endParaRPr>
          </a:p>
          <a:p>
            <a:pPr indent="0" lvl="0" marL="457200" rtl="0" algn="l">
              <a:spcBef>
                <a:spcPts val="1200"/>
              </a:spcBef>
              <a:spcAft>
                <a:spcPts val="1200"/>
              </a:spcAft>
              <a:buNone/>
            </a:pPr>
            <a:r>
              <a:t/>
            </a:r>
            <a:endParaRPr>
              <a:solidFill>
                <a:schemeClr val="dk1"/>
              </a:solidFill>
            </a:endParaRPr>
          </a:p>
        </p:txBody>
      </p:sp>
      <p:sp>
        <p:nvSpPr>
          <p:cNvPr id="114" name="Google Shape;114;p20"/>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18" name="Shape 118"/>
        <p:cNvGrpSpPr/>
        <p:nvPr/>
      </p:nvGrpSpPr>
      <p:grpSpPr>
        <a:xfrm>
          <a:off x="0" y="0"/>
          <a:ext cx="0" cy="0"/>
          <a:chOff x="0" y="0"/>
          <a:chExt cx="0" cy="0"/>
        </a:xfrm>
      </p:grpSpPr>
      <p:sp>
        <p:nvSpPr>
          <p:cNvPr id="119" name="Google Shape;119;p21"/>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Design Constraints and Feasibility</a:t>
            </a:r>
            <a:endParaRPr b="1" sz="2620">
              <a:solidFill>
                <a:schemeClr val="lt1"/>
              </a:solidFill>
              <a:highlight>
                <a:schemeClr val="accent6"/>
              </a:highlight>
              <a:latin typeface="Atkinson Hyperlegible"/>
              <a:ea typeface="Atkinson Hyperlegible"/>
              <a:cs typeface="Atkinson Hyperlegible"/>
              <a:sym typeface="Atkinson Hyperlegible"/>
            </a:endParaRPr>
          </a:p>
        </p:txBody>
      </p:sp>
      <p:sp>
        <p:nvSpPr>
          <p:cNvPr id="121" name="Google Shape;12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b="1" lang="en" sz="1600">
                <a:solidFill>
                  <a:schemeClr val="dk1"/>
                </a:solidFill>
              </a:rPr>
              <a:t>Technical</a:t>
            </a:r>
            <a:r>
              <a:rPr b="1" lang="en" sz="1600">
                <a:solidFill>
                  <a:schemeClr val="dk1"/>
                </a:solidFill>
              </a:rPr>
              <a:t> and Temporal Constraints</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Maximum of 5 seconds from image capture to display update</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Identification accuracy must be 100% to ensure safety and efficiency</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Connection between the system parts must be reliable</a:t>
            </a:r>
            <a:endParaRPr sz="1600">
              <a:solidFill>
                <a:schemeClr val="dk1"/>
              </a:solidFill>
            </a:endParaRPr>
          </a:p>
          <a:p>
            <a:pPr indent="0" lvl="0" marL="0" rtl="0" algn="l">
              <a:lnSpc>
                <a:spcPct val="100000"/>
              </a:lnSpc>
              <a:spcBef>
                <a:spcPts val="1200"/>
              </a:spcBef>
              <a:spcAft>
                <a:spcPts val="0"/>
              </a:spcAft>
              <a:buNone/>
            </a:pPr>
            <a:r>
              <a:rPr b="1" lang="en" sz="1600">
                <a:solidFill>
                  <a:schemeClr val="dk1"/>
                </a:solidFill>
              </a:rPr>
              <a:t>Physical and Environmental</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Needs to withstand outdoor elements (wind and rain)</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Needs to be portable and stable with modular parts, mounting, and power supply to reduce system downtime and speed up repair and maintenance</a:t>
            </a:r>
            <a:endParaRPr sz="1600">
              <a:solidFill>
                <a:schemeClr val="dk1"/>
              </a:solidFill>
            </a:endParaRPr>
          </a:p>
          <a:p>
            <a:pPr indent="0" lvl="0" marL="0" rtl="0" algn="l">
              <a:lnSpc>
                <a:spcPct val="100000"/>
              </a:lnSpc>
              <a:spcBef>
                <a:spcPts val="1200"/>
              </a:spcBef>
              <a:spcAft>
                <a:spcPts val="0"/>
              </a:spcAft>
              <a:buNone/>
            </a:pPr>
            <a:r>
              <a:rPr b="1" lang="en" sz="1600">
                <a:solidFill>
                  <a:schemeClr val="dk1"/>
                </a:solidFill>
              </a:rPr>
              <a:t>Economic</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Must cost $250 or less, necessitating cost-effective components</a:t>
            </a:r>
            <a:endParaRPr sz="1600">
              <a:solidFill>
                <a:schemeClr val="dk1"/>
              </a:solidFill>
            </a:endParaRPr>
          </a:p>
          <a:p>
            <a:pPr indent="0" lvl="0" marL="0" rtl="0" algn="l">
              <a:spcBef>
                <a:spcPts val="1200"/>
              </a:spcBef>
              <a:spcAft>
                <a:spcPts val="0"/>
              </a:spcAft>
              <a:buNone/>
            </a:pPr>
            <a:r>
              <a:rPr b="1" lang="en" sz="1600">
                <a:solidFill>
                  <a:schemeClr val="dk1"/>
                </a:solidFill>
              </a:rPr>
              <a:t>Feasibility</a:t>
            </a:r>
            <a:endParaRPr b="1" sz="1600">
              <a:solidFill>
                <a:schemeClr val="dk1"/>
              </a:solidFill>
            </a:endParaRPr>
          </a:p>
          <a:p>
            <a:pPr indent="-307340" lvl="0" marL="457200" rtl="0" algn="l">
              <a:spcBef>
                <a:spcPts val="1200"/>
              </a:spcBef>
              <a:spcAft>
                <a:spcPts val="0"/>
              </a:spcAft>
              <a:buClr>
                <a:schemeClr val="dk1"/>
              </a:buClr>
              <a:buSzPct val="100000"/>
              <a:buChar char="●"/>
            </a:pPr>
            <a:r>
              <a:rPr lang="en" sz="1600">
                <a:solidFill>
                  <a:schemeClr val="dk1"/>
                </a:solidFill>
              </a:rPr>
              <a:t>Core technology, such as Python image processing and Wi-Fi, is well documented and </a:t>
            </a:r>
            <a:r>
              <a:rPr lang="en" sz="1600">
                <a:solidFill>
                  <a:schemeClr val="dk1"/>
                </a:solidFill>
              </a:rPr>
              <a:t>achievable</a:t>
            </a:r>
            <a:endParaRPr sz="1600">
              <a:solidFill>
                <a:schemeClr val="dk1"/>
              </a:solidFill>
            </a:endParaRPr>
          </a:p>
          <a:p>
            <a:pPr indent="-307340" lvl="0" marL="457200" rtl="0" algn="l">
              <a:spcBef>
                <a:spcPts val="0"/>
              </a:spcBef>
              <a:spcAft>
                <a:spcPts val="0"/>
              </a:spcAft>
              <a:buClr>
                <a:schemeClr val="dk1"/>
              </a:buClr>
              <a:buSzPct val="100000"/>
              <a:buChar char="●"/>
            </a:pPr>
            <a:r>
              <a:rPr lang="en" sz="1600">
                <a:solidFill>
                  <a:schemeClr val="dk1"/>
                </a:solidFill>
              </a:rPr>
              <a:t>Main challenge will be creating a fast and efficient system within our budget</a:t>
            </a:r>
            <a:endParaRPr sz="1600">
              <a:solidFill>
                <a:schemeClr val="dk1"/>
              </a:solidFill>
            </a:endParaRPr>
          </a:p>
        </p:txBody>
      </p:sp>
      <p:sp>
        <p:nvSpPr>
          <p:cNvPr id="122" name="Google Shape;122;p21"/>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26" name="Shape 126"/>
        <p:cNvGrpSpPr/>
        <p:nvPr/>
      </p:nvGrpSpPr>
      <p:grpSpPr>
        <a:xfrm>
          <a:off x="0" y="0"/>
          <a:ext cx="0" cy="0"/>
          <a:chOff x="0" y="0"/>
          <a:chExt cx="0" cy="0"/>
        </a:xfrm>
      </p:grpSpPr>
      <p:sp>
        <p:nvSpPr>
          <p:cNvPr id="127" name="Google Shape;127;p22"/>
          <p:cNvSpPr/>
          <p:nvPr/>
        </p:nvSpPr>
        <p:spPr>
          <a:xfrm>
            <a:off x="209850" y="1017725"/>
            <a:ext cx="8724300" cy="3744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Evaluation of alternative solutions</a:t>
            </a:r>
            <a:endParaRPr b="1" sz="2620">
              <a:solidFill>
                <a:schemeClr val="lt1"/>
              </a:solidFill>
              <a:latin typeface="Atkinson Hyperlegible"/>
              <a:ea typeface="Atkinson Hyperlegible"/>
              <a:cs typeface="Atkinson Hyperlegible"/>
              <a:sym typeface="Atkinson Hyperlegible"/>
            </a:endParaRPr>
          </a:p>
        </p:txBody>
      </p:sp>
      <p:sp>
        <p:nvSpPr>
          <p:cNvPr id="129" name="Google Shape;129;p22"/>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130" name="Google Shape;130;p22"/>
          <p:cNvGraphicFramePr/>
          <p:nvPr/>
        </p:nvGraphicFramePr>
        <p:xfrm>
          <a:off x="861375" y="1165475"/>
          <a:ext cx="3000000" cy="3000000"/>
        </p:xfrm>
        <a:graphic>
          <a:graphicData uri="http://schemas.openxmlformats.org/drawingml/2006/table">
            <a:tbl>
              <a:tblPr>
                <a:noFill/>
                <a:tableStyleId>{ABC9B4EA-1BC6-4B85-9D08-08C158A58346}</a:tableStyleId>
              </a:tblPr>
              <a:tblGrid>
                <a:gridCol w="1960575"/>
                <a:gridCol w="2677300"/>
                <a:gridCol w="3061350"/>
              </a:tblGrid>
              <a:tr h="381000">
                <a:tc>
                  <a:txBody>
                    <a:bodyPr/>
                    <a:lstStyle/>
                    <a:p>
                      <a:pPr indent="0" lvl="0" marL="0" rtl="0" algn="ctr">
                        <a:lnSpc>
                          <a:spcPct val="115000"/>
                        </a:lnSpc>
                        <a:spcBef>
                          <a:spcPts val="0"/>
                        </a:spcBef>
                        <a:spcAft>
                          <a:spcPts val="0"/>
                        </a:spcAft>
                        <a:buNone/>
                      </a:pPr>
                      <a:r>
                        <a:rPr b="1" lang="en" sz="1200"/>
                        <a:t>Solution</a:t>
                      </a:r>
                      <a:endParaRPr b="1" sz="12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b="1" lang="en" sz="1200"/>
                        <a:t>Pros</a:t>
                      </a:r>
                      <a:endParaRPr b="1" sz="12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b="1" lang="en" sz="1200"/>
                        <a:t>Cons</a:t>
                      </a:r>
                      <a:endParaRPr b="1" sz="1200"/>
                    </a:p>
                  </a:txBody>
                  <a:tcPr marT="91425" marB="91425" marR="91425" marL="91425">
                    <a:solidFill>
                      <a:srgbClr val="F4CCCC"/>
                    </a:solidFill>
                  </a:tcPr>
                </a:tc>
              </a:tr>
              <a:tr h="381000">
                <a:tc>
                  <a:txBody>
                    <a:bodyPr/>
                    <a:lstStyle/>
                    <a:p>
                      <a:pPr indent="0" lvl="0" marL="0" rtl="0" algn="l">
                        <a:lnSpc>
                          <a:spcPct val="115000"/>
                        </a:lnSpc>
                        <a:spcBef>
                          <a:spcPts val="0"/>
                        </a:spcBef>
                        <a:spcAft>
                          <a:spcPts val="0"/>
                        </a:spcAft>
                        <a:buNone/>
                      </a:pPr>
                      <a:r>
                        <a:rPr b="1" lang="en" sz="1200"/>
                        <a:t>Manual Pickup App (</a:t>
                      </a:r>
                      <a:r>
                        <a:rPr b="1" lang="en" sz="1200"/>
                        <a:t>PikMyKid</a:t>
                      </a:r>
                      <a:r>
                        <a:rPr b="1" lang="en" sz="1200"/>
                        <a:t>)</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Easy to implement; low cost; reduces paperwork</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staff queue management; no automated vehicle identification</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Integrated Dismissal System (Beeline)</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Improves communication; integrates with school systems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training and infrastructure; still staff-monitored</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Geofencing (Car-Pool App)</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Real-time arrival alerts; reduced manual check-ins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Dependent on GPS accuracy, mobile devices, and connectivity</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GPS Check-In (IschoolRide)</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Keeps students inside until arrival; reduces idle staging</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Relies on parent app usage and accurate GPS; staff verification will still be needed</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QR Codes (Kids Pick Up App)</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Simple, affordable; no cellular service required</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staff scanning; affected by glare, weather, and visibility</a:t>
                      </a:r>
                      <a:endParaRPr sz="1200"/>
                    </a:p>
                  </a:txBody>
                  <a:tcPr marT="91425" marB="91425" marR="91425" marL="91425"/>
                </a:tc>
              </a:tr>
            </a:tbl>
          </a:graphicData>
        </a:graphic>
      </p:graphicFrame>
      <p:sp>
        <p:nvSpPr>
          <p:cNvPr id="131" name="Google Shape;131;p22"/>
          <p:cNvSpPr txBox="1"/>
          <p:nvPr/>
        </p:nvSpPr>
        <p:spPr>
          <a:xfrm>
            <a:off x="1023688" y="4426600"/>
            <a:ext cx="7374600" cy="49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100">
                <a:solidFill>
                  <a:schemeClr val="dk1"/>
                </a:solidFill>
              </a:rPr>
              <a:t>All alternatives improve organization but still rely on staff actions or parent interaction, limiting full automation.</a:t>
            </a:r>
            <a:endParaRPr i="1"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35" name="Shape 135"/>
        <p:cNvGrpSpPr/>
        <p:nvPr/>
      </p:nvGrpSpPr>
      <p:grpSpPr>
        <a:xfrm>
          <a:off x="0" y="0"/>
          <a:ext cx="0" cy="0"/>
          <a:chOff x="0" y="0"/>
          <a:chExt cx="0" cy="0"/>
        </a:xfrm>
      </p:grpSpPr>
      <p:sp>
        <p:nvSpPr>
          <p:cNvPr id="136" name="Google Shape;136;p23"/>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Proposed design - High-Level Block Diagram</a:t>
            </a:r>
            <a:endParaRPr b="1" sz="2620">
              <a:solidFill>
                <a:schemeClr val="lt1"/>
              </a:solidFill>
              <a:latin typeface="Atkinson Hyperlegible"/>
              <a:ea typeface="Atkinson Hyperlegible"/>
              <a:cs typeface="Atkinson Hyperlegible"/>
              <a:sym typeface="Atkinson Hyperlegible"/>
            </a:endParaRPr>
          </a:p>
        </p:txBody>
      </p:sp>
      <p:sp>
        <p:nvSpPr>
          <p:cNvPr id="138" name="Google Shape;138;p23"/>
          <p:cNvSpPr txBox="1"/>
          <p:nvPr>
            <p:ph idx="1" type="body"/>
          </p:nvPr>
        </p:nvSpPr>
        <p:spPr>
          <a:xfrm>
            <a:off x="311700" y="1152475"/>
            <a:ext cx="4387500" cy="377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chemeClr val="dk1"/>
              </a:buClr>
              <a:buSzPct val="100000"/>
              <a:buChar char="●"/>
            </a:pPr>
            <a:r>
              <a:rPr lang="en">
                <a:solidFill>
                  <a:schemeClr val="dk1"/>
                </a:solidFill>
              </a:rPr>
              <a:t>Need 4 main modules</a:t>
            </a:r>
            <a:endParaRPr>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Car Entrance Module</a:t>
            </a:r>
            <a:endParaRPr>
              <a:solidFill>
                <a:schemeClr val="dk1"/>
              </a:solidFill>
            </a:endParaRPr>
          </a:p>
          <a:p>
            <a:pPr indent="-304165" lvl="2" marL="1371600" rtl="0" algn="l">
              <a:spcBef>
                <a:spcPts val="0"/>
              </a:spcBef>
              <a:spcAft>
                <a:spcPts val="0"/>
              </a:spcAft>
              <a:buClr>
                <a:schemeClr val="dk1"/>
              </a:buClr>
              <a:buSzPct val="100000"/>
              <a:buChar char="■"/>
            </a:pPr>
            <a:r>
              <a:rPr lang="en">
                <a:solidFill>
                  <a:schemeClr val="dk1"/>
                </a:solidFill>
              </a:rPr>
              <a:t>Located at entrance of line</a:t>
            </a:r>
            <a:endParaRPr>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Zone Pickup Module</a:t>
            </a:r>
            <a:endParaRPr>
              <a:solidFill>
                <a:schemeClr val="dk1"/>
              </a:solidFill>
            </a:endParaRPr>
          </a:p>
          <a:p>
            <a:pPr indent="-304165" lvl="2" marL="1371600" rtl="0" algn="l">
              <a:spcBef>
                <a:spcPts val="0"/>
              </a:spcBef>
              <a:spcAft>
                <a:spcPts val="0"/>
              </a:spcAft>
              <a:buClr>
                <a:schemeClr val="dk1"/>
              </a:buClr>
              <a:buSzPct val="100000"/>
              <a:buChar char="■"/>
            </a:pPr>
            <a:r>
              <a:rPr lang="en">
                <a:solidFill>
                  <a:schemeClr val="dk1"/>
                </a:solidFill>
              </a:rPr>
              <a:t>Located at pickup zones</a:t>
            </a:r>
            <a:endParaRPr>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Main Server Module</a:t>
            </a:r>
            <a:endParaRPr>
              <a:solidFill>
                <a:schemeClr val="dk1"/>
              </a:solidFill>
            </a:endParaRPr>
          </a:p>
          <a:p>
            <a:pPr indent="-304165" lvl="2" marL="1371600" rtl="0" algn="l">
              <a:spcBef>
                <a:spcPts val="0"/>
              </a:spcBef>
              <a:spcAft>
                <a:spcPts val="0"/>
              </a:spcAft>
              <a:buClr>
                <a:schemeClr val="dk1"/>
              </a:buClr>
              <a:buSzPct val="100000"/>
              <a:buChar char="■"/>
            </a:pPr>
            <a:r>
              <a:rPr lang="en">
                <a:solidFill>
                  <a:schemeClr val="dk1"/>
                </a:solidFill>
              </a:rPr>
              <a:t>Located inside school’s office</a:t>
            </a:r>
            <a:endParaRPr>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Kids Waiting Module</a:t>
            </a:r>
            <a:endParaRPr>
              <a:solidFill>
                <a:schemeClr val="dk1"/>
              </a:solidFill>
            </a:endParaRPr>
          </a:p>
          <a:p>
            <a:pPr indent="-304165" lvl="2" marL="1371600" rtl="0" algn="l">
              <a:spcBef>
                <a:spcPts val="0"/>
              </a:spcBef>
              <a:spcAft>
                <a:spcPts val="0"/>
              </a:spcAft>
              <a:buClr>
                <a:schemeClr val="dk1"/>
              </a:buClr>
              <a:buSzPct val="100000"/>
              <a:buChar char="■"/>
            </a:pPr>
            <a:r>
              <a:rPr lang="en">
                <a:solidFill>
                  <a:schemeClr val="dk1"/>
                </a:solidFill>
              </a:rPr>
              <a:t>Located at area where kids wait</a:t>
            </a:r>
            <a:endParaRPr>
              <a:solidFill>
                <a:schemeClr val="dk1"/>
              </a:solidFill>
            </a:endParaRPr>
          </a:p>
          <a:p>
            <a:pPr indent="0" lvl="0" marL="1371600" rtl="0" algn="l">
              <a:spcBef>
                <a:spcPts val="0"/>
              </a:spcBef>
              <a:spcAft>
                <a:spcPts val="0"/>
              </a:spcAft>
              <a:buNone/>
            </a:pPr>
            <a:r>
              <a:rPr lang="en" sz="1400">
                <a:solidFill>
                  <a:schemeClr val="dk1"/>
                </a:solidFill>
              </a:rPr>
              <a:t>t</a:t>
            </a:r>
            <a:r>
              <a:rPr lang="en" sz="1400">
                <a:solidFill>
                  <a:schemeClr val="dk1"/>
                </a:solidFill>
              </a:rPr>
              <a:t>o be called (gym, cafeteria, outside)</a:t>
            </a:r>
            <a:endParaRPr sz="1400">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Zigbee - low power </a:t>
            </a:r>
            <a:r>
              <a:rPr lang="en">
                <a:solidFill>
                  <a:schemeClr val="dk1"/>
                </a:solidFill>
              </a:rPr>
              <a:t>wireless</a:t>
            </a:r>
            <a:r>
              <a:rPr lang="en">
                <a:solidFill>
                  <a:schemeClr val="dk1"/>
                </a:solidFill>
              </a:rPr>
              <a:t> mesh	 </a:t>
            </a:r>
            <a:endParaRPr>
              <a:solidFill>
                <a:schemeClr val="dk1"/>
              </a:solidFill>
            </a:endParaRPr>
          </a:p>
          <a:p>
            <a:pPr indent="0" lvl="0" marL="457200" rtl="0" algn="l">
              <a:spcBef>
                <a:spcPts val="0"/>
              </a:spcBef>
              <a:spcAft>
                <a:spcPts val="0"/>
              </a:spcAft>
              <a:buNone/>
            </a:pPr>
            <a:r>
              <a:rPr lang="en">
                <a:solidFill>
                  <a:schemeClr val="dk1"/>
                </a:solidFill>
              </a:rPr>
              <a:t>n</a:t>
            </a:r>
            <a:r>
              <a:rPr lang="en">
                <a:solidFill>
                  <a:schemeClr val="dk1"/>
                </a:solidFill>
              </a:rPr>
              <a:t>etwork standard 0-100m (similar to Bluetooth)</a:t>
            </a:r>
            <a:endParaRPr>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More reliable than Bluetooth for small</a:t>
            </a:r>
            <a:endParaRPr>
              <a:solidFill>
                <a:schemeClr val="dk1"/>
              </a:solidFill>
            </a:endParaRPr>
          </a:p>
          <a:p>
            <a:pPr indent="0" lvl="0" marL="914400" rtl="0" algn="l">
              <a:spcBef>
                <a:spcPts val="0"/>
              </a:spcBef>
              <a:spcAft>
                <a:spcPts val="0"/>
              </a:spcAft>
              <a:buNone/>
            </a:pPr>
            <a:r>
              <a:rPr lang="en" sz="1400">
                <a:solidFill>
                  <a:schemeClr val="dk1"/>
                </a:solidFill>
              </a:rPr>
              <a:t>packets of data</a:t>
            </a:r>
            <a:endParaRPr>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Avoid Bluetooth interference from passing cars</a:t>
            </a:r>
            <a:endParaRPr>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No stable WiFi at entrance</a:t>
            </a:r>
            <a:endParaRPr>
              <a:solidFill>
                <a:schemeClr val="dk1"/>
              </a:solidFill>
            </a:endParaRPr>
          </a:p>
          <a:p>
            <a:pPr indent="0" lvl="0" marL="0" rtl="0" algn="l">
              <a:spcBef>
                <a:spcPts val="0"/>
              </a:spcBef>
              <a:spcAft>
                <a:spcPts val="0"/>
              </a:spcAft>
              <a:buNone/>
            </a:pPr>
            <a:r>
              <a:t/>
            </a:r>
            <a:endParaRPr sz="1400">
              <a:solidFill>
                <a:schemeClr val="dk1"/>
              </a:solidFill>
              <a:highlight>
                <a:schemeClr val="accent6"/>
              </a:highlight>
            </a:endParaRPr>
          </a:p>
        </p:txBody>
      </p:sp>
      <p:sp>
        <p:nvSpPr>
          <p:cNvPr id="139" name="Google Shape;139;p23"/>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pic>
        <p:nvPicPr>
          <p:cNvPr id="140" name="Google Shape;140;p23"/>
          <p:cNvPicPr preferRelativeResize="0"/>
          <p:nvPr/>
        </p:nvPicPr>
        <p:blipFill rotWithShape="1">
          <a:blip r:embed="rId3">
            <a:alphaModFix/>
          </a:blip>
          <a:srcRect b="24738" l="0" r="0" t="0"/>
          <a:stretch/>
        </p:blipFill>
        <p:spPr>
          <a:xfrm>
            <a:off x="3803600" y="1222375"/>
            <a:ext cx="5934075" cy="3352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44" name="Shape 144"/>
        <p:cNvGrpSpPr/>
        <p:nvPr/>
      </p:nvGrpSpPr>
      <p:grpSpPr>
        <a:xfrm>
          <a:off x="0" y="0"/>
          <a:ext cx="0" cy="0"/>
          <a:chOff x="0" y="0"/>
          <a:chExt cx="0" cy="0"/>
        </a:xfrm>
      </p:grpSpPr>
      <p:sp>
        <p:nvSpPr>
          <p:cNvPr id="145" name="Google Shape;145;p2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Proposed design - High-Level Block Diagram</a:t>
            </a:r>
            <a:endParaRPr b="1" sz="2620">
              <a:solidFill>
                <a:schemeClr val="lt1"/>
              </a:solidFill>
              <a:latin typeface="Atkinson Hyperlegible"/>
              <a:ea typeface="Atkinson Hyperlegible"/>
              <a:cs typeface="Atkinson Hyperlegible"/>
              <a:sym typeface="Atkinson Hyperlegible"/>
            </a:endParaRPr>
          </a:p>
        </p:txBody>
      </p:sp>
      <p:sp>
        <p:nvSpPr>
          <p:cNvPr id="147" name="Google Shape;147;p24"/>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
        <p:nvSpPr>
          <p:cNvPr id="148" name="Google Shape;148;p24"/>
          <p:cNvSpPr txBox="1"/>
          <p:nvPr/>
        </p:nvSpPr>
        <p:spPr>
          <a:xfrm>
            <a:off x="1987200" y="1335737"/>
            <a:ext cx="34740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595959"/>
                </a:solidFill>
              </a:rPr>
              <a:t>Car line entrance</a:t>
            </a:r>
            <a:endParaRPr sz="1219">
              <a:solidFill>
                <a:srgbClr val="595959"/>
              </a:solidFill>
            </a:endParaRPr>
          </a:p>
        </p:txBody>
      </p:sp>
      <p:sp>
        <p:nvSpPr>
          <p:cNvPr id="149" name="Google Shape;149;p24"/>
          <p:cNvSpPr/>
          <p:nvPr/>
        </p:nvSpPr>
        <p:spPr>
          <a:xfrm>
            <a:off x="3775999" y="1136525"/>
            <a:ext cx="197100" cy="1860300"/>
          </a:xfrm>
          <a:prstGeom prst="rect">
            <a:avLst/>
          </a:prstGeom>
          <a:solidFill>
            <a:srgbClr val="595959"/>
          </a:solidFill>
          <a:ln>
            <a:noFill/>
          </a:ln>
        </p:spPr>
        <p:txBody>
          <a:bodyPr anchorCtr="0" anchor="ctr" bIns="61900" lIns="61900" spcFirstLastPara="1" rIns="61900" wrap="square" tIns="61900">
            <a:noAutofit/>
          </a:bodyPr>
          <a:lstStyle/>
          <a:p>
            <a:pPr indent="0" lvl="0" marL="0" rtl="0" algn="ctr">
              <a:spcBef>
                <a:spcPts val="0"/>
              </a:spcBef>
              <a:spcAft>
                <a:spcPts val="0"/>
              </a:spcAft>
              <a:buNone/>
            </a:pPr>
            <a:r>
              <a:t/>
            </a:r>
            <a:endParaRPr sz="948"/>
          </a:p>
        </p:txBody>
      </p:sp>
      <p:sp>
        <p:nvSpPr>
          <p:cNvPr id="150" name="Google Shape;150;p24"/>
          <p:cNvSpPr/>
          <p:nvPr/>
        </p:nvSpPr>
        <p:spPr>
          <a:xfrm rot="5400000">
            <a:off x="4702885" y="1843216"/>
            <a:ext cx="227100" cy="2080500"/>
          </a:xfrm>
          <a:prstGeom prst="rect">
            <a:avLst/>
          </a:prstGeom>
          <a:solidFill>
            <a:srgbClr val="595959"/>
          </a:solidFill>
          <a:ln>
            <a:noFill/>
          </a:ln>
        </p:spPr>
        <p:txBody>
          <a:bodyPr anchorCtr="0" anchor="ctr" bIns="61900" lIns="61900" spcFirstLastPara="1" rIns="61900" wrap="square" tIns="61900">
            <a:noAutofit/>
          </a:bodyPr>
          <a:lstStyle/>
          <a:p>
            <a:pPr indent="0" lvl="0" marL="0" rtl="0" algn="ctr">
              <a:spcBef>
                <a:spcPts val="0"/>
              </a:spcBef>
              <a:spcAft>
                <a:spcPts val="0"/>
              </a:spcAft>
              <a:buNone/>
            </a:pPr>
            <a:r>
              <a:t/>
            </a:r>
            <a:endParaRPr sz="948"/>
          </a:p>
        </p:txBody>
      </p:sp>
      <p:pic>
        <p:nvPicPr>
          <p:cNvPr descr="Editable stroke icons of car transport in flat design. (Provided by Getty Images)" id="151" name="Google Shape;151;p24"/>
          <p:cNvPicPr preferRelativeResize="0"/>
          <p:nvPr/>
        </p:nvPicPr>
        <p:blipFill rotWithShape="1">
          <a:blip r:embed="rId3">
            <a:alphaModFix/>
          </a:blip>
          <a:srcRect b="25473" l="13370" r="13648" t="24706"/>
          <a:stretch/>
        </p:blipFill>
        <p:spPr>
          <a:xfrm flipH="1">
            <a:off x="3701797" y="1386627"/>
            <a:ext cx="345359" cy="210816"/>
          </a:xfrm>
          <a:prstGeom prst="rect">
            <a:avLst/>
          </a:prstGeom>
          <a:noFill/>
          <a:ln>
            <a:noFill/>
          </a:ln>
        </p:spPr>
      </p:pic>
      <p:sp>
        <p:nvSpPr>
          <p:cNvPr id="152" name="Google Shape;152;p24"/>
          <p:cNvSpPr txBox="1"/>
          <p:nvPr/>
        </p:nvSpPr>
        <p:spPr>
          <a:xfrm>
            <a:off x="3821268" y="2717360"/>
            <a:ext cx="34938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FFFF00"/>
                </a:solidFill>
              </a:rPr>
              <a:t>--------------------------------</a:t>
            </a:r>
            <a:endParaRPr sz="1219">
              <a:solidFill>
                <a:srgbClr val="FFFF00"/>
              </a:solidFill>
            </a:endParaRPr>
          </a:p>
        </p:txBody>
      </p:sp>
      <p:pic>
        <p:nvPicPr>
          <p:cNvPr descr="Editable stroke icons of car transport in flat design. (Provided by Getty Images)" id="153" name="Google Shape;153;p24"/>
          <p:cNvPicPr preferRelativeResize="0"/>
          <p:nvPr/>
        </p:nvPicPr>
        <p:blipFill rotWithShape="1">
          <a:blip r:embed="rId3">
            <a:alphaModFix/>
          </a:blip>
          <a:srcRect b="25473" l="13370" r="13648" t="24706"/>
          <a:stretch/>
        </p:blipFill>
        <p:spPr>
          <a:xfrm>
            <a:off x="4491478" y="2803591"/>
            <a:ext cx="345359" cy="210816"/>
          </a:xfrm>
          <a:prstGeom prst="rect">
            <a:avLst/>
          </a:prstGeom>
          <a:noFill/>
          <a:ln>
            <a:noFill/>
          </a:ln>
        </p:spPr>
      </p:pic>
      <p:pic>
        <p:nvPicPr>
          <p:cNvPr descr="Editable stroke icons of car transport in flat design. (Provided by Getty Images)" id="154" name="Google Shape;154;p24"/>
          <p:cNvPicPr preferRelativeResize="0"/>
          <p:nvPr/>
        </p:nvPicPr>
        <p:blipFill rotWithShape="1">
          <a:blip r:embed="rId3">
            <a:alphaModFix/>
          </a:blip>
          <a:srcRect b="25473" l="13370" r="13648" t="24706"/>
          <a:stretch/>
        </p:blipFill>
        <p:spPr>
          <a:xfrm>
            <a:off x="4976233" y="2803591"/>
            <a:ext cx="345359" cy="210816"/>
          </a:xfrm>
          <a:prstGeom prst="rect">
            <a:avLst/>
          </a:prstGeom>
          <a:noFill/>
          <a:ln>
            <a:noFill/>
          </a:ln>
        </p:spPr>
      </p:pic>
      <p:pic>
        <p:nvPicPr>
          <p:cNvPr descr="Editable stroke icons of car transport in flat design. (Provided by Getty Images)" id="155" name="Google Shape;155;p24"/>
          <p:cNvPicPr preferRelativeResize="0"/>
          <p:nvPr/>
        </p:nvPicPr>
        <p:blipFill rotWithShape="1">
          <a:blip r:embed="rId3">
            <a:alphaModFix/>
          </a:blip>
          <a:srcRect b="25473" l="13370" r="13648" t="24706"/>
          <a:stretch/>
        </p:blipFill>
        <p:spPr>
          <a:xfrm>
            <a:off x="5460989" y="2803591"/>
            <a:ext cx="345359" cy="210816"/>
          </a:xfrm>
          <a:prstGeom prst="rect">
            <a:avLst/>
          </a:prstGeom>
          <a:noFill/>
          <a:ln>
            <a:noFill/>
          </a:ln>
        </p:spPr>
      </p:pic>
      <p:sp>
        <p:nvSpPr>
          <p:cNvPr id="156" name="Google Shape;156;p24"/>
          <p:cNvSpPr txBox="1"/>
          <p:nvPr/>
        </p:nvSpPr>
        <p:spPr>
          <a:xfrm>
            <a:off x="2363131" y="3541182"/>
            <a:ext cx="30975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t/>
            </a:r>
            <a:endParaRPr sz="1219">
              <a:solidFill>
                <a:srgbClr val="595959"/>
              </a:solidFill>
            </a:endParaRPr>
          </a:p>
        </p:txBody>
      </p:sp>
      <p:sp>
        <p:nvSpPr>
          <p:cNvPr id="157" name="Google Shape;157;p24"/>
          <p:cNvSpPr txBox="1"/>
          <p:nvPr/>
        </p:nvSpPr>
        <p:spPr>
          <a:xfrm>
            <a:off x="4459718" y="2508864"/>
            <a:ext cx="34938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595959"/>
                </a:solidFill>
              </a:rPr>
              <a:t>Car Stations</a:t>
            </a:r>
            <a:endParaRPr sz="1219">
              <a:solidFill>
                <a:srgbClr val="595959"/>
              </a:solidFill>
            </a:endParaRPr>
          </a:p>
        </p:txBody>
      </p:sp>
      <p:sp>
        <p:nvSpPr>
          <p:cNvPr id="158" name="Google Shape;158;p24"/>
          <p:cNvSpPr/>
          <p:nvPr/>
        </p:nvSpPr>
        <p:spPr>
          <a:xfrm>
            <a:off x="4111154" y="1267703"/>
            <a:ext cx="938400" cy="4485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Car Entrance Module</a:t>
            </a:r>
            <a:endParaRPr sz="948"/>
          </a:p>
        </p:txBody>
      </p:sp>
      <p:pic>
        <p:nvPicPr>
          <p:cNvPr id="159" name="Google Shape;159;p24"/>
          <p:cNvPicPr preferRelativeResize="0"/>
          <p:nvPr/>
        </p:nvPicPr>
        <p:blipFill>
          <a:blip r:embed="rId4">
            <a:alphaModFix/>
          </a:blip>
          <a:stretch>
            <a:fillRect/>
          </a:stretch>
        </p:blipFill>
        <p:spPr>
          <a:xfrm>
            <a:off x="1987201" y="3112025"/>
            <a:ext cx="3748599" cy="1400851"/>
          </a:xfrm>
          <a:prstGeom prst="rect">
            <a:avLst/>
          </a:prstGeom>
          <a:noFill/>
          <a:ln>
            <a:noFill/>
          </a:ln>
        </p:spPr>
      </p:pic>
      <p:sp>
        <p:nvSpPr>
          <p:cNvPr id="160" name="Google Shape;160;p24"/>
          <p:cNvSpPr/>
          <p:nvPr/>
        </p:nvSpPr>
        <p:spPr>
          <a:xfrm>
            <a:off x="3920825" y="4169675"/>
            <a:ext cx="998700" cy="4485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Main Server Module</a:t>
            </a:r>
            <a:endParaRPr sz="948"/>
          </a:p>
        </p:txBody>
      </p:sp>
      <p:pic>
        <p:nvPicPr>
          <p:cNvPr id="161" name="Google Shape;161;p24"/>
          <p:cNvPicPr preferRelativeResize="0"/>
          <p:nvPr/>
        </p:nvPicPr>
        <p:blipFill>
          <a:blip r:embed="rId5">
            <a:alphaModFix/>
          </a:blip>
          <a:stretch>
            <a:fillRect/>
          </a:stretch>
        </p:blipFill>
        <p:spPr>
          <a:xfrm>
            <a:off x="2259892" y="3597071"/>
            <a:ext cx="998547" cy="892887"/>
          </a:xfrm>
          <a:prstGeom prst="rect">
            <a:avLst/>
          </a:prstGeom>
          <a:noFill/>
          <a:ln>
            <a:noFill/>
          </a:ln>
        </p:spPr>
      </p:pic>
      <p:sp>
        <p:nvSpPr>
          <p:cNvPr id="162" name="Google Shape;162;p24"/>
          <p:cNvSpPr/>
          <p:nvPr/>
        </p:nvSpPr>
        <p:spPr>
          <a:xfrm>
            <a:off x="2199471" y="3112028"/>
            <a:ext cx="1119300" cy="4851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Kids Waiting Module</a:t>
            </a:r>
            <a:endParaRPr sz="948"/>
          </a:p>
        </p:txBody>
      </p:sp>
      <p:sp>
        <p:nvSpPr>
          <p:cNvPr id="163" name="Google Shape;163;p24"/>
          <p:cNvSpPr/>
          <p:nvPr/>
        </p:nvSpPr>
        <p:spPr>
          <a:xfrm>
            <a:off x="4491481" y="3043054"/>
            <a:ext cx="998700" cy="4851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Zone Pickup Module</a:t>
            </a:r>
            <a:endParaRPr sz="948"/>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67" name="Shape 167"/>
        <p:cNvGrpSpPr/>
        <p:nvPr/>
      </p:nvGrpSpPr>
      <p:grpSpPr>
        <a:xfrm>
          <a:off x="0" y="0"/>
          <a:ext cx="0" cy="0"/>
          <a:chOff x="0" y="0"/>
          <a:chExt cx="0" cy="0"/>
        </a:xfrm>
      </p:grpSpPr>
      <p:sp>
        <p:nvSpPr>
          <p:cNvPr id="168" name="Google Shape;168;p2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Proposed design - Car Entrance Module</a:t>
            </a:r>
            <a:endParaRPr b="1" sz="2620">
              <a:solidFill>
                <a:schemeClr val="lt1"/>
              </a:solidFill>
              <a:latin typeface="Atkinson Hyperlegible"/>
              <a:ea typeface="Atkinson Hyperlegible"/>
              <a:cs typeface="Atkinson Hyperlegible"/>
              <a:sym typeface="Atkinson Hyperlegible"/>
            </a:endParaRPr>
          </a:p>
        </p:txBody>
      </p:sp>
      <p:sp>
        <p:nvSpPr>
          <p:cNvPr id="170" name="Google Shape;170;p25"/>
          <p:cNvSpPr txBox="1"/>
          <p:nvPr>
            <p:ph idx="1" type="body"/>
          </p:nvPr>
        </p:nvSpPr>
        <p:spPr>
          <a:xfrm>
            <a:off x="311700" y="1152475"/>
            <a:ext cx="4197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Primary function is to complete license plate recognition</a:t>
            </a:r>
            <a:endParaRPr>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Camera takes frequent pictures</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Processes image for license plate</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Once found, send license plate number using Zigbee</a:t>
            </a:r>
            <a:endParaRPr sz="12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Display for parents</a:t>
            </a:r>
            <a:endParaRPr>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Wait for results from server, then update display to confirm correct kid and direct parent to specific zone</a:t>
            </a:r>
            <a:endParaRPr sz="12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3D printed housing</a:t>
            </a:r>
            <a:endParaRPr>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Protect components from direct sunlight and light rain</a:t>
            </a:r>
            <a:endParaRPr sz="1200">
              <a:solidFill>
                <a:schemeClr val="dk1"/>
              </a:solidFill>
            </a:endParaRPr>
          </a:p>
        </p:txBody>
      </p:sp>
      <p:sp>
        <p:nvSpPr>
          <p:cNvPr id="171" name="Google Shape;171;p25"/>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pic>
        <p:nvPicPr>
          <p:cNvPr id="172" name="Google Shape;172;p25"/>
          <p:cNvPicPr preferRelativeResize="0"/>
          <p:nvPr/>
        </p:nvPicPr>
        <p:blipFill rotWithShape="1">
          <a:blip r:embed="rId3">
            <a:alphaModFix/>
          </a:blip>
          <a:srcRect b="8871" l="0" r="3800" t="12202"/>
          <a:stretch/>
        </p:blipFill>
        <p:spPr>
          <a:xfrm>
            <a:off x="4572012" y="1551938"/>
            <a:ext cx="4390464" cy="2693662"/>
          </a:xfrm>
          <a:prstGeom prst="rect">
            <a:avLst/>
          </a:prstGeom>
          <a:noFill/>
          <a:ln>
            <a:noFill/>
          </a:ln>
        </p:spPr>
      </p:pic>
      <p:sp>
        <p:nvSpPr>
          <p:cNvPr id="173" name="Google Shape;173;p25"/>
          <p:cNvSpPr txBox="1"/>
          <p:nvPr/>
        </p:nvSpPr>
        <p:spPr>
          <a:xfrm>
            <a:off x="4350625" y="1096825"/>
            <a:ext cx="1810500" cy="12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Example packet of info sent:</a:t>
            </a:r>
            <a:endParaRPr sz="600">
              <a:solidFill>
                <a:schemeClr val="dk2"/>
              </a:solidFill>
            </a:endParaRPr>
          </a:p>
          <a:p>
            <a:pPr indent="0" lvl="0" marL="0" rtl="0" algn="l">
              <a:spcBef>
                <a:spcPts val="0"/>
              </a:spcBef>
              <a:spcAft>
                <a:spcPts val="0"/>
              </a:spcAft>
              <a:buNone/>
            </a:pPr>
            <a:r>
              <a:rPr lang="en" sz="800">
                <a:solidFill>
                  <a:schemeClr val="dk2"/>
                </a:solidFill>
              </a:rPr>
              <a:t>{</a:t>
            </a:r>
            <a:endParaRPr sz="800">
              <a:solidFill>
                <a:schemeClr val="dk2"/>
              </a:solidFill>
            </a:endParaRPr>
          </a:p>
          <a:p>
            <a:pPr indent="0" lvl="0" marL="0" rtl="0" algn="l">
              <a:spcBef>
                <a:spcPts val="0"/>
              </a:spcBef>
              <a:spcAft>
                <a:spcPts val="0"/>
              </a:spcAft>
              <a:buNone/>
            </a:pPr>
            <a:r>
              <a:rPr lang="en" sz="800">
                <a:solidFill>
                  <a:schemeClr val="dk2"/>
                </a:solidFill>
              </a:rPr>
              <a:t> “</a:t>
            </a:r>
            <a:r>
              <a:rPr lang="en" sz="800">
                <a:solidFill>
                  <a:schemeClr val="dk2"/>
                </a:solidFill>
              </a:rPr>
              <a:t>e</a:t>
            </a:r>
            <a:r>
              <a:rPr lang="en" sz="800">
                <a:solidFill>
                  <a:schemeClr val="dk2"/>
                </a:solidFill>
              </a:rPr>
              <a:t>vent”: “license_plate_detected”,</a:t>
            </a:r>
            <a:endParaRPr sz="800">
              <a:solidFill>
                <a:schemeClr val="dk2"/>
              </a:solidFill>
            </a:endParaRPr>
          </a:p>
          <a:p>
            <a:pPr indent="0" lvl="0" marL="0" rtl="0" algn="l">
              <a:spcBef>
                <a:spcPts val="0"/>
              </a:spcBef>
              <a:spcAft>
                <a:spcPts val="0"/>
              </a:spcAft>
              <a:buNone/>
            </a:pPr>
            <a:r>
              <a:rPr lang="en" sz="800">
                <a:solidFill>
                  <a:schemeClr val="dk2"/>
                </a:solidFill>
              </a:rPr>
              <a:t> “</a:t>
            </a:r>
            <a:r>
              <a:rPr lang="en" sz="800">
                <a:solidFill>
                  <a:schemeClr val="dk2"/>
                </a:solidFill>
              </a:rPr>
              <a:t>p</a:t>
            </a:r>
            <a:r>
              <a:rPr lang="en" sz="800">
                <a:solidFill>
                  <a:schemeClr val="dk2"/>
                </a:solidFill>
              </a:rPr>
              <a:t>late”: {</a:t>
            </a:r>
            <a:endParaRPr sz="800">
              <a:solidFill>
                <a:schemeClr val="dk2"/>
              </a:solidFill>
            </a:endParaRPr>
          </a:p>
          <a:p>
            <a:pPr indent="0" lvl="0" marL="0" rtl="0" algn="l">
              <a:spcBef>
                <a:spcPts val="0"/>
              </a:spcBef>
              <a:spcAft>
                <a:spcPts val="0"/>
              </a:spcAft>
              <a:buNone/>
            </a:pPr>
            <a:r>
              <a:rPr lang="en" sz="800">
                <a:solidFill>
                  <a:schemeClr val="dk2"/>
                </a:solidFill>
              </a:rPr>
              <a:t>   “</a:t>
            </a:r>
            <a:r>
              <a:rPr lang="en" sz="800">
                <a:solidFill>
                  <a:schemeClr val="dk2"/>
                </a:solidFill>
              </a:rPr>
              <a:t>n</a:t>
            </a:r>
            <a:r>
              <a:rPr lang="en" sz="800">
                <a:solidFill>
                  <a:schemeClr val="dk2"/>
                </a:solidFill>
              </a:rPr>
              <a:t>umber”: “ABC1234”,</a:t>
            </a:r>
            <a:endParaRPr sz="800">
              <a:solidFill>
                <a:schemeClr val="dk2"/>
              </a:solidFill>
            </a:endParaRPr>
          </a:p>
          <a:p>
            <a:pPr indent="0" lvl="0" marL="0" rtl="0" algn="l">
              <a:spcBef>
                <a:spcPts val="0"/>
              </a:spcBef>
              <a:spcAft>
                <a:spcPts val="0"/>
              </a:spcAft>
              <a:buNone/>
            </a:pPr>
            <a:r>
              <a:rPr lang="en" sz="800">
                <a:solidFill>
                  <a:schemeClr val="dk2"/>
                </a:solidFill>
              </a:rPr>
              <a:t>   “</a:t>
            </a:r>
            <a:r>
              <a:rPr lang="en" sz="800">
                <a:solidFill>
                  <a:schemeClr val="dk2"/>
                </a:solidFill>
              </a:rPr>
              <a:t>s</a:t>
            </a:r>
            <a:r>
              <a:rPr lang="en" sz="800">
                <a:solidFill>
                  <a:schemeClr val="dk2"/>
                </a:solidFill>
              </a:rPr>
              <a:t>tate”: “TX”</a:t>
            </a:r>
            <a:endParaRPr sz="800">
              <a:solidFill>
                <a:schemeClr val="dk2"/>
              </a:solidFill>
            </a:endParaRPr>
          </a:p>
          <a:p>
            <a:pPr indent="0" lvl="0" marL="0" rtl="0" algn="l">
              <a:spcBef>
                <a:spcPts val="0"/>
              </a:spcBef>
              <a:spcAft>
                <a:spcPts val="0"/>
              </a:spcAft>
              <a:buNone/>
            </a:pPr>
            <a:r>
              <a:rPr lang="en" sz="800">
                <a:solidFill>
                  <a:schemeClr val="dk2"/>
                </a:solidFill>
              </a:rPr>
              <a:t> }</a:t>
            </a:r>
            <a:endParaRPr sz="800">
              <a:solidFill>
                <a:schemeClr val="dk2"/>
              </a:solidFill>
            </a:endParaRPr>
          </a:p>
          <a:p>
            <a:pPr indent="0" lvl="0" marL="0" rtl="0" algn="l">
              <a:spcBef>
                <a:spcPts val="0"/>
              </a:spcBef>
              <a:spcAft>
                <a:spcPts val="0"/>
              </a:spcAft>
              <a:buNone/>
            </a:pPr>
            <a:r>
              <a:rPr lang="en" sz="800">
                <a:solidFill>
                  <a:schemeClr val="dk2"/>
                </a:solidFill>
              </a:rPr>
              <a:t>}</a:t>
            </a:r>
            <a:endParaRPr sz="800">
              <a:solidFill>
                <a:schemeClr val="dk2"/>
              </a:solidFill>
            </a:endParaRPr>
          </a:p>
        </p:txBody>
      </p:sp>
      <p:sp>
        <p:nvSpPr>
          <p:cNvPr id="174" name="Google Shape;174;p25"/>
          <p:cNvSpPr txBox="1"/>
          <p:nvPr/>
        </p:nvSpPr>
        <p:spPr>
          <a:xfrm>
            <a:off x="4350625" y="3576350"/>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Example packet of info received:</a:t>
            </a:r>
            <a:endParaRPr sz="600">
              <a:solidFill>
                <a:schemeClr val="dk2"/>
              </a:solidFill>
            </a:endParaRPr>
          </a:p>
          <a:p>
            <a:pPr indent="0" lvl="0" marL="0" rtl="0" algn="l">
              <a:spcBef>
                <a:spcPts val="0"/>
              </a:spcBef>
              <a:spcAft>
                <a:spcPts val="0"/>
              </a:spcAft>
              <a:buNone/>
            </a:pPr>
            <a:r>
              <a:rPr lang="en" sz="800">
                <a:solidFill>
                  <a:schemeClr val="dk2"/>
                </a:solidFill>
              </a:rPr>
              <a:t>{</a:t>
            </a:r>
            <a:endParaRPr sz="800">
              <a:solidFill>
                <a:schemeClr val="dk2"/>
              </a:solidFill>
            </a:endParaRPr>
          </a:p>
          <a:p>
            <a:pPr indent="0" lvl="0" marL="0" rtl="0" algn="l">
              <a:spcBef>
                <a:spcPts val="0"/>
              </a:spcBef>
              <a:spcAft>
                <a:spcPts val="0"/>
              </a:spcAft>
              <a:buNone/>
            </a:pPr>
            <a:r>
              <a:rPr lang="en" sz="800">
                <a:solidFill>
                  <a:schemeClr val="dk2"/>
                </a:solidFill>
              </a:rPr>
              <a:t> “event”: “update_display”,</a:t>
            </a:r>
            <a:endParaRPr sz="800">
              <a:solidFill>
                <a:schemeClr val="dk2"/>
              </a:solidFill>
            </a:endParaRPr>
          </a:p>
          <a:p>
            <a:pPr indent="0" lvl="0" marL="0" rtl="0" algn="l">
              <a:spcBef>
                <a:spcPts val="0"/>
              </a:spcBef>
              <a:spcAft>
                <a:spcPts val="0"/>
              </a:spcAft>
              <a:buNone/>
            </a:pPr>
            <a:r>
              <a:rPr lang="en" sz="800">
                <a:solidFill>
                  <a:schemeClr val="dk2"/>
                </a:solidFill>
              </a:rPr>
              <a:t> “info”: {</a:t>
            </a:r>
            <a:endParaRPr sz="800">
              <a:solidFill>
                <a:schemeClr val="dk2"/>
              </a:solidFill>
            </a:endParaRPr>
          </a:p>
          <a:p>
            <a:pPr indent="0" lvl="0" marL="0" rtl="0" algn="l">
              <a:spcBef>
                <a:spcPts val="0"/>
              </a:spcBef>
              <a:spcAft>
                <a:spcPts val="0"/>
              </a:spcAft>
              <a:buNone/>
            </a:pPr>
            <a:r>
              <a:rPr lang="en" sz="800">
                <a:solidFill>
                  <a:schemeClr val="dk2"/>
                </a:solidFill>
              </a:rPr>
              <a:t>   “name”: “John Doe”,</a:t>
            </a:r>
            <a:endParaRPr sz="800">
              <a:solidFill>
                <a:schemeClr val="dk2"/>
              </a:solidFill>
            </a:endParaRPr>
          </a:p>
          <a:p>
            <a:pPr indent="0" lvl="0" marL="0" rtl="0" algn="l">
              <a:spcBef>
                <a:spcPts val="0"/>
              </a:spcBef>
              <a:spcAft>
                <a:spcPts val="0"/>
              </a:spcAft>
              <a:buNone/>
            </a:pPr>
            <a:r>
              <a:rPr lang="en" sz="800">
                <a:solidFill>
                  <a:schemeClr val="dk2"/>
                </a:solidFill>
              </a:rPr>
              <a:t>   “zone”: “1, red”</a:t>
            </a:r>
            <a:endParaRPr sz="800">
              <a:solidFill>
                <a:schemeClr val="dk2"/>
              </a:solidFill>
            </a:endParaRPr>
          </a:p>
          <a:p>
            <a:pPr indent="0" lvl="0" marL="0" rtl="0" algn="l">
              <a:spcBef>
                <a:spcPts val="0"/>
              </a:spcBef>
              <a:spcAft>
                <a:spcPts val="0"/>
              </a:spcAft>
              <a:buNone/>
            </a:pPr>
            <a:r>
              <a:rPr lang="en" sz="800">
                <a:solidFill>
                  <a:schemeClr val="dk2"/>
                </a:solidFill>
              </a:rPr>
              <a:t> }</a:t>
            </a:r>
            <a:endParaRPr sz="800">
              <a:solidFill>
                <a:schemeClr val="dk2"/>
              </a:solidFill>
            </a:endParaRPr>
          </a:p>
          <a:p>
            <a:pPr indent="0" lvl="0" marL="0" rtl="0" algn="l">
              <a:spcBef>
                <a:spcPts val="0"/>
              </a:spcBef>
              <a:spcAft>
                <a:spcPts val="0"/>
              </a:spcAft>
              <a:buNone/>
            </a:pPr>
            <a:r>
              <a:rPr lang="en" sz="800">
                <a:solidFill>
                  <a:schemeClr val="dk2"/>
                </a:solidFill>
              </a:rPr>
              <a:t>}</a:t>
            </a:r>
            <a:endParaRPr sz="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78" name="Shape 178"/>
        <p:cNvGrpSpPr/>
        <p:nvPr/>
      </p:nvGrpSpPr>
      <p:grpSpPr>
        <a:xfrm>
          <a:off x="0" y="0"/>
          <a:ext cx="0" cy="0"/>
          <a:chOff x="0" y="0"/>
          <a:chExt cx="0" cy="0"/>
        </a:xfrm>
      </p:grpSpPr>
      <p:sp>
        <p:nvSpPr>
          <p:cNvPr id="179" name="Google Shape;179;p2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Proposed design - Zone Pickup Module</a:t>
            </a:r>
            <a:endParaRPr b="1" sz="2620">
              <a:solidFill>
                <a:schemeClr val="lt1"/>
              </a:solidFill>
              <a:latin typeface="Atkinson Hyperlegible"/>
              <a:ea typeface="Atkinson Hyperlegible"/>
              <a:cs typeface="Atkinson Hyperlegible"/>
              <a:sym typeface="Atkinson Hyperlegible"/>
            </a:endParaRPr>
          </a:p>
        </p:txBody>
      </p:sp>
      <p:sp>
        <p:nvSpPr>
          <p:cNvPr id="181" name="Google Shape;181;p26"/>
          <p:cNvSpPr txBox="1"/>
          <p:nvPr>
            <p:ph idx="1" type="body"/>
          </p:nvPr>
        </p:nvSpPr>
        <p:spPr>
          <a:xfrm>
            <a:off x="297125" y="1152475"/>
            <a:ext cx="8637000" cy="1419300"/>
          </a:xfrm>
          <a:prstGeom prst="rect">
            <a:avLst/>
          </a:prstGeom>
        </p:spPr>
        <p:txBody>
          <a:bodyPr anchorCtr="0" anchor="t" bIns="91425" lIns="91425" spcFirstLastPara="1" rIns="91425" wrap="square" tIns="91425">
            <a:normAutofit fontScale="85000" lnSpcReduction="20000"/>
          </a:bodyPr>
          <a:lstStyle/>
          <a:p>
            <a:pPr indent="-314960" lvl="0" marL="457200" rtl="0" algn="l">
              <a:spcBef>
                <a:spcPts val="0"/>
              </a:spcBef>
              <a:spcAft>
                <a:spcPts val="0"/>
              </a:spcAft>
              <a:buClr>
                <a:schemeClr val="dk1"/>
              </a:buClr>
              <a:buSzPct val="100000"/>
              <a:buChar char="●"/>
            </a:pPr>
            <a:r>
              <a:rPr lang="en" sz="1600">
                <a:solidFill>
                  <a:schemeClr val="dk1"/>
                </a:solidFill>
              </a:rPr>
              <a:t>Act as a receiver for Zigbee </a:t>
            </a:r>
            <a:r>
              <a:rPr lang="en" sz="1600">
                <a:solidFill>
                  <a:schemeClr val="dk1"/>
                </a:solidFill>
              </a:rPr>
              <a:t>communication - forward info to server (WiFi)</a:t>
            </a:r>
            <a:endParaRPr sz="1600">
              <a:solidFill>
                <a:schemeClr val="dk1"/>
              </a:solidFill>
            </a:endParaRPr>
          </a:p>
          <a:p>
            <a:pPr indent="-314960" lvl="1" marL="914400" rtl="0" algn="l">
              <a:spcBef>
                <a:spcPts val="0"/>
              </a:spcBef>
              <a:spcAft>
                <a:spcPts val="0"/>
              </a:spcAft>
              <a:buClr>
                <a:schemeClr val="dk1"/>
              </a:buClr>
              <a:buSzPct val="100000"/>
              <a:buChar char="○"/>
            </a:pPr>
            <a:r>
              <a:rPr lang="en" sz="1600">
                <a:solidFill>
                  <a:schemeClr val="dk1"/>
                </a:solidFill>
              </a:rPr>
              <a:t>Also forward info from server to car entrance module (Zigbee)</a:t>
            </a:r>
            <a:endParaRPr sz="1600">
              <a:solidFill>
                <a:schemeClr val="dk1"/>
              </a:solidFill>
            </a:endParaRPr>
          </a:p>
          <a:p>
            <a:pPr indent="-314960" lvl="0" marL="457200" rtl="0" algn="l">
              <a:spcBef>
                <a:spcPts val="0"/>
              </a:spcBef>
              <a:spcAft>
                <a:spcPts val="0"/>
              </a:spcAft>
              <a:buClr>
                <a:schemeClr val="dk1"/>
              </a:buClr>
              <a:buSzPct val="100000"/>
              <a:buChar char="●"/>
            </a:pPr>
            <a:r>
              <a:rPr lang="en" sz="1600">
                <a:solidFill>
                  <a:schemeClr val="dk1"/>
                </a:solidFill>
              </a:rPr>
              <a:t>Large screen to display website at the zones - lists of kids being picked up at each zone</a:t>
            </a:r>
            <a:endParaRPr sz="1600">
              <a:solidFill>
                <a:schemeClr val="dk1"/>
              </a:solidFill>
            </a:endParaRPr>
          </a:p>
          <a:p>
            <a:pPr indent="-314960" lvl="0" marL="457200" rtl="0" algn="l">
              <a:spcBef>
                <a:spcPts val="0"/>
              </a:spcBef>
              <a:spcAft>
                <a:spcPts val="0"/>
              </a:spcAft>
              <a:buClr>
                <a:schemeClr val="dk1"/>
              </a:buClr>
              <a:buSzPct val="100000"/>
              <a:buChar char="●"/>
            </a:pPr>
            <a:r>
              <a:rPr lang="en" sz="1600">
                <a:solidFill>
                  <a:schemeClr val="dk1"/>
                </a:solidFill>
              </a:rPr>
              <a:t>Button submodule - allows staff member to press a button when a kid is picked up at a zone, one button for each zone</a:t>
            </a:r>
            <a:endParaRPr sz="1600">
              <a:solidFill>
                <a:schemeClr val="dk1"/>
              </a:solidFill>
            </a:endParaRPr>
          </a:p>
          <a:p>
            <a:pPr indent="-304165" lvl="1" marL="914400" rtl="0" algn="l">
              <a:spcBef>
                <a:spcPts val="0"/>
              </a:spcBef>
              <a:spcAft>
                <a:spcPts val="0"/>
              </a:spcAft>
              <a:buClr>
                <a:schemeClr val="dk1"/>
              </a:buClr>
              <a:buSzPct val="100000"/>
              <a:buChar char="○"/>
            </a:pPr>
            <a:r>
              <a:rPr lang="en">
                <a:solidFill>
                  <a:schemeClr val="dk1"/>
                </a:solidFill>
              </a:rPr>
              <a:t>Removes kids name from list </a:t>
            </a:r>
            <a:endParaRPr>
              <a:solidFill>
                <a:schemeClr val="dk1"/>
              </a:solidFill>
            </a:endParaRPr>
          </a:p>
        </p:txBody>
      </p:sp>
      <p:sp>
        <p:nvSpPr>
          <p:cNvPr id="182" name="Google Shape;182;p26"/>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pic>
        <p:nvPicPr>
          <p:cNvPr id="183" name="Google Shape;183;p26"/>
          <p:cNvPicPr preferRelativeResize="0"/>
          <p:nvPr/>
        </p:nvPicPr>
        <p:blipFill rotWithShape="1">
          <a:blip r:embed="rId3">
            <a:alphaModFix/>
          </a:blip>
          <a:srcRect b="30443" l="0" r="0" t="18374"/>
          <a:stretch/>
        </p:blipFill>
        <p:spPr>
          <a:xfrm>
            <a:off x="2833000" y="2278375"/>
            <a:ext cx="5962650" cy="2286000"/>
          </a:xfrm>
          <a:prstGeom prst="rect">
            <a:avLst/>
          </a:prstGeom>
          <a:noFill/>
          <a:ln>
            <a:noFill/>
          </a:ln>
        </p:spPr>
      </p:pic>
      <p:sp>
        <p:nvSpPr>
          <p:cNvPr id="184" name="Google Shape;184;p26"/>
          <p:cNvSpPr txBox="1"/>
          <p:nvPr/>
        </p:nvSpPr>
        <p:spPr>
          <a:xfrm>
            <a:off x="311700" y="2661075"/>
            <a:ext cx="3037500" cy="1356000"/>
          </a:xfrm>
          <a:prstGeom prst="rect">
            <a:avLst/>
          </a:prstGeom>
          <a:noFill/>
          <a:ln>
            <a:noFill/>
          </a:ln>
        </p:spPr>
        <p:txBody>
          <a:bodyPr anchorCtr="0" anchor="t" bIns="91425" lIns="91425" spcFirstLastPara="1" rIns="91425" wrap="square" tIns="91425">
            <a:noAutofit/>
          </a:bodyPr>
          <a:lstStyle/>
          <a:p>
            <a:pPr indent="-314325" lvl="0" marL="457200" rtl="0" algn="l">
              <a:spcBef>
                <a:spcPts val="0"/>
              </a:spcBef>
              <a:spcAft>
                <a:spcPts val="0"/>
              </a:spcAft>
              <a:buClr>
                <a:schemeClr val="dk1"/>
              </a:buClr>
              <a:buSzPts val="1350"/>
              <a:buChar char="●"/>
            </a:pPr>
            <a:r>
              <a:rPr lang="en" sz="1350">
                <a:solidFill>
                  <a:schemeClr val="dk1"/>
                </a:solidFill>
              </a:rPr>
              <a:t>3D printed housing</a:t>
            </a:r>
            <a:endParaRPr sz="1350">
              <a:solidFill>
                <a:schemeClr val="dk1"/>
              </a:solidFill>
            </a:endParaRPr>
          </a:p>
          <a:p>
            <a:pPr indent="-301625" lvl="1" marL="914400" rtl="0" algn="l">
              <a:spcBef>
                <a:spcPts val="0"/>
              </a:spcBef>
              <a:spcAft>
                <a:spcPts val="0"/>
              </a:spcAft>
              <a:buClr>
                <a:schemeClr val="dk1"/>
              </a:buClr>
              <a:buSzPts val="1150"/>
              <a:buChar char="○"/>
            </a:pPr>
            <a:r>
              <a:rPr lang="en" sz="1150">
                <a:solidFill>
                  <a:schemeClr val="dk1"/>
                </a:solidFill>
              </a:rPr>
              <a:t>Block direct </a:t>
            </a:r>
            <a:r>
              <a:rPr lang="en" sz="1150">
                <a:solidFill>
                  <a:schemeClr val="dk1"/>
                </a:solidFill>
              </a:rPr>
              <a:t>sunlight</a:t>
            </a:r>
            <a:r>
              <a:rPr lang="en" sz="1150">
                <a:solidFill>
                  <a:schemeClr val="dk1"/>
                </a:solidFill>
              </a:rPr>
              <a:t> and light rain</a:t>
            </a:r>
            <a:endParaRPr sz="115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88" name="Shape 188"/>
        <p:cNvGrpSpPr/>
        <p:nvPr/>
      </p:nvGrpSpPr>
      <p:grpSpPr>
        <a:xfrm>
          <a:off x="0" y="0"/>
          <a:ext cx="0" cy="0"/>
          <a:chOff x="0" y="0"/>
          <a:chExt cx="0" cy="0"/>
        </a:xfrm>
      </p:grpSpPr>
      <p:sp>
        <p:nvSpPr>
          <p:cNvPr id="189" name="Google Shape;189;p2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Proposed design - Main Server Module</a:t>
            </a:r>
            <a:endParaRPr b="1" sz="2620">
              <a:solidFill>
                <a:schemeClr val="lt1"/>
              </a:solidFill>
              <a:latin typeface="Atkinson Hyperlegible"/>
              <a:ea typeface="Atkinson Hyperlegible"/>
              <a:cs typeface="Atkinson Hyperlegible"/>
              <a:sym typeface="Atkinson Hyperlegible"/>
            </a:endParaRPr>
          </a:p>
        </p:txBody>
      </p:sp>
      <p:sp>
        <p:nvSpPr>
          <p:cNvPr id="191" name="Google Shape;191;p27"/>
          <p:cNvSpPr txBox="1"/>
          <p:nvPr>
            <p:ph idx="1" type="body"/>
          </p:nvPr>
        </p:nvSpPr>
        <p:spPr>
          <a:xfrm>
            <a:off x="297125" y="1152475"/>
            <a:ext cx="4583700" cy="35109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Located in school’s office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Host a </a:t>
            </a:r>
            <a:r>
              <a:rPr lang="en" sz="1400">
                <a:solidFill>
                  <a:schemeClr val="dk1"/>
                </a:solidFill>
              </a:rPr>
              <a:t>website - updated in real time</a:t>
            </a:r>
            <a:endParaRPr sz="14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Displayed on screens in zone pickup and kids waiting modules</a:t>
            </a:r>
            <a:endParaRPr sz="12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Connect to database that contains info about all kids parents, pickup schedule, and license plate numbers.</a:t>
            </a:r>
            <a:endParaRPr sz="14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Query the database to find info given license plate number</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Update database based on requests made by parents (once approved by admin)</a:t>
            </a:r>
            <a:endParaRPr sz="12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Send updates to display in car entrance module</a:t>
            </a:r>
            <a:endParaRPr sz="14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After querying database</a:t>
            </a:r>
            <a:endParaRPr sz="1200">
              <a:solidFill>
                <a:schemeClr val="dk1"/>
              </a:solidFill>
            </a:endParaRPr>
          </a:p>
        </p:txBody>
      </p:sp>
      <p:sp>
        <p:nvSpPr>
          <p:cNvPr id="192" name="Google Shape;192;p27"/>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pic>
        <p:nvPicPr>
          <p:cNvPr id="193" name="Google Shape;193;p27"/>
          <p:cNvPicPr preferRelativeResize="0"/>
          <p:nvPr/>
        </p:nvPicPr>
        <p:blipFill rotWithShape="1">
          <a:blip r:embed="rId3">
            <a:alphaModFix/>
          </a:blip>
          <a:srcRect b="32905" l="0" r="0" t="28419"/>
          <a:stretch/>
        </p:blipFill>
        <p:spPr>
          <a:xfrm>
            <a:off x="4023275" y="1933013"/>
            <a:ext cx="5943600" cy="1724025"/>
          </a:xfrm>
          <a:prstGeom prst="rect">
            <a:avLst/>
          </a:prstGeom>
          <a:noFill/>
          <a:ln>
            <a:noFill/>
          </a:ln>
        </p:spPr>
      </p:pic>
      <p:sp>
        <p:nvSpPr>
          <p:cNvPr id="194" name="Google Shape;194;p27"/>
          <p:cNvSpPr txBox="1"/>
          <p:nvPr/>
        </p:nvSpPr>
        <p:spPr>
          <a:xfrm>
            <a:off x="1305450" y="4223725"/>
            <a:ext cx="5863200" cy="439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600"/>
              </a:spcAft>
              <a:buNone/>
            </a:pPr>
            <a:r>
              <a:rPr b="1" lang="en" sz="1200">
                <a:solidFill>
                  <a:schemeClr val="dk1"/>
                </a:solidFill>
                <a:latin typeface="Times New Roman"/>
                <a:ea typeface="Times New Roman"/>
                <a:cs typeface="Times New Roman"/>
                <a:sym typeface="Times New Roman"/>
              </a:rPr>
              <a:t>Server</a:t>
            </a:r>
            <a:r>
              <a:rPr b="1" lang="en" sz="1100">
                <a:solidFill>
                  <a:schemeClr val="dk1"/>
                </a:solidFill>
                <a:latin typeface="Times New Roman"/>
                <a:ea typeface="Times New Roman"/>
                <a:cs typeface="Times New Roman"/>
                <a:sym typeface="Times New Roman"/>
              </a:rPr>
              <a:t> ←→ </a:t>
            </a:r>
            <a:r>
              <a:rPr b="1" lang="en" sz="900">
                <a:solidFill>
                  <a:srgbClr val="595959"/>
                </a:solidFill>
                <a:latin typeface="Times New Roman"/>
                <a:ea typeface="Times New Roman"/>
                <a:cs typeface="Times New Roman"/>
                <a:sym typeface="Times New Roman"/>
              </a:rPr>
              <a:t>WiFi</a:t>
            </a:r>
            <a:r>
              <a:rPr b="1" lang="en" sz="1100">
                <a:solidFill>
                  <a:schemeClr val="dk1"/>
                </a:solidFill>
                <a:latin typeface="Times New Roman"/>
                <a:ea typeface="Times New Roman"/>
                <a:cs typeface="Times New Roman"/>
                <a:sym typeface="Times New Roman"/>
              </a:rPr>
              <a:t> ←→ </a:t>
            </a:r>
            <a:r>
              <a:rPr b="1" lang="en" sz="1200">
                <a:solidFill>
                  <a:schemeClr val="dk1"/>
                </a:solidFill>
                <a:latin typeface="Times New Roman"/>
                <a:ea typeface="Times New Roman"/>
                <a:cs typeface="Times New Roman"/>
                <a:sym typeface="Times New Roman"/>
              </a:rPr>
              <a:t>Zone Pickup Module</a:t>
            </a:r>
            <a:r>
              <a:rPr b="1" lang="en" sz="1100">
                <a:solidFill>
                  <a:schemeClr val="dk1"/>
                </a:solidFill>
                <a:latin typeface="Times New Roman"/>
                <a:ea typeface="Times New Roman"/>
                <a:cs typeface="Times New Roman"/>
                <a:sym typeface="Times New Roman"/>
              </a:rPr>
              <a:t> ←→ </a:t>
            </a:r>
            <a:r>
              <a:rPr b="1" lang="en" sz="900">
                <a:solidFill>
                  <a:srgbClr val="595959"/>
                </a:solidFill>
                <a:latin typeface="Times New Roman"/>
                <a:ea typeface="Times New Roman"/>
                <a:cs typeface="Times New Roman"/>
                <a:sym typeface="Times New Roman"/>
              </a:rPr>
              <a:t>Zigbee</a:t>
            </a:r>
            <a:r>
              <a:rPr b="1" lang="en" sz="1100">
                <a:solidFill>
                  <a:schemeClr val="dk1"/>
                </a:solidFill>
                <a:latin typeface="Times New Roman"/>
                <a:ea typeface="Times New Roman"/>
                <a:cs typeface="Times New Roman"/>
                <a:sym typeface="Times New Roman"/>
              </a:rPr>
              <a:t> ←→ </a:t>
            </a:r>
            <a:r>
              <a:rPr b="1" lang="en" sz="1200">
                <a:solidFill>
                  <a:schemeClr val="dk1"/>
                </a:solidFill>
                <a:latin typeface="Times New Roman"/>
                <a:ea typeface="Times New Roman"/>
                <a:cs typeface="Times New Roman"/>
                <a:sym typeface="Times New Roman"/>
              </a:rPr>
              <a:t>Car Entrance Module</a:t>
            </a:r>
            <a:endParaRPr b="1" sz="19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98" name="Shape 198"/>
        <p:cNvGrpSpPr/>
        <p:nvPr/>
      </p:nvGrpSpPr>
      <p:grpSpPr>
        <a:xfrm>
          <a:off x="0" y="0"/>
          <a:ext cx="0" cy="0"/>
          <a:chOff x="0" y="0"/>
          <a:chExt cx="0" cy="0"/>
        </a:xfrm>
      </p:grpSpPr>
      <p:sp>
        <p:nvSpPr>
          <p:cNvPr id="199" name="Google Shape;199;p2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Proposed design - Kids Waiting Module</a:t>
            </a:r>
            <a:endParaRPr b="1" sz="2620">
              <a:solidFill>
                <a:schemeClr val="lt1"/>
              </a:solidFill>
              <a:latin typeface="Atkinson Hyperlegible"/>
              <a:ea typeface="Atkinson Hyperlegible"/>
              <a:cs typeface="Atkinson Hyperlegible"/>
              <a:sym typeface="Atkinson Hyperlegible"/>
            </a:endParaRPr>
          </a:p>
        </p:txBody>
      </p:sp>
      <p:sp>
        <p:nvSpPr>
          <p:cNvPr id="201" name="Google Shape;201;p28"/>
          <p:cNvSpPr txBox="1"/>
          <p:nvPr>
            <p:ph idx="1" type="body"/>
          </p:nvPr>
        </p:nvSpPr>
        <p:spPr>
          <a:xfrm>
            <a:off x="297125" y="1152475"/>
            <a:ext cx="8520600" cy="3510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en">
                <a:solidFill>
                  <a:schemeClr val="dk1"/>
                </a:solidFill>
              </a:rPr>
              <a:t>Large TV screen where kids are gathered to wait (gym, cafeteria, outside)</a:t>
            </a:r>
            <a:endParaRPr>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Display website to inform staff and kids who is being picked up, and what zone to go to</a:t>
            </a:r>
            <a:endParaRPr sz="1600">
              <a:solidFill>
                <a:schemeClr val="dk1"/>
              </a:solidFill>
            </a:endParaRPr>
          </a:p>
        </p:txBody>
      </p:sp>
      <p:sp>
        <p:nvSpPr>
          <p:cNvPr id="202" name="Google Shape;202;p28"/>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pic>
        <p:nvPicPr>
          <p:cNvPr id="203" name="Google Shape;203;p28"/>
          <p:cNvPicPr preferRelativeResize="0"/>
          <p:nvPr/>
        </p:nvPicPr>
        <p:blipFill rotWithShape="1">
          <a:blip r:embed="rId3">
            <a:alphaModFix/>
          </a:blip>
          <a:srcRect b="33929" l="0" r="0" t="26560"/>
          <a:stretch/>
        </p:blipFill>
        <p:spPr>
          <a:xfrm>
            <a:off x="1585625" y="2462825"/>
            <a:ext cx="5943600" cy="1762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07" name="Shape 207"/>
        <p:cNvGrpSpPr/>
        <p:nvPr/>
      </p:nvGrpSpPr>
      <p:grpSpPr>
        <a:xfrm>
          <a:off x="0" y="0"/>
          <a:ext cx="0" cy="0"/>
          <a:chOff x="0" y="0"/>
          <a:chExt cx="0" cy="0"/>
        </a:xfrm>
      </p:grpSpPr>
      <p:sp>
        <p:nvSpPr>
          <p:cNvPr id="208" name="Google Shape;208;p29"/>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Approach for design validation</a:t>
            </a:r>
            <a:endParaRPr b="1" sz="2620">
              <a:solidFill>
                <a:schemeClr val="lt1"/>
              </a:solidFill>
              <a:latin typeface="Atkinson Hyperlegible"/>
              <a:ea typeface="Atkinson Hyperlegible"/>
              <a:cs typeface="Atkinson Hyperlegible"/>
              <a:sym typeface="Atkinson Hyperlegible"/>
            </a:endParaRPr>
          </a:p>
        </p:txBody>
      </p:sp>
      <p:sp>
        <p:nvSpPr>
          <p:cNvPr id="210" name="Google Shape;21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1"/>
                </a:solidFill>
              </a:rPr>
              <a:t>Small, foundational testing first</a:t>
            </a:r>
            <a:endParaRPr sz="17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Verify connectivity to web server and database</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Display text found by the camera directly to the screen it is connected to</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Ping router from the car entrance module to verify connectivity</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QUERY database to ensure proper initialization</a:t>
            </a:r>
            <a:endParaRPr sz="1500">
              <a:solidFill>
                <a:schemeClr val="dk1"/>
              </a:solidFill>
            </a:endParaRPr>
          </a:p>
          <a:p>
            <a:pPr indent="0" lvl="0" marL="0" rtl="0" algn="l">
              <a:spcBef>
                <a:spcPts val="1200"/>
              </a:spcBef>
              <a:spcAft>
                <a:spcPts val="0"/>
              </a:spcAft>
              <a:buNone/>
            </a:pPr>
            <a:r>
              <a:rPr lang="en" sz="1700">
                <a:solidFill>
                  <a:schemeClr val="dk1"/>
                </a:solidFill>
              </a:rPr>
              <a:t>System testing comes next</a:t>
            </a:r>
            <a:endParaRPr sz="17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Packets should be sent to the database, should return student names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Screens directing drivers and students should update in no more than 5 seconds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Web server flags incoming requests to alter database to admin page</a:t>
            </a:r>
            <a:endParaRPr sz="1500">
              <a:solidFill>
                <a:schemeClr val="dk1"/>
              </a:solidFill>
            </a:endParaRPr>
          </a:p>
        </p:txBody>
      </p:sp>
      <p:sp>
        <p:nvSpPr>
          <p:cNvPr id="211" name="Google Shape;211;p29"/>
          <p:cNvSpPr txBox="1"/>
          <p:nvPr>
            <p:ph idx="12" type="sldNum"/>
          </p:nvPr>
        </p:nvSpPr>
        <p:spPr>
          <a:xfrm>
            <a:off x="7016255" y="4663225"/>
            <a:ext cx="20052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15" name="Shape 215"/>
        <p:cNvGrpSpPr/>
        <p:nvPr/>
      </p:nvGrpSpPr>
      <p:grpSpPr>
        <a:xfrm>
          <a:off x="0" y="0"/>
          <a:ext cx="0" cy="0"/>
          <a:chOff x="0" y="0"/>
          <a:chExt cx="0" cy="0"/>
        </a:xfrm>
      </p:grpSpPr>
      <p:sp>
        <p:nvSpPr>
          <p:cNvPr id="216" name="Google Shape;216;p30"/>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Economic analysis and budget</a:t>
            </a:r>
            <a:endParaRPr b="1" sz="2620">
              <a:solidFill>
                <a:schemeClr val="lt1"/>
              </a:solidFill>
              <a:latin typeface="Atkinson Hyperlegible"/>
              <a:ea typeface="Atkinson Hyperlegible"/>
              <a:cs typeface="Atkinson Hyperlegible"/>
              <a:sym typeface="Atkinson Hyperlegible"/>
            </a:endParaRPr>
          </a:p>
        </p:txBody>
      </p:sp>
      <p:sp>
        <p:nvSpPr>
          <p:cNvPr id="218" name="Google Shape;21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Economic Viability:</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National Center for Education: There are 70,055 Public </a:t>
            </a:r>
            <a:r>
              <a:rPr lang="en">
                <a:solidFill>
                  <a:schemeClr val="dk1"/>
                </a:solidFill>
              </a:rPr>
              <a:t>Pre-Kindergarten</a:t>
            </a:r>
            <a:r>
              <a:rPr lang="en">
                <a:solidFill>
                  <a:schemeClr val="dk1"/>
                </a:solidFill>
              </a:rPr>
              <a:t>, </a:t>
            </a:r>
            <a:r>
              <a:rPr lang="en">
                <a:solidFill>
                  <a:schemeClr val="dk1"/>
                </a:solidFill>
              </a:rPr>
              <a:t>Elementary</a:t>
            </a:r>
            <a:r>
              <a:rPr lang="en">
                <a:solidFill>
                  <a:schemeClr val="dk1"/>
                </a:solidFill>
              </a:rPr>
              <a:t> and Middle Schools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Each school has to have a pickup system</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Could also be used in Daycares and Private Schools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Save Parents &amp; Teachers Time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Allow them to spend time in more productive ways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Production costs for items and the 3D casing would decrease if ordered and produced in bulk</a:t>
            </a:r>
            <a:endParaRPr>
              <a:solidFill>
                <a:schemeClr val="dk1"/>
              </a:solidFill>
            </a:endParaRPr>
          </a:p>
        </p:txBody>
      </p:sp>
      <p:sp>
        <p:nvSpPr>
          <p:cNvPr id="219" name="Google Shape;219;p30"/>
          <p:cNvSpPr txBox="1"/>
          <p:nvPr>
            <p:ph idx="12" type="sldNum"/>
          </p:nvPr>
        </p:nvSpPr>
        <p:spPr>
          <a:xfrm>
            <a:off x="6862407" y="4663225"/>
            <a:ext cx="21588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23" name="Shape 223"/>
        <p:cNvGrpSpPr/>
        <p:nvPr/>
      </p:nvGrpSpPr>
      <p:grpSpPr>
        <a:xfrm>
          <a:off x="0" y="0"/>
          <a:ext cx="0" cy="0"/>
          <a:chOff x="0" y="0"/>
          <a:chExt cx="0" cy="0"/>
        </a:xfrm>
      </p:grpSpPr>
      <p:sp>
        <p:nvSpPr>
          <p:cNvPr id="224" name="Google Shape;224;p31"/>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Economic analysis and budget</a:t>
            </a:r>
            <a:endParaRPr b="1" sz="2620">
              <a:solidFill>
                <a:schemeClr val="lt1"/>
              </a:solidFill>
              <a:latin typeface="Atkinson Hyperlegible"/>
              <a:ea typeface="Atkinson Hyperlegible"/>
              <a:cs typeface="Atkinson Hyperlegible"/>
              <a:sym typeface="Atkinson Hyperlegible"/>
            </a:endParaRPr>
          </a:p>
        </p:txBody>
      </p:sp>
      <p:sp>
        <p:nvSpPr>
          <p:cNvPr id="226" name="Google Shape;22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Sustainability: </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Raspberry Pi, Camera and Zigbee are all available from multiple vendors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Standard software frameworks are used to ensure long-term support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Limited Customer maintenance: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Charging of rechargeable batteries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Yearly website database setup</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Software updates</a:t>
            </a:r>
            <a:endParaRPr>
              <a:solidFill>
                <a:schemeClr val="dk1"/>
              </a:solidFill>
            </a:endParaRPr>
          </a:p>
        </p:txBody>
      </p:sp>
      <p:sp>
        <p:nvSpPr>
          <p:cNvPr id="227" name="Google Shape;227;p31"/>
          <p:cNvSpPr txBox="1"/>
          <p:nvPr>
            <p:ph idx="12" type="sldNum"/>
          </p:nvPr>
        </p:nvSpPr>
        <p:spPr>
          <a:xfrm>
            <a:off x="6862407" y="4663225"/>
            <a:ext cx="21588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31" name="Shape 231"/>
        <p:cNvGrpSpPr/>
        <p:nvPr/>
      </p:nvGrpSpPr>
      <p:grpSpPr>
        <a:xfrm>
          <a:off x="0" y="0"/>
          <a:ext cx="0" cy="0"/>
          <a:chOff x="0" y="0"/>
          <a:chExt cx="0" cy="0"/>
        </a:xfrm>
      </p:grpSpPr>
      <p:sp>
        <p:nvSpPr>
          <p:cNvPr id="232" name="Google Shape;232;p32"/>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Economic analysis and budget</a:t>
            </a:r>
            <a:endParaRPr b="1" sz="2620">
              <a:solidFill>
                <a:schemeClr val="lt1"/>
              </a:solidFill>
              <a:latin typeface="Atkinson Hyperlegible"/>
              <a:ea typeface="Atkinson Hyperlegible"/>
              <a:cs typeface="Atkinson Hyperlegible"/>
              <a:sym typeface="Atkinson Hyperlegible"/>
            </a:endParaRPr>
          </a:p>
        </p:txBody>
      </p:sp>
      <p:sp>
        <p:nvSpPr>
          <p:cNvPr id="234" name="Google Shape;23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solidFill>
                  <a:schemeClr val="dk1"/>
                </a:solidFill>
              </a:rPr>
              <a:t>Manufacturability: </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Camera alignment/height needs to be correct to ensure licence plate can be read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Casing of Camera designed to withstand wind and rain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Modular Design allows for easy replacement of broken components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 the event that the license plate doesn’t match, we have a separate spot for pickup</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End-to-End is testable as well as </a:t>
            </a:r>
            <a:r>
              <a:rPr lang="en">
                <a:solidFill>
                  <a:schemeClr val="dk1"/>
                </a:solidFill>
              </a:rPr>
              <a:t>component</a:t>
            </a:r>
            <a:r>
              <a:rPr lang="en">
                <a:solidFill>
                  <a:schemeClr val="dk1"/>
                </a:solidFill>
              </a:rPr>
              <a:t> based testing</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Compliant with student privacy regulations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35" name="Google Shape;235;p32"/>
          <p:cNvSpPr txBox="1"/>
          <p:nvPr>
            <p:ph idx="12" type="sldNum"/>
          </p:nvPr>
        </p:nvSpPr>
        <p:spPr>
          <a:xfrm>
            <a:off x="6862407" y="4663225"/>
            <a:ext cx="21588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39" name="Shape 239"/>
        <p:cNvGrpSpPr/>
        <p:nvPr/>
      </p:nvGrpSpPr>
      <p:grpSpPr>
        <a:xfrm>
          <a:off x="0" y="0"/>
          <a:ext cx="0" cy="0"/>
          <a:chOff x="0" y="0"/>
          <a:chExt cx="0" cy="0"/>
        </a:xfrm>
      </p:grpSpPr>
      <p:sp>
        <p:nvSpPr>
          <p:cNvPr id="240" name="Google Shape;240;p33"/>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Economic analysis and budget</a:t>
            </a:r>
            <a:endParaRPr b="1" sz="2620">
              <a:solidFill>
                <a:schemeClr val="lt1"/>
              </a:solidFill>
              <a:latin typeface="Atkinson Hyperlegible"/>
              <a:ea typeface="Atkinson Hyperlegible"/>
              <a:cs typeface="Atkinson Hyperlegible"/>
              <a:sym typeface="Atkinson Hyperlegible"/>
            </a:endParaRPr>
          </a:p>
        </p:txBody>
      </p:sp>
      <p:sp>
        <p:nvSpPr>
          <p:cNvPr id="242" name="Google Shape;242;p33"/>
          <p:cNvSpPr txBox="1"/>
          <p:nvPr>
            <p:ph idx="1" type="body"/>
          </p:nvPr>
        </p:nvSpPr>
        <p:spPr>
          <a:xfrm>
            <a:off x="311700" y="109682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Car Entrance Module</a:t>
            </a:r>
            <a:endParaRPr sz="1600">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43" name="Google Shape;243;p33"/>
          <p:cNvSpPr txBox="1"/>
          <p:nvPr>
            <p:ph idx="12" type="sldNum"/>
          </p:nvPr>
        </p:nvSpPr>
        <p:spPr>
          <a:xfrm>
            <a:off x="6862407" y="4663225"/>
            <a:ext cx="21588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244" name="Google Shape;244;p33"/>
          <p:cNvGraphicFramePr/>
          <p:nvPr/>
        </p:nvGraphicFramePr>
        <p:xfrm>
          <a:off x="364725" y="1448250"/>
          <a:ext cx="3000000" cy="3000000"/>
        </p:xfrm>
        <a:graphic>
          <a:graphicData uri="http://schemas.openxmlformats.org/drawingml/2006/table">
            <a:tbl>
              <a:tblPr>
                <a:noFill/>
                <a:tableStyleId>{ABC9B4EA-1BC6-4B85-9D08-08C158A58346}</a:tableStyleId>
              </a:tblPr>
              <a:tblGrid>
                <a:gridCol w="1306025"/>
                <a:gridCol w="1306025"/>
                <a:gridCol w="1306025"/>
                <a:gridCol w="1306025"/>
              </a:tblGrid>
              <a:tr h="26705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Car Entrance Module</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Amount Needed</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Cost per Unit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Total Amount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Tripod</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$22</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$22</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Raspberry Pi</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Raspberry Pi Camera</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Camera Lens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Zigbee Antenna</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$27</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$27</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Rechargeable Battery</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7-inch display</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$38</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$38*</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Mounting Screws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$8 (600 pcs)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$8</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Wires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$10 (240 pcs)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4425">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(without including components provided)</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Times New Roman"/>
                          <a:ea typeface="Times New Roman"/>
                          <a:cs typeface="Times New Roman"/>
                          <a:sym typeface="Times New Roman"/>
                        </a:rPr>
                        <a:t>$107</a:t>
                      </a:r>
                      <a:endParaRPr b="1"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Cost</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Times New Roman"/>
                          <a:ea typeface="Times New Roman"/>
                          <a:cs typeface="Times New Roman"/>
                          <a:sym typeface="Times New Roman"/>
                        </a:rPr>
                        <a:t>$325</a:t>
                      </a:r>
                      <a:endParaRPr b="1"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45" name="Google Shape;245;p33"/>
          <p:cNvSpPr txBox="1"/>
          <p:nvPr/>
        </p:nvSpPr>
        <p:spPr>
          <a:xfrm>
            <a:off x="5789900" y="1201925"/>
            <a:ext cx="2976900" cy="969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b="1" lang="en" sz="1500">
                <a:solidFill>
                  <a:schemeClr val="dk1"/>
                </a:solidFill>
              </a:rPr>
              <a:t>Total* </a:t>
            </a:r>
            <a:r>
              <a:rPr b="1" lang="en" sz="1100">
                <a:solidFill>
                  <a:schemeClr val="dk1"/>
                </a:solidFill>
              </a:rPr>
              <a:t>(without including </a:t>
            </a:r>
            <a:r>
              <a:rPr b="1" lang="en" sz="1100">
                <a:solidFill>
                  <a:schemeClr val="dk1"/>
                </a:solidFill>
              </a:rPr>
              <a:t>components provided):</a:t>
            </a:r>
            <a:r>
              <a:rPr b="1" lang="en" sz="1500">
                <a:solidFill>
                  <a:schemeClr val="dk1"/>
                </a:solidFill>
              </a:rPr>
              <a:t> $107</a:t>
            </a:r>
            <a:endParaRPr b="1"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Total: $325</a:t>
            </a:r>
            <a:endParaRPr b="1" sz="1500">
              <a:solidFill>
                <a:schemeClr val="dk1"/>
              </a:solidFill>
            </a:endParaRPr>
          </a:p>
        </p:txBody>
      </p:sp>
      <p:pic>
        <p:nvPicPr>
          <p:cNvPr id="246" name="Google Shape;246;p33"/>
          <p:cNvPicPr preferRelativeResize="0"/>
          <p:nvPr/>
        </p:nvPicPr>
        <p:blipFill rotWithShape="1">
          <a:blip r:embed="rId3">
            <a:alphaModFix/>
          </a:blip>
          <a:srcRect b="8877" l="36300" r="3798" t="17938"/>
          <a:stretch/>
        </p:blipFill>
        <p:spPr>
          <a:xfrm>
            <a:off x="5925738" y="2093950"/>
            <a:ext cx="2705225" cy="2471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50" name="Shape 250"/>
        <p:cNvGrpSpPr/>
        <p:nvPr/>
      </p:nvGrpSpPr>
      <p:grpSpPr>
        <a:xfrm>
          <a:off x="0" y="0"/>
          <a:ext cx="0" cy="0"/>
          <a:chOff x="0" y="0"/>
          <a:chExt cx="0" cy="0"/>
        </a:xfrm>
      </p:grpSpPr>
      <p:sp>
        <p:nvSpPr>
          <p:cNvPr id="251" name="Google Shape;251;p3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Economic analysis and budget</a:t>
            </a:r>
            <a:endParaRPr b="1" sz="2620">
              <a:solidFill>
                <a:schemeClr val="lt1"/>
              </a:solidFill>
              <a:latin typeface="Atkinson Hyperlegible"/>
              <a:ea typeface="Atkinson Hyperlegible"/>
              <a:cs typeface="Atkinson Hyperlegible"/>
              <a:sym typeface="Atkinson Hyperlegible"/>
            </a:endParaRPr>
          </a:p>
        </p:txBody>
      </p:sp>
      <p:sp>
        <p:nvSpPr>
          <p:cNvPr id="253" name="Google Shape;253;p34"/>
          <p:cNvSpPr txBox="1"/>
          <p:nvPr>
            <p:ph idx="1" type="body"/>
          </p:nvPr>
        </p:nvSpPr>
        <p:spPr>
          <a:xfrm>
            <a:off x="311700" y="109682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Zone Pickup</a:t>
            </a:r>
            <a:r>
              <a:rPr lang="en" sz="1600">
                <a:solidFill>
                  <a:schemeClr val="dk1"/>
                </a:solidFill>
              </a:rPr>
              <a:t> Module</a:t>
            </a:r>
            <a:endParaRPr sz="1600">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54" name="Google Shape;254;p34"/>
          <p:cNvSpPr txBox="1"/>
          <p:nvPr>
            <p:ph idx="12" type="sldNum"/>
          </p:nvPr>
        </p:nvSpPr>
        <p:spPr>
          <a:xfrm>
            <a:off x="6862407" y="4663225"/>
            <a:ext cx="21588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255" name="Google Shape;255;p34"/>
          <p:cNvGraphicFramePr/>
          <p:nvPr/>
        </p:nvGraphicFramePr>
        <p:xfrm>
          <a:off x="364725" y="1448250"/>
          <a:ext cx="3000000" cy="3000000"/>
        </p:xfrm>
        <a:graphic>
          <a:graphicData uri="http://schemas.openxmlformats.org/drawingml/2006/table">
            <a:tbl>
              <a:tblPr>
                <a:noFill/>
                <a:tableStyleId>{ABC9B4EA-1BC6-4B85-9D08-08C158A58346}</a:tableStyleId>
              </a:tblPr>
              <a:tblGrid>
                <a:gridCol w="1306025"/>
                <a:gridCol w="1306025"/>
                <a:gridCol w="1306025"/>
                <a:gridCol w="1306025"/>
              </a:tblGrid>
              <a:tr h="26705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Zone Pickup</a:t>
                      </a:r>
                      <a:r>
                        <a:rPr lang="en" sz="1000">
                          <a:latin typeface="Times New Roman"/>
                          <a:ea typeface="Times New Roman"/>
                          <a:cs typeface="Times New Roman"/>
                          <a:sym typeface="Times New Roman"/>
                        </a:rPr>
                        <a:t> Module</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Amount Needed</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Cost per Unit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Total Amount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Raspberry Pi</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Zigbee Antenna</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$27</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$27</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Rechargeable Battery</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27-inch monitor</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$97</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$97*</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Push Buttons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6 (depending on # of zones)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$11.50 (24 pcs)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$11.50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Mounting Screws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$8 (600 pcs)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$8*</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Wires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~15</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$10 (240 pcs)</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HDMI Cord</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4425">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(without including components provided)</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Times New Roman"/>
                          <a:ea typeface="Times New Roman"/>
                          <a:cs typeface="Times New Roman"/>
                          <a:sym typeface="Times New Roman"/>
                        </a:rPr>
                        <a:t>$82.50</a:t>
                      </a:r>
                      <a:endParaRPr b="1"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Cost</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Times New Roman"/>
                          <a:ea typeface="Times New Roman"/>
                          <a:cs typeface="Times New Roman"/>
                          <a:sym typeface="Times New Roman"/>
                        </a:rPr>
                        <a:t>$272.50</a:t>
                      </a:r>
                      <a:endParaRPr b="1"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56" name="Google Shape;256;p34"/>
          <p:cNvSpPr txBox="1"/>
          <p:nvPr/>
        </p:nvSpPr>
        <p:spPr>
          <a:xfrm>
            <a:off x="5789900" y="1201925"/>
            <a:ext cx="2976900" cy="969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b="1" lang="en" sz="1500">
                <a:solidFill>
                  <a:schemeClr val="dk1"/>
                </a:solidFill>
              </a:rPr>
              <a:t>Total* </a:t>
            </a:r>
            <a:r>
              <a:rPr b="1" lang="en" sz="1100">
                <a:solidFill>
                  <a:schemeClr val="dk1"/>
                </a:solidFill>
              </a:rPr>
              <a:t>(without including components provided):</a:t>
            </a:r>
            <a:r>
              <a:rPr b="1" lang="en" sz="1500">
                <a:solidFill>
                  <a:schemeClr val="dk1"/>
                </a:solidFill>
              </a:rPr>
              <a:t> $82.50</a:t>
            </a:r>
            <a:endParaRPr b="1"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Total: $272.50</a:t>
            </a:r>
            <a:endParaRPr b="1" sz="1500">
              <a:solidFill>
                <a:schemeClr val="dk1"/>
              </a:solidFill>
            </a:endParaRPr>
          </a:p>
        </p:txBody>
      </p:sp>
      <p:pic>
        <p:nvPicPr>
          <p:cNvPr id="257" name="Google Shape;257;p34"/>
          <p:cNvPicPr preferRelativeResize="0"/>
          <p:nvPr/>
        </p:nvPicPr>
        <p:blipFill rotWithShape="1">
          <a:blip r:embed="rId3">
            <a:alphaModFix/>
          </a:blip>
          <a:srcRect b="30444" l="36753" r="0" t="30545"/>
          <a:stretch/>
        </p:blipFill>
        <p:spPr>
          <a:xfrm>
            <a:off x="5683850" y="2571750"/>
            <a:ext cx="3196600" cy="1476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61" name="Shape 261"/>
        <p:cNvGrpSpPr/>
        <p:nvPr/>
      </p:nvGrpSpPr>
      <p:grpSpPr>
        <a:xfrm>
          <a:off x="0" y="0"/>
          <a:ext cx="0" cy="0"/>
          <a:chOff x="0" y="0"/>
          <a:chExt cx="0" cy="0"/>
        </a:xfrm>
      </p:grpSpPr>
      <p:sp>
        <p:nvSpPr>
          <p:cNvPr id="262" name="Google Shape;262;p3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Economic analysis and budget</a:t>
            </a:r>
            <a:endParaRPr b="1" sz="2620">
              <a:solidFill>
                <a:schemeClr val="lt1"/>
              </a:solidFill>
              <a:latin typeface="Atkinson Hyperlegible"/>
              <a:ea typeface="Atkinson Hyperlegible"/>
              <a:cs typeface="Atkinson Hyperlegible"/>
              <a:sym typeface="Atkinson Hyperlegible"/>
            </a:endParaRPr>
          </a:p>
        </p:txBody>
      </p:sp>
      <p:sp>
        <p:nvSpPr>
          <p:cNvPr id="264" name="Google Shape;264;p35"/>
          <p:cNvSpPr txBox="1"/>
          <p:nvPr>
            <p:ph idx="1" type="body"/>
          </p:nvPr>
        </p:nvSpPr>
        <p:spPr>
          <a:xfrm>
            <a:off x="311700" y="1096825"/>
            <a:ext cx="4872300" cy="1741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Main Server Module</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 sz="1600">
                <a:solidFill>
                  <a:schemeClr val="dk1"/>
                </a:solidFill>
              </a:rPr>
              <a:t>Assuming server is hosted on a computer used by the school</a:t>
            </a:r>
            <a:endParaRPr sz="16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65" name="Google Shape;265;p35"/>
          <p:cNvSpPr txBox="1"/>
          <p:nvPr>
            <p:ph idx="12" type="sldNum"/>
          </p:nvPr>
        </p:nvSpPr>
        <p:spPr>
          <a:xfrm>
            <a:off x="6862407" y="4663225"/>
            <a:ext cx="21588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266" name="Google Shape;266;p35"/>
          <p:cNvGraphicFramePr/>
          <p:nvPr/>
        </p:nvGraphicFramePr>
        <p:xfrm>
          <a:off x="364725" y="2077675"/>
          <a:ext cx="3000000" cy="3000000"/>
        </p:xfrm>
        <a:graphic>
          <a:graphicData uri="http://schemas.openxmlformats.org/drawingml/2006/table">
            <a:tbl>
              <a:tblPr>
                <a:noFill/>
                <a:tableStyleId>{ABC9B4EA-1BC6-4B85-9D08-08C158A58346}</a:tableStyleId>
              </a:tblPr>
              <a:tblGrid>
                <a:gridCol w="1306025"/>
                <a:gridCol w="1306025"/>
                <a:gridCol w="1306025"/>
                <a:gridCol w="1306025"/>
              </a:tblGrid>
              <a:tr h="26705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Main Server Module</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Amount Needed</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Cost per Unit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Total Amount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r>
              <a:tr h="237875">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Cost</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Times New Roman"/>
                          <a:ea typeface="Times New Roman"/>
                          <a:cs typeface="Times New Roman"/>
                          <a:sym typeface="Times New Roman"/>
                        </a:rPr>
                        <a:t>$0</a:t>
                      </a:r>
                      <a:endParaRPr b="1"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67" name="Google Shape;267;p35"/>
          <p:cNvSpPr txBox="1"/>
          <p:nvPr/>
        </p:nvSpPr>
        <p:spPr>
          <a:xfrm>
            <a:off x="5638400" y="1108075"/>
            <a:ext cx="2976900" cy="969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b="1" lang="en" sz="1500">
                <a:solidFill>
                  <a:schemeClr val="dk1"/>
                </a:solidFill>
              </a:rPr>
              <a:t>Total: $0</a:t>
            </a:r>
            <a:endParaRPr b="1" sz="1500">
              <a:solidFill>
                <a:schemeClr val="dk1"/>
              </a:solidFill>
            </a:endParaRPr>
          </a:p>
        </p:txBody>
      </p:sp>
      <p:pic>
        <p:nvPicPr>
          <p:cNvPr id="268" name="Google Shape;268;p35"/>
          <p:cNvPicPr preferRelativeResize="0"/>
          <p:nvPr/>
        </p:nvPicPr>
        <p:blipFill rotWithShape="1">
          <a:blip r:embed="rId3">
            <a:alphaModFix/>
          </a:blip>
          <a:srcRect b="32905" l="57862" r="16384" t="37180"/>
          <a:stretch/>
        </p:blipFill>
        <p:spPr>
          <a:xfrm>
            <a:off x="6137900" y="1504925"/>
            <a:ext cx="1530650" cy="1333550"/>
          </a:xfrm>
          <a:prstGeom prst="rect">
            <a:avLst/>
          </a:prstGeom>
          <a:noFill/>
          <a:ln>
            <a:noFill/>
          </a:ln>
        </p:spPr>
      </p:pic>
      <p:sp>
        <p:nvSpPr>
          <p:cNvPr id="269" name="Google Shape;269;p35"/>
          <p:cNvSpPr txBox="1"/>
          <p:nvPr/>
        </p:nvSpPr>
        <p:spPr>
          <a:xfrm>
            <a:off x="364725" y="2636475"/>
            <a:ext cx="5273700" cy="16176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Char char="●"/>
            </a:pPr>
            <a:r>
              <a:rPr lang="en" sz="1600">
                <a:solidFill>
                  <a:schemeClr val="dk1"/>
                </a:solidFill>
              </a:rPr>
              <a:t>Kids Waiting</a:t>
            </a:r>
            <a:r>
              <a:rPr lang="en" sz="1600">
                <a:solidFill>
                  <a:schemeClr val="dk1"/>
                </a:solidFill>
              </a:rPr>
              <a:t> Module</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t/>
            </a:r>
            <a:endParaRPr sz="1800">
              <a:solidFill>
                <a:schemeClr val="dk1"/>
              </a:solidFill>
            </a:endParaRPr>
          </a:p>
        </p:txBody>
      </p:sp>
      <p:graphicFrame>
        <p:nvGraphicFramePr>
          <p:cNvPr id="270" name="Google Shape;270;p35"/>
          <p:cNvGraphicFramePr/>
          <p:nvPr/>
        </p:nvGraphicFramePr>
        <p:xfrm>
          <a:off x="364725" y="3123950"/>
          <a:ext cx="3000000" cy="3000000"/>
        </p:xfrm>
        <a:graphic>
          <a:graphicData uri="http://schemas.openxmlformats.org/drawingml/2006/table">
            <a:tbl>
              <a:tblPr>
                <a:noFill/>
                <a:tableStyleId>{ABC9B4EA-1BC6-4B85-9D08-08C158A58346}</a:tableStyleId>
              </a:tblPr>
              <a:tblGrid>
                <a:gridCol w="1306025"/>
                <a:gridCol w="1306025"/>
                <a:gridCol w="1306025"/>
                <a:gridCol w="1306025"/>
              </a:tblGrid>
              <a:tr h="26705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Main Server Module</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Amount Needed</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Cost per Unit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Total Amount</a:t>
                      </a:r>
                      <a:endParaRPr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r>
              <a:tr h="237875">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55-inch TV</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$180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$180*</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(without including components provided)</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Times New Roman"/>
                          <a:ea typeface="Times New Roman"/>
                          <a:cs typeface="Times New Roman"/>
                          <a:sym typeface="Times New Roman"/>
                        </a:rPr>
                        <a:t>$0</a:t>
                      </a:r>
                      <a:endParaRPr b="1"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37875">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Cost</a:t>
                      </a:r>
                      <a:endParaRPr b="1"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Times New Roman"/>
                          <a:ea typeface="Times New Roman"/>
                          <a:cs typeface="Times New Roman"/>
                          <a:sym typeface="Times New Roman"/>
                        </a:rPr>
                        <a:t>$180</a:t>
                      </a:r>
                      <a:endParaRPr b="1" sz="1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271" name="Google Shape;271;p35"/>
          <p:cNvPicPr preferRelativeResize="0"/>
          <p:nvPr/>
        </p:nvPicPr>
        <p:blipFill rotWithShape="1">
          <a:blip r:embed="rId4">
            <a:alphaModFix/>
          </a:blip>
          <a:srcRect b="33929" l="56362" r="9610" t="34099"/>
          <a:stretch/>
        </p:blipFill>
        <p:spPr>
          <a:xfrm>
            <a:off x="6055025" y="3471525"/>
            <a:ext cx="2022549" cy="1425875"/>
          </a:xfrm>
          <a:prstGeom prst="rect">
            <a:avLst/>
          </a:prstGeom>
          <a:noFill/>
          <a:ln>
            <a:noFill/>
          </a:ln>
        </p:spPr>
      </p:pic>
      <p:sp>
        <p:nvSpPr>
          <p:cNvPr id="272" name="Google Shape;272;p35"/>
          <p:cNvSpPr txBox="1"/>
          <p:nvPr/>
        </p:nvSpPr>
        <p:spPr>
          <a:xfrm>
            <a:off x="5695950" y="2636475"/>
            <a:ext cx="30000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Char char="●"/>
            </a:pPr>
            <a:r>
              <a:rPr b="1" lang="en" sz="1500">
                <a:solidFill>
                  <a:schemeClr val="dk1"/>
                </a:solidFill>
              </a:rPr>
              <a:t>Total* </a:t>
            </a:r>
            <a:r>
              <a:rPr b="1" lang="en" sz="1100">
                <a:solidFill>
                  <a:schemeClr val="dk1"/>
                </a:solidFill>
              </a:rPr>
              <a:t>(without including components provided):</a:t>
            </a:r>
            <a:r>
              <a:rPr b="1" lang="en" sz="1500">
                <a:solidFill>
                  <a:schemeClr val="dk1"/>
                </a:solidFill>
              </a:rPr>
              <a:t> $0</a:t>
            </a:r>
            <a:endParaRPr b="1"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Total: $180</a:t>
            </a:r>
            <a:endParaRPr b="1" sz="15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76" name="Shape 276"/>
        <p:cNvGrpSpPr/>
        <p:nvPr/>
      </p:nvGrpSpPr>
      <p:grpSpPr>
        <a:xfrm>
          <a:off x="0" y="0"/>
          <a:ext cx="0" cy="0"/>
          <a:chOff x="0" y="0"/>
          <a:chExt cx="0" cy="0"/>
        </a:xfrm>
      </p:grpSpPr>
      <p:sp>
        <p:nvSpPr>
          <p:cNvPr id="277" name="Google Shape;277;p3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Economic analysis and budget</a:t>
            </a:r>
            <a:endParaRPr b="1" sz="2620">
              <a:solidFill>
                <a:schemeClr val="lt1"/>
              </a:solidFill>
              <a:latin typeface="Atkinson Hyperlegible"/>
              <a:ea typeface="Atkinson Hyperlegible"/>
              <a:cs typeface="Atkinson Hyperlegible"/>
              <a:sym typeface="Atkinson Hyperlegible"/>
            </a:endParaRPr>
          </a:p>
        </p:txBody>
      </p:sp>
      <p:sp>
        <p:nvSpPr>
          <p:cNvPr id="279" name="Google Shape;279;p36"/>
          <p:cNvSpPr txBox="1"/>
          <p:nvPr>
            <p:ph idx="1" type="body"/>
          </p:nvPr>
        </p:nvSpPr>
        <p:spPr>
          <a:xfrm>
            <a:off x="311700" y="1096825"/>
            <a:ext cx="41904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Total budget without any components provided:</a:t>
            </a:r>
            <a:endParaRPr sz="1600">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80" name="Google Shape;280;p36"/>
          <p:cNvSpPr txBox="1"/>
          <p:nvPr>
            <p:ph idx="12" type="sldNum"/>
          </p:nvPr>
        </p:nvSpPr>
        <p:spPr>
          <a:xfrm>
            <a:off x="6862407" y="4663225"/>
            <a:ext cx="21588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
        <p:nvSpPr>
          <p:cNvPr id="281" name="Google Shape;281;p36"/>
          <p:cNvSpPr txBox="1"/>
          <p:nvPr/>
        </p:nvSpPr>
        <p:spPr>
          <a:xfrm>
            <a:off x="4689875" y="1096825"/>
            <a:ext cx="4190400" cy="11820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Char char="●"/>
            </a:pPr>
            <a:r>
              <a:rPr lang="en" sz="1600">
                <a:solidFill>
                  <a:schemeClr val="dk1"/>
                </a:solidFill>
              </a:rPr>
              <a:t>Total budget with provided components:</a:t>
            </a:r>
            <a:endParaRPr sz="1600">
              <a:solidFill>
                <a:schemeClr val="dk1"/>
              </a:solidFill>
            </a:endParaRPr>
          </a:p>
          <a:p>
            <a:pPr indent="0" lvl="0" marL="0" rtl="0" algn="l">
              <a:lnSpc>
                <a:spcPct val="115000"/>
              </a:lnSpc>
              <a:spcBef>
                <a:spcPts val="1200"/>
              </a:spcBef>
              <a:spcAft>
                <a:spcPts val="1200"/>
              </a:spcAft>
              <a:buNone/>
            </a:pPr>
            <a:r>
              <a:t/>
            </a:r>
            <a:endParaRPr sz="1800">
              <a:solidFill>
                <a:schemeClr val="dk1"/>
              </a:solidFill>
            </a:endParaRPr>
          </a:p>
        </p:txBody>
      </p:sp>
      <p:graphicFrame>
        <p:nvGraphicFramePr>
          <p:cNvPr id="282" name="Google Shape;282;p36"/>
          <p:cNvGraphicFramePr/>
          <p:nvPr/>
        </p:nvGraphicFramePr>
        <p:xfrm>
          <a:off x="311700" y="1813075"/>
          <a:ext cx="3000000" cy="3000000"/>
        </p:xfrm>
        <a:graphic>
          <a:graphicData uri="http://schemas.openxmlformats.org/drawingml/2006/table">
            <a:tbl>
              <a:tblPr>
                <a:noFill/>
                <a:tableStyleId>{ABC9B4EA-1BC6-4B85-9D08-08C158A58346}</a:tableStyleId>
              </a:tblPr>
              <a:tblGrid>
                <a:gridCol w="2130150"/>
                <a:gridCol w="2130150"/>
              </a:tblGrid>
              <a:tr h="425575">
                <a:tc>
                  <a:txBody>
                    <a:bodyPr/>
                    <a:lstStyle/>
                    <a:p>
                      <a:pPr indent="0" lvl="0" marL="0" rtl="0" algn="l">
                        <a:spcBef>
                          <a:spcPts val="0"/>
                        </a:spcBef>
                        <a:spcAft>
                          <a:spcPts val="0"/>
                        </a:spcAft>
                        <a:buNone/>
                      </a:pPr>
                      <a:r>
                        <a:rPr lang="en" sz="1200"/>
                        <a:t>Car Entrance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$325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7375">
                <a:tc>
                  <a:txBody>
                    <a:bodyPr/>
                    <a:lstStyle/>
                    <a:p>
                      <a:pPr indent="0" lvl="0" marL="0" rtl="0" algn="l">
                        <a:spcBef>
                          <a:spcPts val="0"/>
                        </a:spcBef>
                        <a:spcAft>
                          <a:spcPts val="0"/>
                        </a:spcAft>
                        <a:buNone/>
                      </a:pPr>
                      <a:r>
                        <a:rPr lang="en" sz="1200"/>
                        <a:t>Zone Pickup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$272.50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7375">
                <a:tc>
                  <a:txBody>
                    <a:bodyPr/>
                    <a:lstStyle/>
                    <a:p>
                      <a:pPr indent="0" lvl="0" marL="0" rtl="0" algn="l">
                        <a:spcBef>
                          <a:spcPts val="0"/>
                        </a:spcBef>
                        <a:spcAft>
                          <a:spcPts val="0"/>
                        </a:spcAft>
                        <a:buNone/>
                      </a:pPr>
                      <a:r>
                        <a:rPr lang="en" sz="1200"/>
                        <a:t>Main Server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7375">
                <a:tc>
                  <a:txBody>
                    <a:bodyPr/>
                    <a:lstStyle/>
                    <a:p>
                      <a:pPr indent="0" lvl="0" marL="0" rtl="0" algn="l">
                        <a:spcBef>
                          <a:spcPts val="0"/>
                        </a:spcBef>
                        <a:spcAft>
                          <a:spcPts val="0"/>
                        </a:spcAft>
                        <a:buNone/>
                      </a:pPr>
                      <a:r>
                        <a:rPr lang="en" sz="1200"/>
                        <a:t>Kids Waiting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$180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7375">
                <a:tc>
                  <a:txBody>
                    <a:bodyPr/>
                    <a:lstStyle/>
                    <a:p>
                      <a:pPr indent="0" lvl="0" marL="0" rtl="0" algn="l">
                        <a:spcBef>
                          <a:spcPts val="0"/>
                        </a:spcBef>
                        <a:spcAft>
                          <a:spcPts val="0"/>
                        </a:spcAft>
                        <a:buNone/>
                      </a:pPr>
                      <a:r>
                        <a:rPr b="1" lang="en"/>
                        <a:t>Total</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en"/>
                        <a:t>$777.50</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r>
            </a:tbl>
          </a:graphicData>
        </a:graphic>
      </p:graphicFrame>
      <p:graphicFrame>
        <p:nvGraphicFramePr>
          <p:cNvPr id="283" name="Google Shape;283;p36"/>
          <p:cNvGraphicFramePr/>
          <p:nvPr/>
        </p:nvGraphicFramePr>
        <p:xfrm>
          <a:off x="4689875" y="1813075"/>
          <a:ext cx="3000000" cy="3000000"/>
        </p:xfrm>
        <a:graphic>
          <a:graphicData uri="http://schemas.openxmlformats.org/drawingml/2006/table">
            <a:tbl>
              <a:tblPr>
                <a:noFill/>
                <a:tableStyleId>{ABC9B4EA-1BC6-4B85-9D08-08C158A58346}</a:tableStyleId>
              </a:tblPr>
              <a:tblGrid>
                <a:gridCol w="2095200"/>
                <a:gridCol w="2095200"/>
              </a:tblGrid>
              <a:tr h="391050">
                <a:tc>
                  <a:txBody>
                    <a:bodyPr/>
                    <a:lstStyle/>
                    <a:p>
                      <a:pPr indent="0" lvl="0" marL="0" rtl="0" algn="l">
                        <a:spcBef>
                          <a:spcPts val="0"/>
                        </a:spcBef>
                        <a:spcAft>
                          <a:spcPts val="0"/>
                        </a:spcAft>
                        <a:buNone/>
                      </a:pPr>
                      <a:r>
                        <a:rPr lang="en" sz="1200"/>
                        <a:t>Car Entrance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$107*</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1050">
                <a:tc>
                  <a:txBody>
                    <a:bodyPr/>
                    <a:lstStyle/>
                    <a:p>
                      <a:pPr indent="0" lvl="0" marL="0" rtl="0" algn="l">
                        <a:spcBef>
                          <a:spcPts val="0"/>
                        </a:spcBef>
                        <a:spcAft>
                          <a:spcPts val="0"/>
                        </a:spcAft>
                        <a:buNone/>
                      </a:pPr>
                      <a:r>
                        <a:rPr lang="en" sz="1200"/>
                        <a:t>Zone Pickup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$82.50*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1050">
                <a:tc>
                  <a:txBody>
                    <a:bodyPr/>
                    <a:lstStyle/>
                    <a:p>
                      <a:pPr indent="0" lvl="0" marL="0" rtl="0" algn="l">
                        <a:spcBef>
                          <a:spcPts val="0"/>
                        </a:spcBef>
                        <a:spcAft>
                          <a:spcPts val="0"/>
                        </a:spcAft>
                        <a:buNone/>
                      </a:pPr>
                      <a:r>
                        <a:rPr lang="en" sz="1200"/>
                        <a:t>Main Server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4075">
                <a:tc>
                  <a:txBody>
                    <a:bodyPr/>
                    <a:lstStyle/>
                    <a:p>
                      <a:pPr indent="0" lvl="0" marL="0" rtl="0" algn="l">
                        <a:spcBef>
                          <a:spcPts val="0"/>
                        </a:spcBef>
                        <a:spcAft>
                          <a:spcPts val="0"/>
                        </a:spcAft>
                        <a:buNone/>
                      </a:pPr>
                      <a:r>
                        <a:rPr lang="en" sz="1200"/>
                        <a:t>Kids Waiting Module</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t>$0*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6675">
                <a:tc>
                  <a:txBody>
                    <a:bodyPr/>
                    <a:lstStyle/>
                    <a:p>
                      <a:pPr indent="0" lvl="0" marL="0" rtl="0" algn="l">
                        <a:spcBef>
                          <a:spcPts val="0"/>
                        </a:spcBef>
                        <a:spcAft>
                          <a:spcPts val="0"/>
                        </a:spcAft>
                        <a:buNone/>
                      </a:pPr>
                      <a:r>
                        <a:rPr b="1" lang="en">
                          <a:highlight>
                            <a:srgbClr val="FFFF00"/>
                          </a:highlight>
                        </a:rPr>
                        <a:t>Total*</a:t>
                      </a:r>
                      <a:endParaRPr b="1">
                        <a:highlight>
                          <a:srgbClr val="FFFF00"/>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en">
                          <a:highlight>
                            <a:srgbClr val="FFFF00"/>
                          </a:highlight>
                        </a:rPr>
                        <a:t>$189.50</a:t>
                      </a:r>
                      <a:endParaRPr b="1">
                        <a:highlight>
                          <a:srgbClr val="FFFF00"/>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r>
            </a:tbl>
          </a:graphicData>
        </a:graphic>
      </p:graphicFrame>
      <p:sp>
        <p:nvSpPr>
          <p:cNvPr id="284" name="Google Shape;284;p36"/>
          <p:cNvSpPr txBox="1"/>
          <p:nvPr/>
        </p:nvSpPr>
        <p:spPr>
          <a:xfrm>
            <a:off x="358700" y="3891075"/>
            <a:ext cx="8662500" cy="516000"/>
          </a:xfrm>
          <a:prstGeom prst="rect">
            <a:avLst/>
          </a:prstGeom>
          <a:noFill/>
          <a:ln>
            <a:noFill/>
          </a:ln>
        </p:spPr>
        <p:txBody>
          <a:bodyPr anchorCtr="0" anchor="ctr" bIns="91425" lIns="91425" spcFirstLastPara="1" rIns="91425" wrap="square" tIns="91425">
            <a:noAutofit/>
          </a:bodyPr>
          <a:lstStyle/>
          <a:p>
            <a:pPr indent="-317500" lvl="0" marL="457200" rtl="0" algn="ctr">
              <a:spcBef>
                <a:spcPts val="0"/>
              </a:spcBef>
              <a:spcAft>
                <a:spcPts val="0"/>
              </a:spcAft>
              <a:buClr>
                <a:schemeClr val="dk1"/>
              </a:buClr>
              <a:buSzPts val="1400"/>
              <a:buChar char="●"/>
            </a:pPr>
            <a:r>
              <a:rPr lang="en">
                <a:solidFill>
                  <a:schemeClr val="dk1"/>
                </a:solidFill>
              </a:rPr>
              <a:t>Note*: 3D printed prototypes not included, FEDC grants $75 allotment for fabrication</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88" name="Shape 288"/>
        <p:cNvGrpSpPr/>
        <p:nvPr/>
      </p:nvGrpSpPr>
      <p:grpSpPr>
        <a:xfrm>
          <a:off x="0" y="0"/>
          <a:ext cx="0" cy="0"/>
          <a:chOff x="0" y="0"/>
          <a:chExt cx="0" cy="0"/>
        </a:xfrm>
      </p:grpSpPr>
      <p:sp>
        <p:nvSpPr>
          <p:cNvPr id="289" name="Google Shape;289;p3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Schedule of tasks - Pert Chart</a:t>
            </a:r>
            <a:endParaRPr b="1" sz="2620">
              <a:solidFill>
                <a:schemeClr val="lt1"/>
              </a:solidFill>
              <a:latin typeface="Atkinson Hyperlegible"/>
              <a:ea typeface="Atkinson Hyperlegible"/>
              <a:cs typeface="Atkinson Hyperlegible"/>
              <a:sym typeface="Atkinson Hyperlegible"/>
            </a:endParaRPr>
          </a:p>
        </p:txBody>
      </p:sp>
      <p:sp>
        <p:nvSpPr>
          <p:cNvPr id="291" name="Google Shape;291;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Sara</a:t>
            </a:r>
            <a:endParaRPr>
              <a:solidFill>
                <a:schemeClr val="dk1"/>
              </a:solidFill>
            </a:endParaRPr>
          </a:p>
        </p:txBody>
      </p:sp>
      <p:sp>
        <p:nvSpPr>
          <p:cNvPr id="292" name="Google Shape;292;p37"/>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pic>
        <p:nvPicPr>
          <p:cNvPr id="293" name="Google Shape;293;p37"/>
          <p:cNvPicPr preferRelativeResize="0"/>
          <p:nvPr/>
        </p:nvPicPr>
        <p:blipFill>
          <a:blip r:embed="rId3">
            <a:alphaModFix/>
          </a:blip>
          <a:stretch>
            <a:fillRect/>
          </a:stretch>
        </p:blipFill>
        <p:spPr>
          <a:xfrm>
            <a:off x="104925" y="993075"/>
            <a:ext cx="8934150" cy="3670143"/>
          </a:xfrm>
          <a:prstGeom prst="rect">
            <a:avLst/>
          </a:prstGeom>
          <a:noFill/>
          <a:ln>
            <a:noFill/>
          </a:ln>
        </p:spPr>
      </p:pic>
      <p:sp>
        <p:nvSpPr>
          <p:cNvPr id="294" name="Google Shape;294;p37"/>
          <p:cNvSpPr txBox="1"/>
          <p:nvPr/>
        </p:nvSpPr>
        <p:spPr>
          <a:xfrm>
            <a:off x="104925" y="4703625"/>
            <a:ext cx="7562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lt1"/>
                </a:solidFill>
              </a:rPr>
              <a:t>Critical Path: </a:t>
            </a:r>
            <a:r>
              <a:rPr lang="en" sz="1500">
                <a:solidFill>
                  <a:schemeClr val="lt1"/>
                </a:solidFill>
              </a:rPr>
              <a:t>45 days</a:t>
            </a:r>
            <a:endParaRPr>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98" name="Shape 298"/>
        <p:cNvGrpSpPr/>
        <p:nvPr/>
      </p:nvGrpSpPr>
      <p:grpSpPr>
        <a:xfrm>
          <a:off x="0" y="0"/>
          <a:ext cx="0" cy="0"/>
          <a:chOff x="0" y="0"/>
          <a:chExt cx="0" cy="0"/>
        </a:xfrm>
      </p:grpSpPr>
      <p:sp>
        <p:nvSpPr>
          <p:cNvPr id="299" name="Google Shape;299;p3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Schedule of tasks - Gantt Chart</a:t>
            </a:r>
            <a:endParaRPr b="1" sz="2620">
              <a:solidFill>
                <a:schemeClr val="lt1"/>
              </a:solidFill>
              <a:latin typeface="Atkinson Hyperlegible"/>
              <a:ea typeface="Atkinson Hyperlegible"/>
              <a:cs typeface="Atkinson Hyperlegible"/>
              <a:sym typeface="Atkinson Hyperlegible"/>
            </a:endParaRPr>
          </a:p>
        </p:txBody>
      </p:sp>
      <p:sp>
        <p:nvSpPr>
          <p:cNvPr id="301" name="Google Shape;301;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sp>
        <p:nvSpPr>
          <p:cNvPr id="302" name="Google Shape;302;p38"/>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pic>
        <p:nvPicPr>
          <p:cNvPr id="303" name="Google Shape;303;p38"/>
          <p:cNvPicPr preferRelativeResize="0"/>
          <p:nvPr/>
        </p:nvPicPr>
        <p:blipFill>
          <a:blip r:embed="rId3">
            <a:alphaModFix/>
          </a:blip>
          <a:stretch>
            <a:fillRect/>
          </a:stretch>
        </p:blipFill>
        <p:spPr>
          <a:xfrm>
            <a:off x="0" y="979311"/>
            <a:ext cx="9143999" cy="376272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307" name="Shape 307"/>
        <p:cNvGrpSpPr/>
        <p:nvPr/>
      </p:nvGrpSpPr>
      <p:grpSpPr>
        <a:xfrm>
          <a:off x="0" y="0"/>
          <a:ext cx="0" cy="0"/>
          <a:chOff x="0" y="0"/>
          <a:chExt cx="0" cy="0"/>
        </a:xfrm>
      </p:grpSpPr>
      <p:sp>
        <p:nvSpPr>
          <p:cNvPr id="308" name="Google Shape;308;p39"/>
          <p:cNvSpPr/>
          <p:nvPr/>
        </p:nvSpPr>
        <p:spPr>
          <a:xfrm>
            <a:off x="209850" y="1096825"/>
            <a:ext cx="8724300" cy="3603900"/>
          </a:xfrm>
          <a:prstGeom prst="roundRect">
            <a:avLst>
              <a:gd fmla="val 0"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Schedule of tasks </a:t>
            </a:r>
            <a:endParaRPr b="1" sz="2620">
              <a:solidFill>
                <a:schemeClr val="lt1"/>
              </a:solidFill>
              <a:latin typeface="Atkinson Hyperlegible"/>
              <a:ea typeface="Atkinson Hyperlegible"/>
              <a:cs typeface="Atkinson Hyperlegible"/>
              <a:sym typeface="Atkinson Hyperlegible"/>
            </a:endParaRPr>
          </a:p>
        </p:txBody>
      </p:sp>
      <p:sp>
        <p:nvSpPr>
          <p:cNvPr id="310" name="Google Shape;310;p39"/>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311" name="Google Shape;311;p39"/>
          <p:cNvGraphicFramePr/>
          <p:nvPr/>
        </p:nvGraphicFramePr>
        <p:xfrm>
          <a:off x="339313" y="1146175"/>
          <a:ext cx="3000000" cy="3000000"/>
        </p:xfrm>
        <a:graphic>
          <a:graphicData uri="http://schemas.openxmlformats.org/drawingml/2006/table">
            <a:tbl>
              <a:tblPr>
                <a:noFill/>
                <a:tableStyleId>{744CEC5E-61DC-4C3A-8721-04CED5D1D344}</a:tableStyleId>
              </a:tblPr>
              <a:tblGrid>
                <a:gridCol w="1608900"/>
                <a:gridCol w="902675"/>
                <a:gridCol w="749550"/>
                <a:gridCol w="485825"/>
                <a:gridCol w="4718425"/>
              </a:tblGrid>
              <a:tr h="220050">
                <a:tc>
                  <a:txBody>
                    <a:bodyPr/>
                    <a:lstStyle/>
                    <a:p>
                      <a:pPr indent="0" lvl="0" marL="0" rtl="0" algn="ctr">
                        <a:lnSpc>
                          <a:spcPct val="115000"/>
                        </a:lnSpc>
                        <a:spcBef>
                          <a:spcPts val="0"/>
                        </a:spcBef>
                        <a:spcAft>
                          <a:spcPts val="0"/>
                        </a:spcAft>
                        <a:buNone/>
                      </a:pPr>
                      <a:r>
                        <a:rPr b="1" lang="en" sz="1100"/>
                        <a:t>Name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Start Date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End date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Time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Task description:</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r>
              <a:tr h="275075">
                <a:tc>
                  <a:txBody>
                    <a:bodyPr/>
                    <a:lstStyle/>
                    <a:p>
                      <a:pPr indent="0" lvl="0" marL="0" rtl="0" algn="l">
                        <a:lnSpc>
                          <a:spcPct val="115000"/>
                        </a:lnSpc>
                        <a:spcBef>
                          <a:spcPts val="0"/>
                        </a:spcBef>
                        <a:spcAft>
                          <a:spcPts val="0"/>
                        </a:spcAft>
                        <a:buNone/>
                      </a:pPr>
                      <a:r>
                        <a:rPr b="1" lang="en" sz="1100"/>
                        <a:t>Order parts</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2/16/2026</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2/18/2026</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Order all remaining parts</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751850">
                <a:tc>
                  <a:txBody>
                    <a:bodyPr/>
                    <a:lstStyle/>
                    <a:p>
                      <a:pPr indent="0" lvl="0" marL="0" rtl="0" algn="l">
                        <a:lnSpc>
                          <a:spcPct val="115000"/>
                        </a:lnSpc>
                        <a:spcBef>
                          <a:spcPts val="0"/>
                        </a:spcBef>
                        <a:spcAft>
                          <a:spcPts val="0"/>
                        </a:spcAft>
                        <a:buNone/>
                      </a:pPr>
                      <a:r>
                        <a:rPr lang="en" sz="1100"/>
                        <a:t>Website: Designs</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2/16/2026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2/18/2026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Create wireframes for Parent Portal Page, Login Screen, Admin Dashboard, and Kids Pickup Status Screen, and get group approval of designs</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513450">
                <a:tc>
                  <a:txBody>
                    <a:bodyPr/>
                    <a:lstStyle/>
                    <a:p>
                      <a:pPr indent="0" lvl="0" marL="0" rtl="0" algn="l">
                        <a:lnSpc>
                          <a:spcPct val="115000"/>
                        </a:lnSpc>
                        <a:spcBef>
                          <a:spcPts val="0"/>
                        </a:spcBef>
                        <a:spcAft>
                          <a:spcPts val="0"/>
                        </a:spcAft>
                        <a:buNone/>
                      </a:pPr>
                      <a:r>
                        <a:rPr lang="en" sz="1100"/>
                        <a:t>Build Database</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2/16/2026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2/21/2026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Create database schema, basic CRUD queries and set up authentication-related database endpoints</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275075">
                <a:tc>
                  <a:txBody>
                    <a:bodyPr/>
                    <a:lstStyle/>
                    <a:p>
                      <a:pPr indent="0" lvl="0" marL="0" rtl="0" algn="l">
                        <a:lnSpc>
                          <a:spcPct val="115000"/>
                        </a:lnSpc>
                        <a:spcBef>
                          <a:spcPts val="0"/>
                        </a:spcBef>
                        <a:spcAft>
                          <a:spcPts val="0"/>
                        </a:spcAft>
                        <a:buNone/>
                      </a:pPr>
                      <a:r>
                        <a:rPr lang="en" sz="1100"/>
                        <a:t>Website: Frontend</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2/18/2026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2/25/2026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Implement approved designs with responsive layouts</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586800">
                <a:tc>
                  <a:txBody>
                    <a:bodyPr/>
                    <a:lstStyle/>
                    <a:p>
                      <a:pPr indent="0" lvl="0" marL="0" rtl="0" algn="l">
                        <a:lnSpc>
                          <a:spcPct val="115000"/>
                        </a:lnSpc>
                        <a:spcBef>
                          <a:spcPts val="0"/>
                        </a:spcBef>
                        <a:spcAft>
                          <a:spcPts val="0"/>
                        </a:spcAft>
                        <a:buNone/>
                      </a:pPr>
                      <a:r>
                        <a:rPr b="1" lang="en" sz="1100"/>
                        <a:t>Camera: Raspberry PI camera setup and operation</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2/18/2026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2/28/2026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Install Raspberry Pi OS, enable camera interface, install required libraries and test image capture functionality</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751850">
                <a:tc>
                  <a:txBody>
                    <a:bodyPr/>
                    <a:lstStyle/>
                    <a:p>
                      <a:pPr indent="0" lvl="0" marL="0" rtl="0" algn="l">
                        <a:lnSpc>
                          <a:spcPct val="115000"/>
                        </a:lnSpc>
                        <a:spcBef>
                          <a:spcPts val="0"/>
                        </a:spcBef>
                        <a:spcAft>
                          <a:spcPts val="0"/>
                        </a:spcAft>
                        <a:buNone/>
                      </a:pPr>
                      <a:r>
                        <a:rPr lang="en" sz="1100"/>
                        <a:t>Website: Backend Development</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2/21/2026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3/3/2026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Set up backend framework, connect it to the database, implement authentication and authorization logic, validate user input, and implement basic logging</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315" name="Shape 315"/>
        <p:cNvGrpSpPr/>
        <p:nvPr/>
      </p:nvGrpSpPr>
      <p:grpSpPr>
        <a:xfrm>
          <a:off x="0" y="0"/>
          <a:ext cx="0" cy="0"/>
          <a:chOff x="0" y="0"/>
          <a:chExt cx="0" cy="0"/>
        </a:xfrm>
      </p:grpSpPr>
      <p:sp>
        <p:nvSpPr>
          <p:cNvPr id="316" name="Google Shape;316;p40"/>
          <p:cNvSpPr/>
          <p:nvPr/>
        </p:nvSpPr>
        <p:spPr>
          <a:xfrm>
            <a:off x="209850" y="1096825"/>
            <a:ext cx="8724300" cy="3603900"/>
          </a:xfrm>
          <a:prstGeom prst="roundRect">
            <a:avLst>
              <a:gd fmla="val 0"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Schedule of tasks </a:t>
            </a:r>
            <a:endParaRPr b="1" sz="2620">
              <a:solidFill>
                <a:schemeClr val="lt1"/>
              </a:solidFill>
              <a:latin typeface="Atkinson Hyperlegible"/>
              <a:ea typeface="Atkinson Hyperlegible"/>
              <a:cs typeface="Atkinson Hyperlegible"/>
              <a:sym typeface="Atkinson Hyperlegible"/>
            </a:endParaRPr>
          </a:p>
        </p:txBody>
      </p:sp>
      <p:sp>
        <p:nvSpPr>
          <p:cNvPr id="318" name="Google Shape;318;p40"/>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319" name="Google Shape;319;p40"/>
          <p:cNvGraphicFramePr/>
          <p:nvPr/>
        </p:nvGraphicFramePr>
        <p:xfrm>
          <a:off x="209825" y="1089325"/>
          <a:ext cx="3000000" cy="3000000"/>
        </p:xfrm>
        <a:graphic>
          <a:graphicData uri="http://schemas.openxmlformats.org/drawingml/2006/table">
            <a:tbl>
              <a:tblPr>
                <a:noFill/>
                <a:tableStyleId>{744CEC5E-61DC-4C3A-8721-04CED5D1D344}</a:tableStyleId>
              </a:tblPr>
              <a:tblGrid>
                <a:gridCol w="2841350"/>
                <a:gridCol w="932450"/>
                <a:gridCol w="783950"/>
                <a:gridCol w="389150"/>
                <a:gridCol w="3777425"/>
              </a:tblGrid>
              <a:tr h="221300">
                <a:tc>
                  <a:txBody>
                    <a:bodyPr/>
                    <a:lstStyle/>
                    <a:p>
                      <a:pPr indent="0" lvl="0" marL="0" rtl="0" algn="ctr">
                        <a:lnSpc>
                          <a:spcPct val="115000"/>
                        </a:lnSpc>
                        <a:spcBef>
                          <a:spcPts val="0"/>
                        </a:spcBef>
                        <a:spcAft>
                          <a:spcPts val="0"/>
                        </a:spcAft>
                        <a:buNone/>
                      </a:pPr>
                      <a:r>
                        <a:rPr b="1" lang="en" sz="1100"/>
                        <a:t>Name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Start Date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End date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Time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Task description:</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r>
              <a:tr h="504050">
                <a:tc>
                  <a:txBody>
                    <a:bodyPr/>
                    <a:lstStyle/>
                    <a:p>
                      <a:pPr indent="0" lvl="0" marL="0" rtl="0" algn="l">
                        <a:lnSpc>
                          <a:spcPct val="115000"/>
                        </a:lnSpc>
                        <a:spcBef>
                          <a:spcPts val="0"/>
                        </a:spcBef>
                        <a:spcAft>
                          <a:spcPts val="0"/>
                        </a:spcAft>
                        <a:buNone/>
                      </a:pPr>
                      <a:r>
                        <a:rPr b="1" lang="en" sz="1100"/>
                        <a:t>Camera: Raspberry Pi Licence Recognition</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2/28/2026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3/21/2026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14</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Develop license plate recognition system using Raspberry Pi camera</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438725">
                <a:tc>
                  <a:txBody>
                    <a:bodyPr/>
                    <a:lstStyle/>
                    <a:p>
                      <a:pPr indent="0" lvl="0" marL="0" rtl="0" algn="l">
                        <a:lnSpc>
                          <a:spcPct val="115000"/>
                        </a:lnSpc>
                        <a:spcBef>
                          <a:spcPts val="0"/>
                        </a:spcBef>
                        <a:spcAft>
                          <a:spcPts val="0"/>
                        </a:spcAft>
                        <a:buNone/>
                      </a:pPr>
                      <a:r>
                        <a:rPr lang="en" sz="1100"/>
                        <a:t>3D casing</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2/28/2026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3/7/2026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Design casing for Raspberry Pi camera system</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738075">
                <a:tc>
                  <a:txBody>
                    <a:bodyPr/>
                    <a:lstStyle/>
                    <a:p>
                      <a:pPr indent="0" lvl="0" marL="0" rtl="0" algn="l">
                        <a:lnSpc>
                          <a:spcPct val="115000"/>
                        </a:lnSpc>
                        <a:spcBef>
                          <a:spcPts val="0"/>
                        </a:spcBef>
                        <a:spcAft>
                          <a:spcPts val="0"/>
                        </a:spcAft>
                        <a:buNone/>
                      </a:pPr>
                      <a:r>
                        <a:rPr lang="en" sz="1100"/>
                        <a:t>Server: setup and connection</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3/3/2026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3/7/2026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Configure server environment and set environment variables, and ensure secure database connectivity</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642425">
                <a:tc>
                  <a:txBody>
                    <a:bodyPr/>
                    <a:lstStyle/>
                    <a:p>
                      <a:pPr indent="0" lvl="0" marL="0" rtl="0" algn="l">
                        <a:lnSpc>
                          <a:spcPct val="115000"/>
                        </a:lnSpc>
                        <a:spcBef>
                          <a:spcPts val="0"/>
                        </a:spcBef>
                        <a:spcAft>
                          <a:spcPts val="0"/>
                        </a:spcAft>
                        <a:buNone/>
                      </a:pPr>
                      <a:r>
                        <a:rPr lang="en" sz="1100"/>
                        <a:t>Write SQL Database Querying For Results</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3/3/2026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3/7/2026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Write SQL Queries for pickup to match license plate numbers to authorized parents</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344700">
                <a:tc>
                  <a:txBody>
                    <a:bodyPr/>
                    <a:lstStyle/>
                    <a:p>
                      <a:pPr indent="0" lvl="0" marL="0" rtl="0" algn="l">
                        <a:lnSpc>
                          <a:spcPct val="115000"/>
                        </a:lnSpc>
                        <a:spcBef>
                          <a:spcPts val="0"/>
                        </a:spcBef>
                        <a:spcAft>
                          <a:spcPts val="0"/>
                        </a:spcAft>
                        <a:buNone/>
                      </a:pPr>
                      <a:r>
                        <a:rPr lang="en" sz="1100"/>
                        <a:t>Website: Backend Connection to Server</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3/3/2026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3/6/2026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Deploy backend application to server environment</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344700">
                <a:tc>
                  <a:txBody>
                    <a:bodyPr/>
                    <a:lstStyle/>
                    <a:p>
                      <a:pPr indent="0" lvl="0" marL="0" rtl="0" algn="l">
                        <a:lnSpc>
                          <a:spcPct val="115000"/>
                        </a:lnSpc>
                        <a:spcBef>
                          <a:spcPts val="0"/>
                        </a:spcBef>
                        <a:spcAft>
                          <a:spcPts val="0"/>
                        </a:spcAft>
                        <a:buNone/>
                      </a:pPr>
                      <a:r>
                        <a:rPr lang="en" sz="1100"/>
                        <a:t>Zigbee: setup</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3/6/2026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t>3/18/2026</a:t>
                      </a:r>
                      <a:endParaRPr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Install Zigbee coordinator and modules</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323" name="Shape 323"/>
        <p:cNvGrpSpPr/>
        <p:nvPr/>
      </p:nvGrpSpPr>
      <p:grpSpPr>
        <a:xfrm>
          <a:off x="0" y="0"/>
          <a:ext cx="0" cy="0"/>
          <a:chOff x="0" y="0"/>
          <a:chExt cx="0" cy="0"/>
        </a:xfrm>
      </p:grpSpPr>
      <p:sp>
        <p:nvSpPr>
          <p:cNvPr id="324" name="Google Shape;324;p41"/>
          <p:cNvSpPr/>
          <p:nvPr/>
        </p:nvSpPr>
        <p:spPr>
          <a:xfrm>
            <a:off x="209850" y="1096825"/>
            <a:ext cx="8724300" cy="3707100"/>
          </a:xfrm>
          <a:prstGeom prst="roundRect">
            <a:avLst>
              <a:gd fmla="val 0"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Schedule of tasks </a:t>
            </a:r>
            <a:endParaRPr b="1" sz="2620">
              <a:solidFill>
                <a:schemeClr val="lt1"/>
              </a:solidFill>
              <a:latin typeface="Atkinson Hyperlegible"/>
              <a:ea typeface="Atkinson Hyperlegible"/>
              <a:cs typeface="Atkinson Hyperlegible"/>
              <a:sym typeface="Atkinson Hyperlegible"/>
            </a:endParaRPr>
          </a:p>
        </p:txBody>
      </p:sp>
      <p:sp>
        <p:nvSpPr>
          <p:cNvPr id="326" name="Google Shape;326;p41"/>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graphicFrame>
        <p:nvGraphicFramePr>
          <p:cNvPr id="327" name="Google Shape;327;p41"/>
          <p:cNvGraphicFramePr/>
          <p:nvPr/>
        </p:nvGraphicFramePr>
        <p:xfrm>
          <a:off x="339425" y="1131100"/>
          <a:ext cx="3000000" cy="3000000"/>
        </p:xfrm>
        <a:graphic>
          <a:graphicData uri="http://schemas.openxmlformats.org/drawingml/2006/table">
            <a:tbl>
              <a:tblPr>
                <a:noFill/>
                <a:tableStyleId>{744CEC5E-61DC-4C3A-8721-04CED5D1D344}</a:tableStyleId>
              </a:tblPr>
              <a:tblGrid>
                <a:gridCol w="2368650"/>
                <a:gridCol w="857825"/>
                <a:gridCol w="880050"/>
                <a:gridCol w="430725"/>
                <a:gridCol w="3927900"/>
              </a:tblGrid>
              <a:tr h="223100">
                <a:tc>
                  <a:txBody>
                    <a:bodyPr/>
                    <a:lstStyle/>
                    <a:p>
                      <a:pPr indent="0" lvl="0" marL="0" rtl="0" algn="ctr">
                        <a:lnSpc>
                          <a:spcPct val="115000"/>
                        </a:lnSpc>
                        <a:spcBef>
                          <a:spcPts val="0"/>
                        </a:spcBef>
                        <a:spcAft>
                          <a:spcPts val="0"/>
                        </a:spcAft>
                        <a:buNone/>
                      </a:pPr>
                      <a:r>
                        <a:rPr b="1" lang="en" sz="1100"/>
                        <a:t>Name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Start Date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End date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Time</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c>
                  <a:txBody>
                    <a:bodyPr/>
                    <a:lstStyle/>
                    <a:p>
                      <a:pPr indent="0" lvl="0" marL="0" rtl="0" algn="ctr">
                        <a:lnSpc>
                          <a:spcPct val="115000"/>
                        </a:lnSpc>
                        <a:spcBef>
                          <a:spcPts val="0"/>
                        </a:spcBef>
                        <a:spcAft>
                          <a:spcPts val="0"/>
                        </a:spcAft>
                        <a:buNone/>
                      </a:pPr>
                      <a:r>
                        <a:rPr b="1" lang="en" sz="1100"/>
                        <a:t>Task description:</a:t>
                      </a:r>
                      <a:endParaRPr b="1" sz="11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D6D6D6"/>
                    </a:solidFill>
                  </a:tcPr>
                </a:tc>
              </a:tr>
              <a:tr h="520575">
                <a:tc>
                  <a:txBody>
                    <a:bodyPr/>
                    <a:lstStyle/>
                    <a:p>
                      <a:pPr indent="0" lvl="0" marL="0" rtl="0" algn="l">
                        <a:lnSpc>
                          <a:spcPct val="115000"/>
                        </a:lnSpc>
                        <a:spcBef>
                          <a:spcPts val="0"/>
                        </a:spcBef>
                        <a:spcAft>
                          <a:spcPts val="0"/>
                        </a:spcAft>
                        <a:buNone/>
                      </a:pPr>
                      <a:r>
                        <a:rPr lang="en"/>
                        <a:t>Zigbee: Connection from hardware to the Website</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3/18/2026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3/20/2026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Configure server to update Website when hardware sends plate</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762300">
                <a:tc>
                  <a:txBody>
                    <a:bodyPr/>
                    <a:lstStyle/>
                    <a:p>
                      <a:pPr indent="0" lvl="0" marL="0" rtl="0" algn="l">
                        <a:lnSpc>
                          <a:spcPct val="115000"/>
                        </a:lnSpc>
                        <a:spcBef>
                          <a:spcPts val="0"/>
                        </a:spcBef>
                        <a:spcAft>
                          <a:spcPts val="0"/>
                        </a:spcAft>
                        <a:buNone/>
                      </a:pPr>
                      <a:r>
                        <a:rPr lang="en"/>
                        <a:t>Camera: Raspberry PI Screen Response Output</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3/21/2026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3/26/2026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Make the screen show green when recognized license plate number is verified &amp; handle error or unrecognized plate cases</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1004000">
                <a:tc>
                  <a:txBody>
                    <a:bodyPr/>
                    <a:lstStyle/>
                    <a:p>
                      <a:pPr indent="0" lvl="0" marL="0" rtl="0" algn="l">
                        <a:lnSpc>
                          <a:spcPct val="115000"/>
                        </a:lnSpc>
                        <a:spcBef>
                          <a:spcPts val="0"/>
                        </a:spcBef>
                        <a:spcAft>
                          <a:spcPts val="0"/>
                        </a:spcAft>
                        <a:buNone/>
                      </a:pPr>
                      <a:r>
                        <a:rPr b="1" lang="en"/>
                        <a:t>Server: </a:t>
                      </a:r>
                      <a:r>
                        <a:rPr b="1" lang="en"/>
                        <a:t>Receive</a:t>
                      </a:r>
                      <a:r>
                        <a:rPr b="1" lang="en"/>
                        <a:t> camera info and query the database</a:t>
                      </a:r>
                      <a:endParaRPr b="1"/>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3/26/2026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3/30/2026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Implement server-side endpoint to receive license plate data from Raspberry Pi, validate input, and query database for matching parent/student</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762300">
                <a:tc>
                  <a:txBody>
                    <a:bodyPr/>
                    <a:lstStyle/>
                    <a:p>
                      <a:pPr indent="0" lvl="0" marL="0" rtl="0" algn="l">
                        <a:lnSpc>
                          <a:spcPct val="115000"/>
                        </a:lnSpc>
                        <a:spcBef>
                          <a:spcPts val="0"/>
                        </a:spcBef>
                        <a:spcAft>
                          <a:spcPts val="0"/>
                        </a:spcAft>
                        <a:buNone/>
                      </a:pPr>
                      <a:r>
                        <a:rPr lang="en"/>
                        <a:t>Server: Format Server Responses to Website and Display</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3/30/2026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4/2/2026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Send verification results to both classroom display system and website frontend</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278875">
                <a:tc>
                  <a:txBody>
                    <a:bodyPr/>
                    <a:lstStyle/>
                    <a:p>
                      <a:pPr indent="0" lvl="0" marL="0" rtl="0" algn="l">
                        <a:lnSpc>
                          <a:spcPct val="115000"/>
                        </a:lnSpc>
                        <a:spcBef>
                          <a:spcPts val="0"/>
                        </a:spcBef>
                        <a:spcAft>
                          <a:spcPts val="0"/>
                        </a:spcAft>
                        <a:buNone/>
                      </a:pPr>
                      <a:r>
                        <a:rPr b="1" lang="en"/>
                        <a:t>System testing</a:t>
                      </a:r>
                      <a:endParaRPr b="1"/>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4/2/2026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a:t>4/9/2026</a:t>
                      </a:r>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Test end-to-end functionality of entire system</a:t>
                      </a:r>
                      <a:endParaRPr/>
                    </a:p>
                  </a:txBody>
                  <a:tcPr marT="19050" marB="19050" marR="28575" marL="28575">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331" name="Shape 331"/>
        <p:cNvGrpSpPr/>
        <p:nvPr/>
      </p:nvGrpSpPr>
      <p:grpSpPr>
        <a:xfrm>
          <a:off x="0" y="0"/>
          <a:ext cx="0" cy="0"/>
          <a:chOff x="0" y="0"/>
          <a:chExt cx="0" cy="0"/>
        </a:xfrm>
      </p:grpSpPr>
      <p:sp>
        <p:nvSpPr>
          <p:cNvPr id="332" name="Google Shape;332;p42"/>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Project management and teamwork</a:t>
            </a:r>
            <a:endParaRPr b="1" sz="2620">
              <a:solidFill>
                <a:schemeClr val="lt1"/>
              </a:solidFill>
              <a:latin typeface="Atkinson Hyperlegible"/>
              <a:ea typeface="Atkinson Hyperlegible"/>
              <a:cs typeface="Atkinson Hyperlegible"/>
              <a:sym typeface="Atkinson Hyperlegible"/>
            </a:endParaRPr>
          </a:p>
        </p:txBody>
      </p:sp>
      <p:sp>
        <p:nvSpPr>
          <p:cNvPr id="334" name="Google Shape;334;p42"/>
          <p:cNvSpPr txBox="1"/>
          <p:nvPr>
            <p:ph idx="1" type="body"/>
          </p:nvPr>
        </p:nvSpPr>
        <p:spPr>
          <a:xfrm>
            <a:off x="311700" y="1152475"/>
            <a:ext cx="1525800" cy="16632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solidFill>
                  <a:schemeClr val="dk1"/>
                </a:solidFill>
              </a:rPr>
              <a:t>Haya</a:t>
            </a:r>
            <a:endParaRPr>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Hardware Design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OCR Design</a:t>
            </a:r>
            <a:endParaRPr sz="1400">
              <a:solidFill>
                <a:schemeClr val="dk1"/>
              </a:solidFill>
            </a:endParaRPr>
          </a:p>
        </p:txBody>
      </p:sp>
      <p:sp>
        <p:nvSpPr>
          <p:cNvPr id="335" name="Google Shape;335;p42"/>
          <p:cNvSpPr txBox="1"/>
          <p:nvPr>
            <p:ph idx="12" type="sldNum"/>
          </p:nvPr>
        </p:nvSpPr>
        <p:spPr>
          <a:xfrm>
            <a:off x="7214100" y="4700725"/>
            <a:ext cx="1807200" cy="356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
        <p:nvSpPr>
          <p:cNvPr id="336" name="Google Shape;336;p42"/>
          <p:cNvSpPr txBox="1"/>
          <p:nvPr>
            <p:ph idx="1" type="body"/>
          </p:nvPr>
        </p:nvSpPr>
        <p:spPr>
          <a:xfrm>
            <a:off x="1567400" y="1152475"/>
            <a:ext cx="1760100" cy="16632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solidFill>
                  <a:schemeClr val="dk1"/>
                </a:solidFill>
              </a:rPr>
              <a:t>Jake</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Web Applications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OCR Design</a:t>
            </a:r>
            <a:endParaRPr sz="1400">
              <a:solidFill>
                <a:schemeClr val="dk1"/>
              </a:solidFill>
            </a:endParaRPr>
          </a:p>
        </p:txBody>
      </p:sp>
      <p:sp>
        <p:nvSpPr>
          <p:cNvPr id="337" name="Google Shape;337;p42"/>
          <p:cNvSpPr txBox="1"/>
          <p:nvPr>
            <p:ph idx="1" type="body"/>
          </p:nvPr>
        </p:nvSpPr>
        <p:spPr>
          <a:xfrm>
            <a:off x="311700" y="2855725"/>
            <a:ext cx="1525800" cy="17532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solidFill>
                  <a:schemeClr val="dk1"/>
                </a:solidFill>
              </a:rPr>
              <a:t>Jayden</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Hardware Design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Systems Design</a:t>
            </a:r>
            <a:endParaRPr sz="1400">
              <a:solidFill>
                <a:schemeClr val="dk1"/>
              </a:solidFill>
            </a:endParaRPr>
          </a:p>
        </p:txBody>
      </p:sp>
      <p:sp>
        <p:nvSpPr>
          <p:cNvPr id="338" name="Google Shape;338;p42"/>
          <p:cNvSpPr txBox="1"/>
          <p:nvPr>
            <p:ph idx="1" type="body"/>
          </p:nvPr>
        </p:nvSpPr>
        <p:spPr>
          <a:xfrm>
            <a:off x="3046200" y="1152475"/>
            <a:ext cx="1525800" cy="1985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solidFill>
                  <a:schemeClr val="dk1"/>
                </a:solidFill>
              </a:rPr>
              <a:t>Jack</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Team Leader</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Systems Design</a:t>
            </a:r>
            <a:endParaRPr sz="1400">
              <a:solidFill>
                <a:schemeClr val="dk1"/>
              </a:solidFill>
            </a:endParaRPr>
          </a:p>
        </p:txBody>
      </p:sp>
      <p:sp>
        <p:nvSpPr>
          <p:cNvPr id="339" name="Google Shape;339;p42"/>
          <p:cNvSpPr txBox="1"/>
          <p:nvPr>
            <p:ph idx="1" type="body"/>
          </p:nvPr>
        </p:nvSpPr>
        <p:spPr>
          <a:xfrm>
            <a:off x="1567400" y="2855725"/>
            <a:ext cx="1917600" cy="16170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solidFill>
                  <a:schemeClr val="dk1"/>
                </a:solidFill>
              </a:rPr>
              <a:t>Sara</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Database Design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Web applications</a:t>
            </a:r>
            <a:endParaRPr sz="1400">
              <a:solidFill>
                <a:schemeClr val="dk1"/>
              </a:solidFill>
            </a:endParaRPr>
          </a:p>
        </p:txBody>
      </p:sp>
      <p:pic>
        <p:nvPicPr>
          <p:cNvPr id="340" name="Google Shape;340;p42" title="62a0b623c8796a42e0a62cbf.png"/>
          <p:cNvPicPr preferRelativeResize="0"/>
          <p:nvPr/>
        </p:nvPicPr>
        <p:blipFill>
          <a:blip r:embed="rId3">
            <a:alphaModFix/>
          </a:blip>
          <a:stretch>
            <a:fillRect/>
          </a:stretch>
        </p:blipFill>
        <p:spPr>
          <a:xfrm>
            <a:off x="5637863" y="2609225"/>
            <a:ext cx="2466975" cy="1847850"/>
          </a:xfrm>
          <a:prstGeom prst="rect">
            <a:avLst/>
          </a:prstGeom>
          <a:noFill/>
          <a:ln>
            <a:noFill/>
          </a:ln>
        </p:spPr>
      </p:pic>
      <p:sp>
        <p:nvSpPr>
          <p:cNvPr id="341" name="Google Shape;341;p42"/>
          <p:cNvSpPr txBox="1"/>
          <p:nvPr/>
        </p:nvSpPr>
        <p:spPr>
          <a:xfrm>
            <a:off x="4981963" y="1399225"/>
            <a:ext cx="3778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u="sng">
                <a:solidFill>
                  <a:schemeClr val="hlink"/>
                </a:solidFill>
                <a:hlinkClick r:id="rId4"/>
              </a:rPr>
              <a:t>monday.com</a:t>
            </a:r>
            <a:r>
              <a:rPr lang="en" sz="1600">
                <a:solidFill>
                  <a:schemeClr val="dk2"/>
                </a:solidFill>
              </a:rPr>
              <a:t> will be used for project management. It will track dependencies and division of labor,</a:t>
            </a:r>
            <a:r>
              <a:rPr lang="en" sz="1600">
                <a:solidFill>
                  <a:schemeClr val="dk2"/>
                </a:solidFill>
              </a:rPr>
              <a:t> as well as provide a timeline for the project</a:t>
            </a:r>
            <a:endParaRPr sz="1600">
              <a:solidFill>
                <a:schemeClr val="dk2"/>
              </a:solidFill>
            </a:endParaRPr>
          </a:p>
        </p:txBody>
      </p:sp>
      <p:sp>
        <p:nvSpPr>
          <p:cNvPr id="342" name="Google Shape;342;p42"/>
          <p:cNvSpPr txBox="1"/>
          <p:nvPr>
            <p:ph idx="1" type="body"/>
          </p:nvPr>
        </p:nvSpPr>
        <p:spPr>
          <a:xfrm>
            <a:off x="3046200" y="2855725"/>
            <a:ext cx="2058900" cy="16170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rPr lang="en">
                <a:solidFill>
                  <a:schemeClr val="dk1"/>
                </a:solidFill>
              </a:rPr>
              <a:t>Everyone</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Software Engineering</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Documentation/ Reports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Testing</a:t>
            </a:r>
            <a:endParaRPr sz="14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346" name="Shape 346"/>
        <p:cNvGrpSpPr/>
        <p:nvPr/>
      </p:nvGrpSpPr>
      <p:grpSpPr>
        <a:xfrm>
          <a:off x="0" y="0"/>
          <a:ext cx="0" cy="0"/>
          <a:chOff x="0" y="0"/>
          <a:chExt cx="0" cy="0"/>
        </a:xfrm>
      </p:grpSpPr>
      <p:sp>
        <p:nvSpPr>
          <p:cNvPr id="347" name="Google Shape;347;p43"/>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Societal, safety and environmental analysis</a:t>
            </a:r>
            <a:endParaRPr b="1" sz="2620">
              <a:solidFill>
                <a:schemeClr val="lt1"/>
              </a:solidFill>
              <a:latin typeface="Atkinson Hyperlegible"/>
              <a:ea typeface="Atkinson Hyperlegible"/>
              <a:cs typeface="Atkinson Hyperlegible"/>
              <a:sym typeface="Atkinson Hyperlegible"/>
            </a:endParaRPr>
          </a:p>
          <a:p>
            <a:pPr indent="0" lvl="0" marL="0" rtl="0" algn="l">
              <a:spcBef>
                <a:spcPts val="0"/>
              </a:spcBef>
              <a:spcAft>
                <a:spcPts val="0"/>
              </a:spcAft>
              <a:buSzPts val="990"/>
              <a:buNone/>
            </a:pPr>
            <a:r>
              <a:t/>
            </a:r>
            <a:endParaRPr b="1" sz="2620">
              <a:solidFill>
                <a:schemeClr val="lt1"/>
              </a:solidFill>
              <a:latin typeface="Atkinson Hyperlegible"/>
              <a:ea typeface="Atkinson Hyperlegible"/>
              <a:cs typeface="Atkinson Hyperlegible"/>
              <a:sym typeface="Atkinson Hyperlegible"/>
            </a:endParaRPr>
          </a:p>
        </p:txBody>
      </p:sp>
      <p:sp>
        <p:nvSpPr>
          <p:cNvPr id="349" name="Google Shape;349;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solidFill>
                  <a:schemeClr val="dk1"/>
                </a:solidFill>
              </a:rPr>
              <a:t>Societal:</a:t>
            </a:r>
            <a:endParaRPr b="1">
              <a:solidFill>
                <a:schemeClr val="dk1"/>
              </a:solidFill>
            </a:endParaRPr>
          </a:p>
          <a:p>
            <a:pPr indent="-325755" lvl="0" marL="457200" rtl="0" algn="l">
              <a:spcBef>
                <a:spcPts val="1200"/>
              </a:spcBef>
              <a:spcAft>
                <a:spcPts val="0"/>
              </a:spcAft>
              <a:buClr>
                <a:schemeClr val="dk1"/>
              </a:buClr>
              <a:buSzPct val="100000"/>
              <a:buChar char="●"/>
            </a:pPr>
            <a:r>
              <a:rPr lang="en">
                <a:solidFill>
                  <a:schemeClr val="dk1"/>
                </a:solidFill>
              </a:rPr>
              <a:t>Parents spend less time waiting in line</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Teachers spend less time managing pickup and more in classroom</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Kids are less likely to get agitated/distracted leading to less problems for staff/parents</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The secure system ensures that students are released to the correct parents</a:t>
            </a:r>
            <a:endParaRPr>
              <a:solidFill>
                <a:schemeClr val="dk1"/>
              </a:solidFill>
            </a:endParaRPr>
          </a:p>
          <a:p>
            <a:pPr indent="0" lvl="0" marL="0" rtl="0" algn="l">
              <a:spcBef>
                <a:spcPts val="1200"/>
              </a:spcBef>
              <a:spcAft>
                <a:spcPts val="0"/>
              </a:spcAft>
              <a:buNone/>
            </a:pPr>
            <a:r>
              <a:rPr b="1" lang="en">
                <a:solidFill>
                  <a:schemeClr val="dk1"/>
                </a:solidFill>
              </a:rPr>
              <a:t>Safety:</a:t>
            </a:r>
            <a:endParaRPr b="1">
              <a:solidFill>
                <a:schemeClr val="dk1"/>
              </a:solidFill>
            </a:endParaRPr>
          </a:p>
          <a:p>
            <a:pPr indent="-325755" lvl="0" marL="457200" rtl="0" algn="l">
              <a:spcBef>
                <a:spcPts val="1200"/>
              </a:spcBef>
              <a:spcAft>
                <a:spcPts val="0"/>
              </a:spcAft>
              <a:buClr>
                <a:schemeClr val="dk1"/>
              </a:buClr>
              <a:buSzPct val="100000"/>
              <a:buChar char="●"/>
            </a:pPr>
            <a:r>
              <a:rPr lang="en">
                <a:solidFill>
                  <a:schemeClr val="dk1"/>
                </a:solidFill>
              </a:rPr>
              <a:t>Ensure that kids end up with the correct parent</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No kid is lost in the system or placed </a:t>
            </a:r>
            <a:r>
              <a:rPr lang="en">
                <a:solidFill>
                  <a:schemeClr val="dk1"/>
                </a:solidFill>
              </a:rPr>
              <a:t>incorrectly</a:t>
            </a:r>
            <a:r>
              <a:rPr lang="en">
                <a:solidFill>
                  <a:schemeClr val="dk1"/>
                </a:solidFill>
              </a:rPr>
              <a:t> </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Ensure that kids aren’t put in dangerous situations (ex running in the road)</a:t>
            </a:r>
            <a:endParaRPr>
              <a:solidFill>
                <a:schemeClr val="dk1"/>
              </a:solidFill>
            </a:endParaRPr>
          </a:p>
          <a:p>
            <a:pPr indent="0" lvl="0" marL="0" rtl="0" algn="l">
              <a:spcBef>
                <a:spcPts val="1200"/>
              </a:spcBef>
              <a:spcAft>
                <a:spcPts val="0"/>
              </a:spcAft>
              <a:buNone/>
            </a:pPr>
            <a:r>
              <a:rPr b="1" lang="en">
                <a:solidFill>
                  <a:schemeClr val="dk1"/>
                </a:solidFill>
              </a:rPr>
              <a:t>Environmental:</a:t>
            </a:r>
            <a:endParaRPr b="1">
              <a:solidFill>
                <a:schemeClr val="dk1"/>
              </a:solidFill>
            </a:endParaRPr>
          </a:p>
          <a:p>
            <a:pPr indent="-325755" lvl="0" marL="457200" rtl="0" algn="l">
              <a:spcBef>
                <a:spcPts val="1200"/>
              </a:spcBef>
              <a:spcAft>
                <a:spcPts val="0"/>
              </a:spcAft>
              <a:buClr>
                <a:schemeClr val="dk1"/>
              </a:buClr>
              <a:buSzPct val="100000"/>
              <a:buChar char="●"/>
            </a:pPr>
            <a:r>
              <a:rPr lang="en">
                <a:solidFill>
                  <a:schemeClr val="dk1"/>
                </a:solidFill>
              </a:rPr>
              <a:t>Reduction in vehicle idling</a:t>
            </a:r>
            <a:endParaRPr>
              <a:solidFill>
                <a:schemeClr val="dk1"/>
              </a:solidFill>
            </a:endParaRPr>
          </a:p>
        </p:txBody>
      </p:sp>
      <p:sp>
        <p:nvSpPr>
          <p:cNvPr id="350" name="Google Shape;350;p43"/>
          <p:cNvSpPr txBox="1"/>
          <p:nvPr>
            <p:ph idx="12" type="sldNum"/>
          </p:nvPr>
        </p:nvSpPr>
        <p:spPr>
          <a:xfrm>
            <a:off x="7258053" y="4663225"/>
            <a:ext cx="17631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Proposal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354" name="Shape 354"/>
        <p:cNvGrpSpPr/>
        <p:nvPr/>
      </p:nvGrpSpPr>
      <p:grpSpPr>
        <a:xfrm>
          <a:off x="0" y="0"/>
          <a:ext cx="0" cy="0"/>
          <a:chOff x="0" y="0"/>
          <a:chExt cx="0" cy="0"/>
        </a:xfrm>
      </p:grpSpPr>
      <p:sp>
        <p:nvSpPr>
          <p:cNvPr id="355" name="Google Shape;355;p44"/>
          <p:cNvSpPr/>
          <p:nvPr/>
        </p:nvSpPr>
        <p:spPr>
          <a:xfrm>
            <a:off x="380400" y="345250"/>
            <a:ext cx="8383200" cy="3898800"/>
          </a:xfrm>
          <a:prstGeom prst="flowChartAlternateProcess">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4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Questions?</a:t>
            </a:r>
            <a:endParaRPr>
              <a:latin typeface="Atkinson Hyperlegible"/>
              <a:ea typeface="Atkinson Hyperlegible"/>
              <a:cs typeface="Atkinson Hyperlegible"/>
              <a:sym typeface="Atkinson Hyperlegible"/>
            </a:endParaRPr>
          </a:p>
        </p:txBody>
      </p:sp>
      <p:sp>
        <p:nvSpPr>
          <p:cNvPr id="357" name="Google Shape;357;p4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Thanks for listening!</a:t>
            </a:r>
            <a:endParaRPr>
              <a:latin typeface="Atkinson Hyperlegible"/>
              <a:ea typeface="Atkinson Hyperlegible"/>
              <a:cs typeface="Atkinson Hyperlegible"/>
              <a:sym typeface="Atkinson Hyperlegible"/>
            </a:endParaRPr>
          </a:p>
        </p:txBody>
      </p:sp>
      <p:sp>
        <p:nvSpPr>
          <p:cNvPr id="358" name="Google Shape;358;p44"/>
          <p:cNvSpPr/>
          <p:nvPr/>
        </p:nvSpPr>
        <p:spPr>
          <a:xfrm flipH="1" rot="10800000">
            <a:off x="7206300" y="3430950"/>
            <a:ext cx="1937700" cy="1714500"/>
          </a:xfrm>
          <a:prstGeom prst="teardrop">
            <a:avLst>
              <a:gd fmla="val 100000" name="adj"/>
            </a:avLst>
          </a:prstGeom>
          <a:solidFill>
            <a:srgbClr val="500000"/>
          </a:solidFill>
          <a:ln cap="flat" cmpd="sng" w="9525">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The Wranglers Logo" id="359" name="Google Shape;359;p44" title="Untitled-4.png"/>
          <p:cNvPicPr preferRelativeResize="0"/>
          <p:nvPr/>
        </p:nvPicPr>
        <p:blipFill>
          <a:blip r:embed="rId3">
            <a:alphaModFix/>
          </a:blip>
          <a:stretch>
            <a:fillRect/>
          </a:stretch>
        </p:blipFill>
        <p:spPr>
          <a:xfrm>
            <a:off x="7510588" y="3687575"/>
            <a:ext cx="1329125" cy="1329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